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633"/>
              </a:gs>
              <a:gs pos="50000">
                <a:srgbClr val="1E3382"/>
              </a:gs>
              <a:gs pos="100000">
                <a:srgbClr val="462C9C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esentation.jpg"/>
          <p:cNvPicPr>
            <a:picLocks noChangeAspect="1"/>
          </p:cNvPicPr>
          <p:nvPr/>
        </p:nvPicPr>
        <p:blipFill>
          <a:blip r:embed="rId2"/>
          <a:srcRect l="8775" r="8775"/>
          <a:stretch>
            <a:fillRect/>
          </a:stretch>
        </p:blipFill>
        <p:spPr>
          <a:xfrm>
            <a:off x="7818120" y="0"/>
            <a:ext cx="4373575" cy="6858000"/>
          </a:xfrm>
          <a:prstGeom prst="rect">
            <a:avLst/>
          </a:prstGeom>
          <a:effectLst/>
        </p:spPr>
      </p:pic>
      <p:sp>
        <p:nvSpPr>
          <p:cNvPr id="4" name="Rounded Rectangle 3"/>
          <p:cNvSpPr/>
          <p:nvPr/>
        </p:nvSpPr>
        <p:spPr>
          <a:xfrm>
            <a:off x="8183879" y="5623560"/>
            <a:ext cx="3611880" cy="74980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83879" y="5623560"/>
            <a:ext cx="3611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97316"/>
                </a:solidFill>
                <a:latin typeface="Calibri"/>
              </a:rPr>
              <a:t>★ 4.9/5    </a:t>
            </a:r>
            <a:r>
              <a:rPr sz="1200" b="1">
                <a:solidFill>
                  <a:srgbClr val="16294A"/>
                </a:solidFill>
                <a:latin typeface="Calibri"/>
              </a:rPr>
              <a:t>Trusted by 30+ colleges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73152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315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294A"/>
                </a:solidFill>
                <a:latin typeface="Calibri"/>
              </a:rPr>
              <a:t>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82296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PathAhead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3977639" cy="457200"/>
          </a:xfrm>
          <a:prstGeom prst="roundRect">
            <a:avLst>
              <a:gd name="adj" fmla="val 50000"/>
            </a:avLst>
          </a:prstGeom>
          <a:solidFill>
            <a:srgbClr val="223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977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9DB8EA"/>
                </a:solidFill>
                <a:latin typeface="Calibri"/>
              </a:rPr>
              <a:t>★  INDIA'S PREMIUM CAREER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6126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Your Career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00C9FF"/>
                </a:solidFill>
                <a:latin typeface="Calibri"/>
              </a:rPr>
              <a:t>Starts 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5943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7D3E8"/>
                </a:solidFill>
                <a:latin typeface="Calibri"/>
              </a:rPr>
              <a:t>Helping Intermediate students make smarter career decisions before college through practical workshops and future-ready learning.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99A4E"/>
                </a:solidFill>
                <a:latin typeface="Calibri"/>
              </a:rPr>
              <a:t>Workshops for Inter 1st &amp; 2nd Year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4748B"/>
                </a:solidFill>
                <a:latin typeface="Calibri"/>
              </a:rPr>
              <a:t>Every year, thousands of students choose their future in the dark.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5212080" cy="160020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807208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807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7706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No real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227832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Career and branch decisions made on hearsay, pressure or guesswork — not aptitude.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514600"/>
            <a:ext cx="5212080" cy="160020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807208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2807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7706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Unaware of new careers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227832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Little exposure to AI, Data Science and modern engineering domains before college.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34840"/>
            <a:ext cx="5212080" cy="160020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" y="4727448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7274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69087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Confusion over choices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148072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Overwhelmed by colleges, courses, scholarships and roadmaps with no clear map.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434840"/>
            <a:ext cx="5212080" cy="160020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47688" y="4727448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7274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69087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Decisions made too 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5148072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By the time clarity comes, the best opportunities have already passed.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udents-group.jpg"/>
          <p:cNvPicPr>
            <a:picLocks noChangeAspect="1"/>
          </p:cNvPicPr>
          <p:nvPr/>
        </p:nvPicPr>
        <p:blipFill>
          <a:blip r:embed="rId2"/>
          <a:srcRect t="7796" b="77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99A4E"/>
                </a:solidFill>
                <a:latin typeface="Calibri"/>
              </a:rPr>
              <a:t>OUR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“No student should choose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their future by accident.”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6DFEE"/>
                </a:solidFill>
                <a:latin typeface="Calibri"/>
              </a:rPr>
              <a:t>Give them clarity early — and you change the entire course of their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4F7FE"/>
              </a:gs>
              <a:gs pos="100000">
                <a:srgbClr val="E6EE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PathAhead brings honest, practical, future-ready career guidance directly into schools and junior colleges.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880360"/>
            <a:ext cx="685800" cy="68580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88036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9476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Our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3484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To empower every Intermediate student in India with the clarity, awareness and practical guidance they need to make confident, future-ready career decisions — before college.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46888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95160" y="2880360"/>
            <a:ext cx="685800" cy="6858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88036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79476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Our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43484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A future where career guidance is a standard part of every student's education — where choosing a path is driven by aptitude and awareness, not confusion or pressure.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Two signature workshops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Interactive 2-hour sessions, tailored to exactly where each student is in their journey.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5349240" cy="128016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26974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563EB"/>
                </a:solidFill>
                <a:latin typeface="Calibri"/>
              </a:rPr>
              <a:t>FOR INTER 1st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E293B"/>
                </a:solidFill>
                <a:latin typeface="Calibri"/>
              </a:rPr>
              <a:t>Future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9476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Lay a strong foundation early — career awareness, future skills and confidence from day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572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Career Awareness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560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Engineering Branches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34009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AI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724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Future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5720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Communication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956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Personality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534009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Career Planning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33172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2331720"/>
            <a:ext cx="5349240" cy="128016"/>
          </a:xfrm>
          <a:prstGeom prst="rect">
            <a:avLst/>
          </a:prstGeom>
          <a:gradFill>
            <a:gsLst>
              <a:gs pos="0">
                <a:srgbClr val="F97316"/>
              </a:gs>
              <a:gs pos="100000">
                <a:srgbClr val="FB923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95160" y="26974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69748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A580C"/>
                </a:solidFill>
                <a:latin typeface="Calibri"/>
              </a:rPr>
              <a:t>FOR INTER 2nd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2004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E293B"/>
                </a:solidFill>
                <a:latin typeface="Calibri"/>
              </a:rPr>
              <a:t>Career Blueprint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79476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Make the right choices before college — a complete, decision-focused roadmap.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572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College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9560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Technology Domains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534009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Programming Languages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5724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Scholarships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5720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Career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956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AI Careers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34009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97316"/>
                </a:solidFill>
                <a:latin typeface="Calibri"/>
              </a:rPr>
              <a:t>✓  </a:t>
            </a:r>
            <a:r>
              <a:rPr sz="1200" b="0">
                <a:solidFill>
                  <a:srgbClr val="1E293B"/>
                </a:solidFill>
                <a:latin typeface="Calibri"/>
              </a:rPr>
              <a:t>Q&amp;A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4F7FE"/>
              </a:gs>
              <a:gs pos="100000">
                <a:srgbClr val="E6EE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The PathAhead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4748B"/>
                </a:solidFill>
                <a:latin typeface="Calibri"/>
              </a:rPr>
              <a:t>We turn guesswork into a clear, confident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3492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283464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834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852928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Without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61188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F4444"/>
                </a:solidFill>
                <a:latin typeface="Calibri"/>
              </a:rPr>
              <a:t>×   </a:t>
            </a:r>
            <a:r>
              <a:rPr sz="1450" b="0">
                <a:solidFill>
                  <a:srgbClr val="64748B"/>
                </a:solidFill>
                <a:latin typeface="Calibri"/>
              </a:rPr>
              <a:t>Streams chosen on hearsay &amp;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17880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F4444"/>
                </a:solidFill>
                <a:latin typeface="Calibri"/>
              </a:rPr>
              <a:t>×   </a:t>
            </a:r>
            <a:r>
              <a:rPr sz="1450" b="0">
                <a:solidFill>
                  <a:srgbClr val="64748B"/>
                </a:solidFill>
                <a:latin typeface="Calibri"/>
              </a:rPr>
              <a:t>Little awareness of AI &amp; future careers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45736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F4444"/>
                </a:solidFill>
                <a:latin typeface="Calibri"/>
              </a:rPr>
              <a:t>×   </a:t>
            </a:r>
            <a:r>
              <a:rPr sz="1450" b="0">
                <a:solidFill>
                  <a:srgbClr val="64748B"/>
                </a:solidFill>
                <a:latin typeface="Calibri"/>
              </a:rPr>
              <a:t>Confusion over colleges &amp; scholarships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312664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F4444"/>
                </a:solidFill>
                <a:latin typeface="Calibri"/>
              </a:rPr>
              <a:t>×   </a:t>
            </a:r>
            <a:r>
              <a:rPr sz="1450" b="0">
                <a:solidFill>
                  <a:srgbClr val="64748B"/>
                </a:solidFill>
                <a:latin typeface="Calibri"/>
              </a:rPr>
              <a:t>Decisions made too late, with regret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468880"/>
            <a:ext cx="5349240" cy="3566160"/>
          </a:xfrm>
          <a:prstGeom prst="roundRect">
            <a:avLst>
              <a:gd name="adj" fmla="val 5000"/>
            </a:avLst>
          </a:prstGeom>
          <a:solidFill>
            <a:srgbClr val="EFF4FF"/>
          </a:solidFill>
          <a:ln w="15875">
            <a:solidFill>
              <a:srgbClr val="2563EB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0" y="2834640"/>
            <a:ext cx="502920" cy="50292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834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852928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With PathAhead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61188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✓   </a:t>
            </a:r>
            <a:r>
              <a:rPr sz="1450" b="0">
                <a:solidFill>
                  <a:srgbClr val="1E293B"/>
                </a:solidFill>
                <a:latin typeface="Calibri"/>
              </a:rPr>
              <a:t>A clear, personalised sense of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17880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✓   </a:t>
            </a:r>
            <a:r>
              <a:rPr sz="1450" b="0">
                <a:solidFill>
                  <a:srgbClr val="1E293B"/>
                </a:solidFill>
                <a:latin typeface="Calibri"/>
              </a:rPr>
              <a:t>Real awareness of AI &amp; technology careers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45736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✓   </a:t>
            </a:r>
            <a:r>
              <a:rPr sz="1450" b="0">
                <a:solidFill>
                  <a:srgbClr val="1E293B"/>
                </a:solidFill>
                <a:latin typeface="Calibri"/>
              </a:rPr>
              <a:t>Confidence in college &amp; branch choices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312664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✓   </a:t>
            </a:r>
            <a:r>
              <a:rPr sz="1450" b="0">
                <a:solidFill>
                  <a:srgbClr val="1E293B"/>
                </a:solidFill>
                <a:latin typeface="Calibri"/>
              </a:rPr>
              <a:t>A concrete roadmap they act on — now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E293B"/>
                </a:solidFill>
                <a:latin typeface="Calibri"/>
              </a:rPr>
              <a:t>Careers we open students' eyes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We make students aware of where tomorrow's opportunities really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560320"/>
            <a:ext cx="640080" cy="64008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5603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Machine learning, generative AI and the careers reshaping every industry.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2860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18888" y="256032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25603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3101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Turning data into decisions — one of today's most in-demand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22860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40496" y="2560320"/>
            <a:ext cx="640080" cy="640080"/>
          </a:xfrm>
          <a:prstGeom prst="ellipse">
            <a:avLst/>
          </a:prstGeom>
          <a:gradFill>
            <a:gsLst>
              <a:gs pos="0">
                <a:srgbClr val="6A5CFF"/>
              </a:gs>
              <a:gs pos="100000">
                <a:srgbClr val="00C9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736" y="25603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Cybersecurity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3101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Ethical hacking and security careers protecting the digital world.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4617720"/>
            <a:ext cx="640080" cy="640080"/>
          </a:xfrm>
          <a:prstGeom prst="ellipse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6177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Cloud &amp; 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675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The backbone of the internet and the fast-growing roles behind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43434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18888" y="4617720"/>
            <a:ext cx="640080" cy="64008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00C9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4617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46177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Software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53675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What developers actually do, and the languages worth learning first.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6" y="4343400"/>
            <a:ext cx="3429000" cy="178308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0496" y="4617720"/>
            <a:ext cx="640080" cy="64008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6" y="4617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46177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Robotics &amp; IoT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53675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Where hardware meets intelligence — automation and mechatronics.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4F7FE"/>
              </a:gs>
              <a:gs pos="100000">
                <a:srgbClr val="E6EE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What every student receives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A complete career starter kit they'll use all year long.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624327"/>
            <a:ext cx="548640" cy="5486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624327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3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Career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301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Clear guide to options after Intermediate, matched to interests.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33172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37176" y="2624327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2624327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29183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Technology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6301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What to learn and when — a practical path through modern skills.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233172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58784" y="2624327"/>
            <a:ext cx="548640" cy="548640"/>
          </a:xfrm>
          <a:prstGeom prst="ellipse">
            <a:avLst/>
          </a:prstGeom>
          <a:gradFill>
            <a:gsLst>
              <a:gs pos="0">
                <a:srgbClr val="6A5CFF"/>
              </a:gs>
              <a:gs pos="100000">
                <a:srgbClr val="00C9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2624327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29183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Engineering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6301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Every major branch explained — what it is and where it leads.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" y="4636008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6360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Career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41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A step-by-step checklist to keep career planning on track.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434340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37176" y="4636008"/>
            <a:ext cx="548640" cy="5486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00C9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7176" y="46360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53035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Resource Kit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5641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Curated links, tools and reading to keep learning after.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6" y="434340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58784" y="4636008"/>
            <a:ext cx="548640" cy="54864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46360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6" y="53035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Certificate + Community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5641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Participation certificate and access to a future-ready community.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Why colleges partner with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A win for your students and your institution — with zero hassle for your team.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606039"/>
            <a:ext cx="530352" cy="530352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60603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Better student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84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More informed stream, college and career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331720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37176" y="2606039"/>
            <a:ext cx="530352" cy="53035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260603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2461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Enhanced reputation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584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Position your institution as forward-thinking and student-first.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2331720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58784" y="2606039"/>
            <a:ext cx="530352" cy="530352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260603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2461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Zero hassle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584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We bring content, mentors and materials — you provide the venue.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79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" y="4571999"/>
            <a:ext cx="530352" cy="53035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7199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7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Future-ready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5040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AI, technology and modern engineering, kept current every term.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4297679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37176" y="4571999"/>
            <a:ext cx="530352" cy="530352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7176" y="457199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521207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Flexible scheduling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555040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Sessions arranged around your academic calendar.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6" y="4297679"/>
            <a:ext cx="3429000" cy="1691640"/>
          </a:xfrm>
          <a:prstGeom prst="roundRect">
            <a:avLst>
              <a:gd name="adj" fmla="val 9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58784" y="4571999"/>
            <a:ext cx="530352" cy="53035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457199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6" y="5212079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Certificates &amp; 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555040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Participation certificates and feedback to share with parents.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4F7FE"/>
              </a:gs>
              <a:gs pos="100000">
                <a:srgbClr val="E6EE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From booking to breakthrough — a simple, structured, stress-free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615184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3108960"/>
            <a:ext cx="777240" cy="7772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69080"/>
            <a:ext cx="1975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Inquiry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526280"/>
            <a:ext cx="1975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You reach out via the form or phone with your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176" y="2743200"/>
            <a:ext cx="2615184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59936" y="310896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936" y="3108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9936" y="4069080"/>
            <a:ext cx="1975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6" y="4526280"/>
            <a:ext cx="1975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We confirm dates, batch size, stream and objectives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2743200"/>
            <a:ext cx="2615184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31152" y="3108960"/>
            <a:ext cx="777240" cy="7772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3108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4069080"/>
            <a:ext cx="1975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4526280"/>
            <a:ext cx="1975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A 2-hour interactive workshop delivered on your campus.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7" y="2743200"/>
            <a:ext cx="2615184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02367" y="310896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7" y="3108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4069080"/>
            <a:ext cx="1975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Follow-up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4526280"/>
            <a:ext cx="1975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Certificates, resources and a feedback report for your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PathAhead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Interactive, engaging sessions delivered right on your campus.</a:t>
            </a:r>
          </a:p>
        </p:txBody>
      </p:sp>
      <p:pic>
        <p:nvPicPr>
          <p:cNvPr id="5" name="Picture 4" descr="study.jpg"/>
          <p:cNvPicPr>
            <a:picLocks noChangeAspect="1"/>
          </p:cNvPicPr>
          <p:nvPr/>
        </p:nvPicPr>
        <p:blipFill>
          <a:blip r:embed="rId2"/>
          <a:srcRect l="19082" r="19082"/>
          <a:stretch>
            <a:fillRect/>
          </a:stretch>
        </p:blipFill>
        <p:spPr>
          <a:xfrm>
            <a:off x="822960" y="2377440"/>
            <a:ext cx="2587752" cy="278892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22960" y="5276088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On-campus workshops</a:t>
            </a:r>
          </a:p>
        </p:txBody>
      </p:sp>
      <p:pic>
        <p:nvPicPr>
          <p:cNvPr id="7" name="Picture 6" descr="students-group.jpg"/>
          <p:cNvPicPr>
            <a:picLocks noChangeAspect="1"/>
          </p:cNvPicPr>
          <p:nvPr/>
        </p:nvPicPr>
        <p:blipFill>
          <a:blip r:embed="rId3"/>
          <a:srcRect l="19082" r="19082"/>
          <a:stretch>
            <a:fillRect/>
          </a:stretch>
        </p:blipFill>
        <p:spPr>
          <a:xfrm>
            <a:off x="3675888" y="2377440"/>
            <a:ext cx="2587752" cy="2788920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3675888" y="5276088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Engaged students</a:t>
            </a:r>
          </a:p>
        </p:txBody>
      </p:sp>
      <p:pic>
        <p:nvPicPr>
          <p:cNvPr id="9" name="Picture 8" descr="workshop.jpg"/>
          <p:cNvPicPr>
            <a:picLocks noChangeAspect="1"/>
          </p:cNvPicPr>
          <p:nvPr/>
        </p:nvPicPr>
        <p:blipFill>
          <a:blip r:embed="rId4"/>
          <a:srcRect l="19082" r="19082"/>
          <a:stretch>
            <a:fillRect/>
          </a:stretch>
        </p:blipFill>
        <p:spPr>
          <a:xfrm>
            <a:off x="6528816" y="2377440"/>
            <a:ext cx="2587752" cy="2788920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528816" y="5276088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Career mentoring</a:t>
            </a:r>
          </a:p>
        </p:txBody>
      </p:sp>
      <p:pic>
        <p:nvPicPr>
          <p:cNvPr id="11" name="Picture 10" descr="tech.jpg"/>
          <p:cNvPicPr>
            <a:picLocks noChangeAspect="1"/>
          </p:cNvPicPr>
          <p:nvPr/>
        </p:nvPicPr>
        <p:blipFill>
          <a:blip r:embed="rId5"/>
          <a:srcRect l="19082" r="19082"/>
          <a:stretch>
            <a:fillRect/>
          </a:stretch>
        </p:blipFill>
        <p:spPr>
          <a:xfrm>
            <a:off x="9381744" y="2377440"/>
            <a:ext cx="2587752" cy="2788920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9381744" y="5276088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Calibri"/>
              </a:rPr>
              <a:t>Future-ready skills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.jpg"/>
          <p:cNvPicPr>
            <a:picLocks noChangeAspect="1"/>
          </p:cNvPicPr>
          <p:nvPr/>
        </p:nvPicPr>
        <p:blipFill>
          <a:blip r:embed="rId2"/>
          <a:srcRect t="7796" b="77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A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Our impact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3E8"/>
                </a:solidFill>
                <a:latin typeface="Calibri"/>
              </a:rPr>
              <a:t>Trusted across schools and junior colleges in India.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B2E52"/>
          </a:solidFill>
          <a:ln>
            <a:noFill/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2494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97316"/>
                </a:solidFill>
                <a:latin typeface="Calibri"/>
              </a:rPr>
              <a:t>5,000+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7D3E8"/>
                </a:solidFill>
                <a:latin typeface="Calibri"/>
              </a:rPr>
              <a:t>Students guided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176" y="283464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B2E52"/>
          </a:solidFill>
          <a:ln>
            <a:noFill/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7056" y="3291840"/>
            <a:ext cx="22494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00C9FF"/>
                </a:solidFill>
                <a:latin typeface="Calibri"/>
              </a:rPr>
              <a:t>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4297680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7D3E8"/>
                </a:solidFill>
                <a:latin typeface="Calibri"/>
              </a:rPr>
              <a:t>Workshops delivered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5392" y="283464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B2E52"/>
          </a:solidFill>
          <a:ln>
            <a:noFill/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3291840"/>
            <a:ext cx="22494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97316"/>
                </a:solidFill>
                <a:latin typeface="Calibri"/>
              </a:rPr>
              <a:t>30+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4297680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7D3E8"/>
                </a:solidFill>
                <a:latin typeface="Calibri"/>
              </a:rPr>
              <a:t>Partner institutions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7" y="283464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B2E52"/>
          </a:solidFill>
          <a:ln>
            <a:noFill/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9487" y="3291840"/>
            <a:ext cx="22494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00C9FF"/>
                </a:solidFill>
                <a:latin typeface="Calibri"/>
              </a:rPr>
              <a:t>4.9/5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7" y="4297680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7D3E8"/>
                </a:solidFill>
                <a:latin typeface="Calibri"/>
              </a:rPr>
              <a:t>Average rating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E293B"/>
                </a:solidFill>
                <a:latin typeface="Calibri"/>
              </a:rPr>
              <a:t>Trusted by students, teachers &amp; principals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2563EB"/>
                </a:solidFill>
                <a:latin typeface="Calibri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08960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“The workshop gave me total clarity on which engineering branch fits me.”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4846320"/>
            <a:ext cx="548640" cy="5486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463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Ananya 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6636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Inter 2nd Year Student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23317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97316"/>
                </a:solidFill>
                <a:latin typeface="Calibri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3108960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“Engaging and relevant. Our students were talking about AI careers for days.”</a:t>
            </a:r>
          </a:p>
        </p:txBody>
      </p:sp>
      <p:sp>
        <p:nvSpPr>
          <p:cNvPr id="14" name="Oval 13"/>
          <p:cNvSpPr/>
          <p:nvPr/>
        </p:nvSpPr>
        <p:spPr>
          <a:xfrm>
            <a:off x="4864608" y="484632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4846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8" y="48463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S.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8" y="516636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Faculty, Junior College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5F8FD"/>
          </a:solidFill>
          <a:ln w="12700">
            <a:solidFill>
              <a:srgbClr val="E2E8F0"/>
            </a:solidFill>
          </a:ln>
          <a:effectLst>
            <a:outerShdw blurRad="146304" dist="64008" dir="5400000" rotWithShape="0">
              <a:srgbClr val="0F172A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6" y="23317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16294A"/>
                </a:solidFill>
                <a:latin typeface="Calibri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6" y="3108960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“Professional and valuable. We're making PathAhead an annual part of our calendar.”</a:t>
            </a:r>
          </a:p>
        </p:txBody>
      </p:sp>
      <p:sp>
        <p:nvSpPr>
          <p:cNvPr id="21" name="Oval 20"/>
          <p:cNvSpPr/>
          <p:nvPr/>
        </p:nvSpPr>
        <p:spPr>
          <a:xfrm>
            <a:off x="8586216" y="4846320"/>
            <a:ext cx="548640" cy="548640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86216" y="4846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48463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Dr. Priya 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516636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Principal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633"/>
              </a:gs>
              <a:gs pos="50000">
                <a:srgbClr val="1E3382"/>
              </a:gs>
              <a:gs pos="100000">
                <a:srgbClr val="462C9C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udents-group.jpg"/>
          <p:cNvPicPr>
            <a:picLocks noChangeAspect="1"/>
          </p:cNvPicPr>
          <p:nvPr/>
        </p:nvPicPr>
        <p:blipFill>
          <a:blip r:embed="rId2"/>
          <a:srcRect l="28750" r="28750"/>
          <a:stretch>
            <a:fillRect/>
          </a:stretch>
        </p:blipFill>
        <p:spPr>
          <a:xfrm>
            <a:off x="7818120" y="0"/>
            <a:ext cx="4373575" cy="68580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822960" y="96012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Give your students an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7D3E8"/>
                </a:solidFill>
                <a:latin typeface="Calibri"/>
              </a:rPr>
              <a:t>Book a PathAhead workshop and help your students step into college with clarity and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5943600" cy="548640"/>
          </a:xfrm>
          <a:prstGeom prst="roundRect">
            <a:avLst>
              <a:gd name="adj" fmla="val 16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712464"/>
            <a:ext cx="347472" cy="347472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1246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6118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Call us:  </a:t>
            </a:r>
            <a:r>
              <a:rPr sz="1250" b="0">
                <a:solidFill>
                  <a:srgbClr val="C7D3E8"/>
                </a:solidFill>
                <a:latin typeface="Calibri"/>
              </a:rPr>
              <a:t>+91 7780109877 • +91 9989057655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70248"/>
            <a:ext cx="5943600" cy="548640"/>
          </a:xfrm>
          <a:prstGeom prst="roundRect">
            <a:avLst>
              <a:gd name="adj" fmla="val 16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4370832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708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4270248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Email us:  </a:t>
            </a:r>
            <a:r>
              <a:rPr sz="1250" b="0">
                <a:solidFill>
                  <a:srgbClr val="C7D3E8"/>
                </a:solidFill>
                <a:latin typeface="Calibri"/>
              </a:rPr>
              <a:t>nirishapavuluri@gmail.com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28616"/>
            <a:ext cx="5943600" cy="548640"/>
          </a:xfrm>
          <a:prstGeom prst="roundRect">
            <a:avLst>
              <a:gd name="adj" fmla="val 16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5029200"/>
            <a:ext cx="347472" cy="347472"/>
          </a:xfrm>
          <a:prstGeom prst="ellipse">
            <a:avLst/>
          </a:prstGeom>
          <a:gradFill>
            <a:gsLst>
              <a:gs pos="0">
                <a:srgbClr val="2563EB"/>
              </a:gs>
              <a:gs pos="100000">
                <a:srgbClr val="6A5CF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928616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  <a:r>
              <a:rPr sz="1250" b="0">
                <a:solidFill>
                  <a:srgbClr val="C7D3E8"/>
                </a:solidFill>
                <a:latin typeface="Calibri"/>
              </a:rPr>
              <a:t>saathwik.13@gmail.com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86984"/>
            <a:ext cx="5943600" cy="548640"/>
          </a:xfrm>
          <a:prstGeom prst="roundRect">
            <a:avLst>
              <a:gd name="adj" fmla="val 16000"/>
            </a:avLst>
          </a:prstGeom>
          <a:solidFill>
            <a:srgbClr val="1B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5687568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875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586984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Book online:  </a:t>
            </a:r>
            <a:r>
              <a:rPr sz="1250" b="0">
                <a:solidFill>
                  <a:srgbClr val="C7D3E8"/>
                </a:solidFill>
                <a:latin typeface="Calibri"/>
              </a:rPr>
              <a:t>Visit our website to book a workshop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99A4E"/>
                </a:solidFill>
                <a:latin typeface="Calibri"/>
              </a:rPr>
              <a:t>PathAhead — Your Career Starts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