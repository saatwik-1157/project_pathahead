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lakh</c:v>
                </c:pt>
              </c:strCache>
            </c:strRef>
          </c:tx>
          <c:spPr>
            <a:solidFill>
              <a:srgbClr val="FFB3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Sensors &amp; AI cameras</c:v>
                  </c:pt>
                  <c:pt idx="1">
                    <c:v>Edge processors</c:v>
                  </c:pt>
                  <c:pt idx="2">
                    <c:v>Node fabrication</c:v>
                  </c:pt>
                  <c:pt idx="3">
                    <c:v>Cloud &amp; dashboard</c:v>
                  </c:pt>
                  <c:pt idx="4">
                    <c:v>Alerts &amp; SMS gateway</c:v>
                  </c:pt>
                  <c:pt idx="5">
                    <c:v>Field testing &amp; pilot</c:v>
                  </c:pt>
                  <c:pt idx="6">
                    <c:v>Contingency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3</c:v>
                </c:pt>
                <c:pt idx="2">
                  <c:v>2.5</c:v>
                </c:pt>
                <c:pt idx="3">
                  <c:v>3</c:v>
                </c:pt>
                <c:pt idx="4">
                  <c:v>1</c:v>
                </c:pt>
                <c:pt idx="5">
                  <c:v>3.5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b"/>
        <c:majorGridlines>
          <c:spPr>
            <a:ln w="6350" cap="flat">
              <a:solidFill>
                <a:srgbClr val="2238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97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B1626"/>
        </a:solidFill>
        <a:ln>
          <a:noFill/>
        </a:ln>
        <a:effectLst/>
      </c:spPr>
    </c:plotArea>
    <c:plotVisOnly val="1"/>
    <c:dispBlanksAs val="span"/>
  </c:chart>
  <c:spPr>
    <a:solidFill>
      <a:srgbClr val="0B1626"/>
    </a:solidFill>
    <a:ln w="12700" cap="flat">
      <a:solidFill>
        <a:srgbClr val="0B1626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SentinelAI turns existing streetlights and public infrastructure into an AI-powered emergency detection and response mesh. This deck covers the concept, architecture, execution plan from concept to prototype, budget, demo evidence, and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records over 1.68 lakh road accident deaths a year (MoRTH 2022). A large share are preventable with faster response — the golden hour. Women's safety in isolated public spaces is a parallel crisis. Existing tools are passive or depend on the victim to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building new infrastructure, SentinelAI retrofits what cities already own. The node is self-contained: sense, decide on-device, then alert. The four-step loop — detect, verify, respond, protect — is the core value proposition.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flagship use-cases (accident detection, women's safety) supported by three enabling systems (safe corridor mesh, edge AI, predictive analytics). Safe Corridor is the differentiator — poles act as a coordinated network, not isolated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raw signals from five sensors fuse on the edge processor; the validation engine is the false-alarm gate; verified events fan out to police, ambulance, family, the city dashboard, and the streetlight mesh itself. Privacy: continuous footage never streams to the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component is commodity and proven — the innovation is in the fusion and coordination, which keeps prototype risk low. Jetson-class edge processor runs YOLO-family models; mesh radio lets poles coordinate without cellular dependency.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Unlike CCTV (records) and SOS apps (need a conscious user), SentinelAI detects, understands, verifies and responds. Four candidate patent areas identified; a formal prior-art search is a Phase 1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covers Phases 1-3 (amber): validation, a working node, and a 5-node campus mesh in 8 months. Phases 4-5 follow with a municipal partner. Every phase has a hard gate: demo plus metric review before the next begins. Key metric: false-alarm rate below 5% by end of campus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₹19 lakh midpoint covers hardware for 5+ nodes, cloud and dashboard build, alert infrastructure, and 3 months of field testing, with a 2-lakh contingency. Cost control: commodity parts, retrofit (no civil works), open-source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Per-node parts cost is about 82k at prototype, dropping to roughly 48-55k at 1,000-unit volume once the dev-kit is replaced by an integrated carrier board. Indicative sell: 95k-1.2L per node installed, plus 8-10k AMC per year and the SaaS licence. All figures are labelled indicative and will be replaced with vendor quotes during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customer is government (Smart City SPVs, NHAI, municipal bodies) — capital purchase plus recurring SaaS and AMC. The recurring layers (dashboard, AMC, analytics, API) are the long-term margin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simulation proves the system logic end-to-end in software before hardware spend: detection, multi-sensor verification, Safe Corridor mesh coordination, and dispatch. Record a 2-minute screen capture of the demo, upload it (YouTube unlisted / Drive), and paste the link into the placeholder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co-founders, both Integrated M.Tech CSE at VIT-AP University (batch 2024-29), with complementary ownership: Saatwik on engineering (edge AI, dashboard), Nirisha on research and strategy (validation, business model, IP). Advisor slots are outreach targets for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risk has a designed-in mitigation, not an afterthought: privacy via edge-first architecture, false alarms via the validation gate with a hard &lt;5% metric, approvals via the campus-MoU-first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ask is 18-20 lakh plus incubation support for an 8-month path to a working 5-node campus mesh, validated with the people who would actually use it — police, 108 operators, municipal officials.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" y="595823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5276" y="600303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091416" y="620621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151583" y="626638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36681" y="599700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512210" y="607253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43830" y="627827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88636" y="632307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63416" y="602333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723583" y="608350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83001" y="617988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358530" y="625541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890150" y="600395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934956" y="604875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052536" y="616049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112703" y="622066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868619" y="1191463"/>
            <a:ext cx="451714" cy="45171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933999" y="1256843"/>
            <a:ext cx="320954" cy="32095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975604" y="1298448"/>
            <a:ext cx="237744" cy="23774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1965960"/>
            <a:ext cx="9445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6600" dirty="0"/>
          </a:p>
        </p:txBody>
      </p:sp>
      <p:sp>
        <p:nvSpPr>
          <p:cNvPr id="22" name="Text 20"/>
          <p:cNvSpPr/>
          <p:nvPr/>
        </p:nvSpPr>
        <p:spPr>
          <a:xfrm>
            <a:off x="1371600" y="30632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Every Streetlight into a Silent Guardian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36118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Distributed Public Safety Mesh for Smart Cities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37076" y="443484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/>
        </p:spPr>
      </p:sp>
      <p:sp>
        <p:nvSpPr>
          <p:cNvPr id="25" name="Text 23"/>
          <p:cNvSpPr/>
          <p:nvPr/>
        </p:nvSpPr>
        <p:spPr>
          <a:xfrm>
            <a:off x="4037076" y="443484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CONCEPT-TO-PROTOTYPE EXECUTION PLAN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303520"/>
            <a:ext cx="9445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  •  Sai Nirisha Chowdary Pavuluri
</a:t>
            </a:r>
            <a:pPr algn="ctr" indent="0" marL="0">
              <a:buNone/>
            </a:pPr>
            <a:r>
              <a:rPr lang="en-US" sz="13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VIT-AP University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 too late — because no one is watching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L+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road-accident deaths in India every year — many die waiting for help that comes too late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MoRTH Road Accidents in India 2022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4340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trauma deaths could be prevented if victims reached care within the golden hour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Commission of India / trauma-care studies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3816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L+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crimes against women reported annually; isolated public spaces remain unmonitored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NCRB Crime in India 2022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B315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348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solutions fail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6868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112471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cameras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record incidents — nobody responds in real time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apps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 conscious victim to manually ask for help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6868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Text 25"/>
          <p:cNvSpPr/>
          <p:nvPr/>
        </p:nvSpPr>
        <p:spPr>
          <a:xfrm>
            <a:off x="112471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infrastructure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passive — streetlights illuminate, they don't protect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services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late, incomplete, unverified information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that detects, verifies and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retrofits existing streetlights, bus stops and public poles into AI-powered emergency response nodes. Each node monitors its surroundings with fused sensors and on-device AI — no victim action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98448" y="271576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camera, microphone and vibration sensor spot accidents and distress automatically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11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98448" y="358444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fusion confirms a real emergency before anyone is alerted — cutting false alarms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80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98448" y="445312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ambulance and family get verified alerts with exact GPS location in seconds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3492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53218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brighten, cameras track, evidence is stored securely, responders get the safest route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0" y="1554480"/>
            <a:ext cx="4782312" cy="4709160"/>
          </a:xfrm>
          <a:prstGeom prst="roundRect">
            <a:avLst>
              <a:gd name="adj" fmla="val 155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755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SMART NODE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732520" y="2514600"/>
            <a:ext cx="109728" cy="3383280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2395728"/>
            <a:ext cx="868680" cy="109728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5" name="Shape 23"/>
          <p:cNvSpPr/>
          <p:nvPr/>
        </p:nvSpPr>
        <p:spPr>
          <a:xfrm>
            <a:off x="9410090" y="2460650"/>
            <a:ext cx="382219" cy="38221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465412" y="2515972"/>
            <a:ext cx="271577" cy="27157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500616" y="2551176"/>
            <a:ext cx="201168" cy="20116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2331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29" name="Text 27"/>
          <p:cNvSpPr/>
          <p:nvPr/>
        </p:nvSpPr>
        <p:spPr>
          <a:xfrm>
            <a:off x="7159752" y="2331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2523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189720" y="288036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9262872" y="2880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+ speaker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842248" y="307238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086600" y="30632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5" name="Text 33"/>
          <p:cNvSpPr/>
          <p:nvPr/>
        </p:nvSpPr>
        <p:spPr>
          <a:xfrm>
            <a:off x="7159752" y="3063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325526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9189720" y="365760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8" name="Text 36"/>
          <p:cNvSpPr/>
          <p:nvPr/>
        </p:nvSpPr>
        <p:spPr>
          <a:xfrm>
            <a:off x="9262872" y="3657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42248" y="384962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086600" y="38404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7159752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403250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189720" y="44348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4" name="Text 42"/>
          <p:cNvSpPr/>
          <p:nvPr/>
        </p:nvSpPr>
        <p:spPr>
          <a:xfrm>
            <a:off x="9262872" y="4434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+ GPS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842248" y="462686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086600" y="4617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7" name="Text 45"/>
          <p:cNvSpPr/>
          <p:nvPr/>
        </p:nvSpPr>
        <p:spPr>
          <a:xfrm>
            <a:off x="7159752" y="4617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686800" y="4809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189720" y="52120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50" name="Text 48"/>
          <p:cNvSpPr/>
          <p:nvPr/>
        </p:nvSpPr>
        <p:spPr>
          <a:xfrm>
            <a:off x="9262872" y="5212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842248" y="540410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systems, one guardian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9382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154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5554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Detection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vehicle, bike and pedestrian collisions by fusing AI vision, crash-sound signatures and road vibration — then auto-dispatches help with GPS location.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738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55510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7910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8" name="Text 16"/>
          <p:cNvSpPr/>
          <p:nvPr/>
        </p:nvSpPr>
        <p:spPr>
          <a:xfrm>
            <a:off x="701344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Women's Safety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4652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press, a scream, or AI-detected suspicious activity triggers police + family alerts, floodlighting, active camera tracking and secure evidence capture.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3826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31545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55548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4" name="Text 22"/>
          <p:cNvSpPr/>
          <p:nvPr/>
        </p:nvSpPr>
        <p:spPr>
          <a:xfrm>
            <a:off x="1389888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22960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poles coordinate as a mesh: lights brighten along the victim's path, cameras hand off tracking, responders receive the fastest safe route.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70248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5434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53153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77156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11496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4544568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audio are processed on the pole, not in the cloud — sub-second response, minimal bandwidth, and raw footage never leaves the node by default.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91856" y="3977640"/>
            <a:ext cx="3648456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3" name="Shape 31"/>
          <p:cNvSpPr/>
          <p:nvPr/>
        </p:nvSpPr>
        <p:spPr>
          <a:xfrm>
            <a:off x="8337042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374761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398764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6" name="Text 34"/>
          <p:cNvSpPr/>
          <p:nvPr/>
        </p:nvSpPr>
        <p:spPr>
          <a:xfrm>
            <a:off x="8833104" y="4233672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8266176" y="484632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every event to flag accident-prone roads, unsafe zones, repeat crime hotspots and failing infrastructure before incidents happen.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→ verify on the edge → dispatch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LAYER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2608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2633472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92608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346704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2608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4059936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92608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7731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73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92608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529938" y="2632558"/>
            <a:ext cx="312725" cy="312725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75200" y="2677820"/>
            <a:ext cx="222199" cy="222199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04004" y="2706624"/>
            <a:ext cx="164592" cy="16459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3063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1188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vision + audio + vibration fusion (YOLO, TinyML)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0" y="35661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4652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26974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2940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confirmation gate — alerts fire only on verified emergencies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4692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LAYER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96112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464040" y="192024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37" name="Text 35"/>
          <p:cNvSpPr/>
          <p:nvPr/>
        </p:nvSpPr>
        <p:spPr>
          <a:xfrm>
            <a:off x="9464040" y="192024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(112)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96112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64040" y="2633472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0" name="Text 38"/>
          <p:cNvSpPr/>
          <p:nvPr/>
        </p:nvSpPr>
        <p:spPr>
          <a:xfrm>
            <a:off x="9464040" y="26334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(108)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96112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464040" y="3346704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3" name="Text 41"/>
          <p:cNvSpPr/>
          <p:nvPr/>
        </p:nvSpPr>
        <p:spPr>
          <a:xfrm>
            <a:off x="9464040" y="33467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Contacts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96112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464040" y="4059936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6" name="Text 44"/>
          <p:cNvSpPr/>
          <p:nvPr/>
        </p:nvSpPr>
        <p:spPr>
          <a:xfrm>
            <a:off x="9464040" y="405993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Dashboard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96112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464040" y="4773168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9" name="Text 47"/>
          <p:cNvSpPr/>
          <p:nvPr/>
        </p:nvSpPr>
        <p:spPr>
          <a:xfrm>
            <a:off x="9464040" y="47731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Streetlights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design: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continuous analysis happens on the pole. Footage is encrypted and leaves the node only when a verified emergency occurs.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components, novel combination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— PER NODE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75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66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87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721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3912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033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027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 array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75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66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887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0881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/ impact sensor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721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912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033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36027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75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766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887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9" name="Text 27"/>
          <p:cNvSpPr/>
          <p:nvPr/>
        </p:nvSpPr>
        <p:spPr>
          <a:xfrm>
            <a:off x="10881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SOS button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721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12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033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3" name="Text 31"/>
          <p:cNvSpPr/>
          <p:nvPr/>
        </p:nvSpPr>
        <p:spPr>
          <a:xfrm>
            <a:off x="36027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floodlight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75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766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887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7" name="Text 35"/>
          <p:cNvSpPr/>
          <p:nvPr/>
        </p:nvSpPr>
        <p:spPr>
          <a:xfrm>
            <a:off x="10881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Public-address speaker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721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3912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033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1" name="Text 39"/>
          <p:cNvSpPr/>
          <p:nvPr/>
        </p:nvSpPr>
        <p:spPr>
          <a:xfrm>
            <a:off x="36027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575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66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87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5" name="Text 43"/>
          <p:cNvSpPr/>
          <p:nvPr/>
        </p:nvSpPr>
        <p:spPr>
          <a:xfrm>
            <a:off x="10881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(LoRa / NB-IoT)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721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3912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4033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9" name="Text 47"/>
          <p:cNvSpPr/>
          <p:nvPr/>
        </p:nvSpPr>
        <p:spPr>
          <a:xfrm>
            <a:off x="36027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(8+ hr)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7220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&amp; AI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92240" y="22860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Vision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YOLO, OpenCV, TensorFlow, Edge Impulse (TinyML)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92240" y="27706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On-device inference; event-only cloud sync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492240" y="325526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Node.js + Express REST APIs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492240" y="37398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MongoDB (events, nodes, analytics)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492240" y="422452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React + Tailwind CSS control room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49224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AWS (IoT Core, S3 evidence vault)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492240" y="5193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Firebase push + SMS gateway to 112/108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492240" y="567842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Google Maps — live node + incident map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vs.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Apps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6712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incidents automatically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12064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955280" y="216712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273405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victim is unconscious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12064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955280" y="27340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300984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30098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before alerting (low false alarms)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2064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55280" y="330098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" y="386791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across locations (mesh)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064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955280" y="386791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4434840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434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deterrence (light + speaker)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12064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55280" y="44348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50017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12064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3796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55280" y="50017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955280" y="1600200"/>
            <a:ext cx="1463040" cy="3968496"/>
          </a:xfrm>
          <a:prstGeom prst="rect">
            <a:avLst/>
          </a:prstGeom>
          <a:solidFill>
            <a:srgbClr val="FFB300">
              <a:alpha val="1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1600200"/>
            <a:ext cx="1947672" cy="3968496"/>
          </a:xfrm>
          <a:prstGeom prst="roundRect">
            <a:avLst>
              <a:gd name="adj" fmla="val 3756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PATENT-READY IP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2331720"/>
            <a:ext cx="15727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emergency validation algorithm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pole-to-pole AI coordination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Safe Corridor activation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Edge-based emergency detection framework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prior-art search — planned in Phase 1 with incubator IP-cell support.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prototype in 8 months — then 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2C4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1328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VALIDATION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police, 108 operators, municipal officials, 50+ commuters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requirements + success metrics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Prior-art search on 4 IP areas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3739896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9896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07208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8" name="Text 16"/>
          <p:cNvSpPr/>
          <p:nvPr/>
        </p:nvSpPr>
        <p:spPr>
          <a:xfrm>
            <a:off x="29718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71800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working node: sensor fusion + edge AI on Jetson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/ scream / SOS detection models trained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+ SMS-alert loop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998464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65776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230368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6–8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30368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on campus roads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 live demo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False-alarm rate tuned &lt; 5%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257032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57032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24344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0" name="Text 28"/>
          <p:cNvSpPr/>
          <p:nvPr/>
        </p:nvSpPr>
        <p:spPr>
          <a:xfrm>
            <a:off x="7488936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PILOT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88936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9–14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488936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nodes with municipal partner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control-room integration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+ weather hardening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10515600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0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582912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9747504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47504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15+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47504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tenders + NHAI corridors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subscriptions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partnerships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SUBMISSION FUNDS PHASES 1–3: WORKING MESH PROTOTYPE IN 8 MONTHS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98080" y="5989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to next phase: each phase ends with a demo + metric review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BUDGET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 lakh to a working 5-node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64592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45920"/>
            <a:ext cx="3776472" cy="1920240"/>
          </a:xfrm>
          <a:prstGeom prst="roundRect">
            <a:avLst>
              <a:gd name="adj" fmla="val 3810"/>
            </a:avLst>
          </a:prstGeom>
          <a:solidFill>
            <a:srgbClr val="1B3155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PROTOTYPE ESTIMATE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3816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813816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· 8 months · 5-node campus mesh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3794760"/>
            <a:ext cx="3776472" cy="2331720"/>
          </a:xfrm>
          <a:prstGeom prst="roundRect">
            <a:avLst>
              <a:gd name="adj" fmla="val 3137"/>
            </a:avLst>
          </a:prstGeom>
          <a:solidFill>
            <a:srgbClr val="16294A"/>
          </a:solidFill>
          <a:ln/>
        </p:spPr>
      </p:sp>
      <p:sp>
        <p:nvSpPr>
          <p:cNvPr id="14" name="Text 11"/>
          <p:cNvSpPr/>
          <p:nvPr/>
        </p:nvSpPr>
        <p:spPr>
          <a:xfrm>
            <a:off x="813816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DISCIPLINE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38160" y="4315968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hardware only — no custom silicon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poles: zero civil-works cost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AI stack (YOLO, OpenCV, TF)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 before any city spend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— INDICATIVE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node costs, and what it earns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852160" cy="4160520"/>
          </a:xfrm>
          <a:prstGeom prst="roundRect">
            <a:avLst>
              <a:gd name="adj" fmla="val 1758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BILL OF MATERIALS (PROTOTYPE)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240280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26771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22677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8,000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26700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46320" y="267004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35,000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044952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072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array + vibration + GPS sensors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46320" y="3072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6,000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96112" y="34747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/ NB-IoT radio module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0" y="34747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3849624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387705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+ power driver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38770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7,000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96112" y="42793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 enclosure, LED floodlight, speaker, mount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46320" y="427939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14,000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4654296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6817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Assembly, wiring &amp; bench test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46320" y="4681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68680" y="5138928"/>
            <a:ext cx="5212080" cy="0"/>
          </a:xfrm>
          <a:prstGeom prst="line">
            <a:avLst/>
          </a:prstGeom>
          <a:noFill/>
          <a:ln w="12700">
            <a:solidFill>
              <a:srgbClr val="C98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2303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COST / NODE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9768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 82,000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720840" y="1600200"/>
            <a:ext cx="4919472" cy="1783080"/>
          </a:xfrm>
          <a:prstGeom prst="roundRect">
            <a:avLst>
              <a:gd name="adj" fmla="val 4103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1810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VOLUME (1,000+ NODES)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20848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48–55 k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7040880" y="28163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carrier board replaces dev-kit; 35–40% volume pricing on sensors and enclosure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720840" y="3611880"/>
            <a:ext cx="491947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0" y="38221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 PER NODE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81114" y="4237330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101230" y="4257446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4032" y="4270248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0" name="Text 38"/>
          <p:cNvSpPr/>
          <p:nvPr/>
        </p:nvSpPr>
        <p:spPr>
          <a:xfrm>
            <a:off x="7360920" y="41605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95 k – 1.2 L one-time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081114" y="4712818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01230" y="4732934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4032" y="4745736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463600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8–10 k / node / year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081114" y="5188306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01230" y="5208422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4032" y="5221224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8" name="Text 46"/>
          <p:cNvSpPr/>
          <p:nvPr/>
        </p:nvSpPr>
        <p:spPr>
          <a:xfrm>
            <a:off x="7360920" y="511149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+ analytics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city / campus licence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are indicative (public market pricing, July 2026) — replaced with vendor quotes in Phase 1. Hardware margins at volume fund the recurring SaaS + AMC engine.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India's 100+ Smart Cities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972" y="2327148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44118" y="2352294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368296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22402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SPVs &amp; municipal corporations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cities under the Smart Cities Mission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8972" y="3259836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" y="3284982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3300984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172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&amp; state highway authorities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black-spot corridors, toll plazas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8972" y="4192524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44118" y="4217670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233672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41056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rail, airports &amp; universities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campuses with existing pole infrastructure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18972" y="5125212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118" y="5150358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" y="50383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townships &amp; industrial parks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as a premium amenity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Beneficiaries: women, senior citizens, students, daily commuters, highway travellers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EARN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228600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0" name="Text 28"/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0068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per smart node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92240" y="299923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006840" y="2999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subscription per city / campus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92240" y="3712464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6" name="Text 34"/>
          <p:cNvSpPr/>
          <p:nvPr/>
        </p:nvSpPr>
        <p:spPr>
          <a:xfrm>
            <a:off x="6629400" y="37124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006840" y="37124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per node per year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92240" y="4425696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442569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reports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006840" y="44256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hotspot &amp; infrastructure insights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92240" y="5138928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5138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licensing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006840" y="51389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feed for maps, insurers, fleets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9224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Middle East, Southeast Asia, Europe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simulation of the mesh in action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working software simulation of a SentinelAI deployment — a live city-block map of smart nodes that detects a simulated crash and SOS event, runs multi-sensor verification, activates the Safe Corridor, and dispatches alerts in real time.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node mesh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smart poles on a city block, each streaming simulated sensor state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3192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6052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+ scream events trigger the on-node AI and validation gate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neighbouring poles brighten and hand off camera tracking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console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6052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/ ambulance / family alerts with GPS fire automatically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98080" y="1554480"/>
            <a:ext cx="4142232" cy="4480560"/>
          </a:xfrm>
          <a:prstGeom prst="roundRect">
            <a:avLst>
              <a:gd name="adj" fmla="val 1766"/>
            </a:avLst>
          </a:prstGeom>
          <a:solidFill>
            <a:srgbClr val="1B3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5460" y="2112264"/>
            <a:ext cx="347472" cy="347472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5752" y="2162556"/>
            <a:ext cx="246888" cy="2468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477756" y="2194560"/>
            <a:ext cx="182880" cy="18288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0" y="269748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154680"/>
            <a:ext cx="3410712" cy="594360"/>
          </a:xfrm>
          <a:prstGeom prst="roundRect">
            <a:avLst>
              <a:gd name="adj" fmla="val 12308"/>
            </a:avLst>
          </a:prstGeom>
          <a:solidFill>
            <a:srgbClr val="0B1626"/>
          </a:solidFill>
          <a:ln w="12700">
            <a:solidFill>
              <a:srgbClr val="FFB30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7863840" y="3154680"/>
            <a:ext cx="3410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demo video link here 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863840" y="3931920"/>
            <a:ext cx="3410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screen recording of the simulation: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flow (0:00–1:00) and women's-safety SOS flow (1:00–2:00).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3840" y="5029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node demo planned at end of Phase 2.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file: sentinelai/demo/index.html — runs in any browser, no install needed.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with shipped projects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3291840"/>
          </a:xfrm>
          <a:prstGeom prst="roundRect">
            <a:avLst>
              <a:gd name="adj" fmla="val 2222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96596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96596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Product &amp; Engineering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— shipped PathAhead (career-guidance platform), an ML stock-prediction system, and multiple production web platforms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edge AI models, sensor fusion, dashboard build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3291840"/>
          </a:xfrm>
          <a:prstGeom prst="roundRect">
            <a:avLst>
              <a:gd name="adj" fmla="val 2222"/>
            </a:avLst>
          </a:prstGeom>
          <a:solidFill>
            <a:srgbClr val="162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58952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Nirisha Chowdary Pavuluri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58952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Research &amp; Strategy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originator — authored the SentinelAI vision, market analysis and IP strategy; built a GPT implementation from scratch in pure Python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stakeholder validation, business model, partnerships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B315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035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&amp; VALIDATION NETWORK (IN PROGRESS)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6235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targets: one police-department mentor, one 108/EMRI operations contact, one municipal smart-city officer, one faculty advisor (embedded systems / AI) at VIT-AP. Names added as they are confirmed.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designed for the failure modes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0467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7899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Edge-first processing — footage stays on the node; encrypted, event-only uploads; DPDP-Act-aligned data policy; no facial recognition in v1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2823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670255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0255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validation gate (vision + audio + vibration must agree); campus pilot tunes threshold to &lt; 5% before any city deployment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107899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durability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7899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IP66-rated enclosures; sensor redundancy; degraded-mode operation when any one sensor fails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823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maintenance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0255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Self-diagnostics heartbeat to dashboard; AMC model funds field service; modular swap-in parts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107899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07899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under university MoU first; align with Smart Cities Mission procurement; police partnership from Phase 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42823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70255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cost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70255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 — no new civil works; commodity hardware; per-node cost drops with volume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1443" y="615208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" y="619048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742468" y="630862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96235" y="636239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727814" y="614513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96942" y="621426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249363" y="633496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287768" y="637336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26148" y="612574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79915" y="617951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37174" y="623657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06302" y="630570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8229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pole we light up is a life we might save.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011680" y="1783080"/>
            <a:ext cx="8165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makes public infrastructure aware, responsive and connected — faster emergency response, safer streets, smarter cities.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22529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3697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5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Equality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4865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4865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Innovation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033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033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Cities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27201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201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 &amp; Justice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011680" y="3794760"/>
            <a:ext cx="8165592" cy="1417320"/>
          </a:xfrm>
          <a:prstGeom prst="roundRect">
            <a:avLst>
              <a:gd name="adj" fmla="val 5161"/>
            </a:avLst>
          </a:prstGeom>
          <a:solidFill>
            <a:srgbClr val="1B3155"/>
          </a:solidFill>
          <a:ln/>
        </p:spPr>
      </p:sp>
      <p:sp>
        <p:nvSpPr>
          <p:cNvPr id="27" name="Text 25"/>
          <p:cNvSpPr/>
          <p:nvPr/>
        </p:nvSpPr>
        <p:spPr>
          <a:xfrm>
            <a:off x="2377440" y="3977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77440" y="42976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lakh + incubation support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deliver a working 5-node campus mesh in 8 months — validated with police, ambulance operators and municipal officials.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97280" y="5440680"/>
            <a:ext cx="9994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SentinelAI — VIT-AP University
</a:t>
            </a:r>
            <a:pPr algn="ctr" indent="0" marL="0">
              <a:buNone/>
            </a:pPr>
            <a:r>
              <a:rPr lang="en-US" sz="12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saathwik.13@gmail.com  •  nirishapavuluri@gmail.com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SentinelAI — Concept-to-Prototype Execution Plan</dc:title>
  <dc:subject>PptxGenJS Presentation</dc:subject>
  <dc:creator>Team SentinelAI</dc:creator>
  <cp:lastModifiedBy>Team SentinelAI</cp:lastModifiedBy>
  <cp:revision>1</cp:revision>
  <dcterms:created xsi:type="dcterms:W3CDTF">2026-07-21T14:15:58Z</dcterms:created>
  <dcterms:modified xsi:type="dcterms:W3CDTF">2026-07-21T14:15:58Z</dcterms:modified>
</cp:coreProperties>
</file>