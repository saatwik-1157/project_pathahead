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lakh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Sensors &amp; AI cameras</c:v>
                  </c:pt>
                  <c:pt idx="1">
                    <c:v>Edge processors</c:v>
                  </c:pt>
                  <c:pt idx="2">
                    <c:v>Node fabrication</c:v>
                  </c:pt>
                  <c:pt idx="3">
                    <c:v>Cloud &amp; dashboard</c:v>
                  </c:pt>
                  <c:pt idx="4">
                    <c:v>Alerts &amp; SMS gateway</c:v>
                  </c:pt>
                  <c:pt idx="5">
                    <c:v>Field testing &amp; pilot</c:v>
                  </c:pt>
                  <c:pt idx="6">
                    <c:v>Contingency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3</c:v>
                </c:pt>
                <c:pt idx="2">
                  <c:v>2.5</c:v>
                </c:pt>
                <c:pt idx="3">
                  <c:v>3</c:v>
                </c:pt>
                <c:pt idx="4">
                  <c:v>1</c:v>
                </c:pt>
                <c:pt idx="5">
                  <c:v>3.5</c:v>
                </c:pt>
                <c:pt idx="6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6350" cap="flat">
              <a:solidFill>
                <a:srgbClr val="2238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E97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0B1626"/>
        </a:solidFill>
        <a:ln>
          <a:noFill/>
        </a:ln>
        <a:effectLst/>
      </c:spPr>
    </c:plotArea>
    <c:plotVisOnly val="1"/>
    <c:dispBlanksAs val="span"/>
  </c:chart>
  <c:spPr>
    <a:solidFill>
      <a:srgbClr val="0B1626"/>
    </a:solidFill>
    <a:ln w="12700" cap="flat">
      <a:solidFill>
        <a:srgbClr val="0B162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SentinelAI turns existing streetlights and public infrastructure into an AI-powered emergency detection and response mesh. This deck covers the concept, architecture, execution plan from concept to prototype, budget, demo evidence, and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 records over 1.68 lakh road accident deaths a year (MoRTH 2022). A large share are preventable with faster response — the golden hour. Women's safety in isolated public spaces is a parallel crisis. Existing tools are passive or depend on the victim to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building new infrastructure, SentinelAI retrofits what cities already own. The node is self-contained: sense, decide on-device, then alert. The four-step loop — detect, verify, respond, protect — is the core value proposition.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flagship use-cases (accident detection, women's safety) supported by three enabling systems (safe corridor mesh, edge AI, predictive analytics). Safe Corridor is the differentiator — poles act as a coordinated network, not isolated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raw signals from five sensors fuse on the edge processor; the validation engine is the false-alarm gate; verified events fan out to police, ambulance, family, the city dashboard, and the streetlight mesh itself. Privacy: continuous footage never streams to the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component is commodity and proven — the innovation is in the fusion and coordination, which keeps prototype risk low. Jetson-class edge processor runs YOLO-family models; mesh radio lets poles coordinate without cellular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CCTV (records) and SOS apps (need a conscious user), SentinelAI detects, understands, verifies and responds. Four candidate patent areas identified; a formal prior-art search is a Phase 1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covers Phases 1-3 (amber): validation, a working node, and a 5-node campus mesh in 8 months. Phases 4-5 follow with a municipal partner. Every phase has a hard gate: demo plus metric review before the next begins. Key metric: false-alarm rate below 5% by end of campus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₹19 lakh midpoint covers hardware for 5+ nodes, cloud and dashboard build, alert infrastructure, and 3 months of field testing, with a 2-lakh contingency. Cost control: commodity parts, retrofit (no civil works), open-source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Per-node parts cost is about 82k at prototype, dropping to roughly 48-55k at 1,000-unit volume once the dev-kit is replaced by an integrated carrier board. Indicative sell: 95k-1.2L per node installed, plus 8-10k AMC per year and the SaaS licence. All figures are labelled indicative and will be replaced with vendor quotes during Phase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customer is government (Smart City SPVs, NHAI, municipal bodies) — capital purchase plus recurring SaaS and AMC. The recurring layers (dashboard, AMC, analytics, API) are the long-term margin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simulation proves the system logic end-to-end in software before hardware spend: detection, multi-sensor verification, Safe Corridor mesh coordination, and dispatch. Record a 2-minute screen capture of the demo, upload it (YouTube unlisted / Drive), and paste the link into the placeholder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co-founders with complementary ownership: Saatwik on engineering (edge AI, dashboard), Nirisha on research and strategy (validation, business model, IP). Bracketed placeholders — degree/college and confirmed advisor names — must be filled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has a designed-in mitigation, not an afterthought: privacy via edge-first architecture, false alarms via the validation gate with a hard &lt;5% metric, approvals via the campus-MoU-first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ask is 18-20 lakh plus incubation support for an 8-month path to a working 5-node campus mesh, validated with the people who would actually use it — police, 108 operators, municipal officials.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470" y="5958230"/>
            <a:ext cx="153619" cy="153619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5276" y="6003036"/>
            <a:ext cx="64008" cy="64008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091416" y="6206216"/>
            <a:ext cx="206289" cy="206289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51583" y="6266383"/>
            <a:ext cx="85954" cy="85954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436681" y="5997001"/>
            <a:ext cx="258958" cy="258958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12210" y="6072530"/>
            <a:ext cx="107899" cy="107899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043830" y="6278270"/>
            <a:ext cx="153619" cy="153619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088636" y="6323076"/>
            <a:ext cx="64008" cy="64008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63416" y="6023336"/>
            <a:ext cx="206289" cy="206289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723583" y="6083503"/>
            <a:ext cx="85954" cy="85954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83001" y="6179881"/>
            <a:ext cx="258958" cy="258958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58530" y="6255410"/>
            <a:ext cx="107899" cy="107899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90150" y="6003950"/>
            <a:ext cx="153619" cy="153619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934956" y="6048756"/>
            <a:ext cx="64008" cy="64008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52536" y="6160496"/>
            <a:ext cx="206289" cy="206289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112703" y="6220663"/>
            <a:ext cx="85954" cy="85954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868619" y="1191463"/>
            <a:ext cx="451714" cy="451714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33999" y="1256843"/>
            <a:ext cx="320954" cy="320954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975604" y="1298448"/>
            <a:ext cx="237744" cy="23774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1965960"/>
            <a:ext cx="9445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1371600" y="30632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Every Streetlight into a Silent Guardian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361188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Distributed Public Safety Mesh for Smart Cities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037076" y="443484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16294A"/>
          </a:solidFill>
          <a:ln/>
        </p:spPr>
      </p:sp>
      <p:sp>
        <p:nvSpPr>
          <p:cNvPr id="25" name="Text 23"/>
          <p:cNvSpPr/>
          <p:nvPr/>
        </p:nvSpPr>
        <p:spPr>
          <a:xfrm>
            <a:off x="4037076" y="443484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CONCEPT-TO-PROTOTYPE EXECUTION PLAN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5349240"/>
            <a:ext cx="9445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Saatwik  •  Nirisha Chowdary        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arrives too late — because no one is watching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294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28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 L+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road-accident deaths in India every year — many die waiting for help that comes too late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MoRTH Road Accidents in India 2022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294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828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trauma deaths could be prevented if victims reached care within the golden hour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17720" y="3566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Commission of India / trauma-care studies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138160" y="160020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6294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828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L+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84124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against women reported annually; isolated public spaces remain unmonitored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35661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NCRB Crime in India 2022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1B315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348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solutions fail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8680" y="4946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1124712" y="4892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 —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record incidents — nobody responds in real time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4946904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4892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apps —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conscious victim to manually ask for help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8680" y="551383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1124712" y="54589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infrastructure —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passive — streetlights illuminate, they don't protect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5513832"/>
            <a:ext cx="128016" cy="12801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54589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 —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late, incomplete, unverified information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that detects, verifies and responds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 retrofits existing streetlights, bus stops and public poles into AI-powered emergency response nodes. Each node monitors its surroundings with fused sensors and on-device AI — no victim action required.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66928" cy="5669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98448" y="27157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camera, microphone and vibration sensor spot accidents and distress automatically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66928" cy="5669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11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98448" y="35844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 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 confirms a real emergency before anyone is alerted — cutting false alarms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66928" cy="5669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80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98448" y="44531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 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ambulance and family get verified alerts with exact GPS location in seconds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566928" cy="56692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49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98448" y="532180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 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brighten, cameras track, evidence is stored securely, responders get the safest route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0" y="1554480"/>
            <a:ext cx="4782312" cy="4709160"/>
          </a:xfrm>
          <a:prstGeom prst="roundRect">
            <a:avLst>
              <a:gd name="adj" fmla="val 1553"/>
            </a:avLst>
          </a:prstGeom>
          <a:solidFill>
            <a:srgbClr val="1629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755648"/>
            <a:ext cx="4782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SMART NODE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732520" y="2514600"/>
            <a:ext cx="109728" cy="3383280"/>
          </a:xfrm>
          <a:prstGeom prst="rect">
            <a:avLst/>
          </a:prstGeom>
          <a:solidFill>
            <a:srgbClr val="3A5378"/>
          </a:solidFill>
          <a:ln/>
        </p:spPr>
      </p:sp>
      <p:sp>
        <p:nvSpPr>
          <p:cNvPr id="24" name="Shape 22"/>
          <p:cNvSpPr/>
          <p:nvPr/>
        </p:nvSpPr>
        <p:spPr>
          <a:xfrm>
            <a:off x="8732520" y="2395728"/>
            <a:ext cx="868680" cy="109728"/>
          </a:xfrm>
          <a:prstGeom prst="rect">
            <a:avLst/>
          </a:prstGeom>
          <a:solidFill>
            <a:srgbClr val="3A5378"/>
          </a:solidFill>
          <a:ln/>
        </p:spPr>
      </p:sp>
      <p:sp>
        <p:nvSpPr>
          <p:cNvPr id="25" name="Shape 23"/>
          <p:cNvSpPr/>
          <p:nvPr/>
        </p:nvSpPr>
        <p:spPr>
          <a:xfrm>
            <a:off x="9410090" y="2460650"/>
            <a:ext cx="382219" cy="38221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465412" y="2515972"/>
            <a:ext cx="271577" cy="27157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00616" y="2551176"/>
            <a:ext cx="201168" cy="201168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8" name="Shape 26"/>
          <p:cNvSpPr/>
          <p:nvPr/>
        </p:nvSpPr>
        <p:spPr>
          <a:xfrm>
            <a:off x="7086600" y="23317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29" name="Text 27"/>
          <p:cNvSpPr/>
          <p:nvPr/>
        </p:nvSpPr>
        <p:spPr>
          <a:xfrm>
            <a:off x="7159752" y="2331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686800" y="2523744"/>
            <a:ext cx="45720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189720" y="28803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32" name="Text 30"/>
          <p:cNvSpPr/>
          <p:nvPr/>
        </p:nvSpPr>
        <p:spPr>
          <a:xfrm>
            <a:off x="9262872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LED + speaker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842248" y="3072384"/>
            <a:ext cx="393192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086600" y="30632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35" name="Text 33"/>
          <p:cNvSpPr/>
          <p:nvPr/>
        </p:nvSpPr>
        <p:spPr>
          <a:xfrm>
            <a:off x="7159752" y="3063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86800" y="3255264"/>
            <a:ext cx="45720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189720" y="365760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38" name="Text 36"/>
          <p:cNvSpPr/>
          <p:nvPr/>
        </p:nvSpPr>
        <p:spPr>
          <a:xfrm>
            <a:off x="9262872" y="3657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processor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42248" y="3849624"/>
            <a:ext cx="393192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086600" y="38404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41" name="Text 39"/>
          <p:cNvSpPr/>
          <p:nvPr/>
        </p:nvSpPr>
        <p:spPr>
          <a:xfrm>
            <a:off x="7159752" y="3840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686800" y="4032504"/>
            <a:ext cx="45720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9189720" y="44348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44" name="Text 42"/>
          <p:cNvSpPr/>
          <p:nvPr/>
        </p:nvSpPr>
        <p:spPr>
          <a:xfrm>
            <a:off x="9262872" y="4434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mesh radio + GPS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42248" y="4626864"/>
            <a:ext cx="393192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7086600" y="461772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47" name="Text 45"/>
          <p:cNvSpPr/>
          <p:nvPr/>
        </p:nvSpPr>
        <p:spPr>
          <a:xfrm>
            <a:off x="7159752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86800" y="4809744"/>
            <a:ext cx="45720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9189720" y="52120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B3155"/>
          </a:solidFill>
          <a:ln/>
        </p:spPr>
      </p:sp>
      <p:sp>
        <p:nvSpPr>
          <p:cNvPr id="50" name="Text 48"/>
          <p:cNvSpPr/>
          <p:nvPr/>
        </p:nvSpPr>
        <p:spPr>
          <a:xfrm>
            <a:off x="9262872" y="5212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battery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842248" y="5404104"/>
            <a:ext cx="393192" cy="0"/>
          </a:xfrm>
          <a:prstGeom prst="line">
            <a:avLst/>
          </a:prstGeom>
          <a:noFill/>
          <a:ln w="9525">
            <a:solidFill>
              <a:srgbClr val="7E97B8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systems, one guardian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16294A"/>
          </a:solidFill>
          <a:ln/>
        </p:spPr>
      </p:sp>
      <p:sp>
        <p:nvSpPr>
          <p:cNvPr id="9" name="Shape 7"/>
          <p:cNvSpPr/>
          <p:nvPr/>
        </p:nvSpPr>
        <p:spPr>
          <a:xfrm>
            <a:off x="893826" y="1927098"/>
            <a:ext cx="260604" cy="260604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1545" y="1964817"/>
            <a:ext cx="185166" cy="185166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55548" y="1988820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2" name="Text 10"/>
          <p:cNvSpPr/>
          <p:nvPr/>
        </p:nvSpPr>
        <p:spPr>
          <a:xfrm>
            <a:off x="1389888" y="1856232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Detection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2960" y="2468880"/>
            <a:ext cx="4919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vehicle, bike and pedestrian collisions by fusing AI vision, crash-sound signatures and road vibration — then auto-dispatches help with GPS location.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5468112" cy="2148840"/>
          </a:xfrm>
          <a:prstGeom prst="roundRect">
            <a:avLst>
              <a:gd name="adj" fmla="val 3404"/>
            </a:avLst>
          </a:prstGeom>
          <a:solidFill>
            <a:srgbClr val="162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7386" y="1927098"/>
            <a:ext cx="260604" cy="260604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55105" y="1964817"/>
            <a:ext cx="185166" cy="185166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79108" y="1988820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8" name="Text 16"/>
          <p:cNvSpPr/>
          <p:nvPr/>
        </p:nvSpPr>
        <p:spPr>
          <a:xfrm>
            <a:off x="7013448" y="1856232"/>
            <a:ext cx="4416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Safety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446520" y="2468880"/>
            <a:ext cx="4919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press, a scream, or AI-detected suspicious activity triggers police + family alerts, floodlighting, active camera tracking and secure evidence capture.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6294A"/>
          </a:solidFill>
          <a:ln/>
        </p:spPr>
      </p:sp>
      <p:sp>
        <p:nvSpPr>
          <p:cNvPr id="21" name="Shape 19"/>
          <p:cNvSpPr/>
          <p:nvPr/>
        </p:nvSpPr>
        <p:spPr>
          <a:xfrm>
            <a:off x="893826" y="4304538"/>
            <a:ext cx="260604" cy="260604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31545" y="4342257"/>
            <a:ext cx="185166" cy="185166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55548" y="4366260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4" name="Text 22"/>
          <p:cNvSpPr/>
          <p:nvPr/>
        </p:nvSpPr>
        <p:spPr>
          <a:xfrm>
            <a:off x="1389888" y="4233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Corridor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22960" y="4846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Neighbouring poles coordinate as a mesh: lights brighten along the victim's path, cameras hand off tracking, responders receive the fastest safe route.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70248" y="3977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1629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5434" y="4304538"/>
            <a:ext cx="260604" cy="260604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653153" y="4342257"/>
            <a:ext cx="185166" cy="185166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77156" y="4366260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0" name="Text 28"/>
          <p:cNvSpPr/>
          <p:nvPr/>
        </p:nvSpPr>
        <p:spPr>
          <a:xfrm>
            <a:off x="5111496" y="42336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4544568" y="48463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audio are processed on the pole, not in the cloud — sub-second response, minimal bandwidth, and raw footage never leaves the node by default.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991856" y="3977640"/>
            <a:ext cx="3648456" cy="2148840"/>
          </a:xfrm>
          <a:prstGeom prst="roundRect">
            <a:avLst>
              <a:gd name="adj" fmla="val 3404"/>
            </a:avLst>
          </a:prstGeom>
          <a:solidFill>
            <a:srgbClr val="16294A"/>
          </a:solidFill>
          <a:ln/>
        </p:spPr>
      </p:sp>
      <p:sp>
        <p:nvSpPr>
          <p:cNvPr id="33" name="Shape 31"/>
          <p:cNvSpPr/>
          <p:nvPr/>
        </p:nvSpPr>
        <p:spPr>
          <a:xfrm>
            <a:off x="8337042" y="4304538"/>
            <a:ext cx="260604" cy="260604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74761" y="4342257"/>
            <a:ext cx="185166" cy="185166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98764" y="4366260"/>
            <a:ext cx="137160" cy="13716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6" name="Text 34"/>
          <p:cNvSpPr/>
          <p:nvPr/>
        </p:nvSpPr>
        <p:spPr>
          <a:xfrm>
            <a:off x="8833104" y="4233672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266176" y="4846320"/>
            <a:ext cx="30998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every event to flag accident-prone roads, unsafe zones, repeat crime hotspots and failing infrastructure before incidents happen.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verify on the edge → dispatch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LAYER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26080" y="2194560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633472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33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926080" y="2907792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3346704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467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Sensor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926080" y="3621024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059936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0599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926080" y="4334256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47731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73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Button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26080" y="5047488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29000" y="22860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B315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29938" y="2632558"/>
            <a:ext cx="312725" cy="312725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5200" y="2677820"/>
            <a:ext cx="222199" cy="222199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04004" y="2706624"/>
            <a:ext cx="164592" cy="16459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3063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611880" y="3886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 + audio + vibration fusion (YOLO, TinyML)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3566160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46520" y="2286000"/>
            <a:ext cx="2514600" cy="2606040"/>
          </a:xfrm>
          <a:prstGeom prst="roundRect">
            <a:avLst>
              <a:gd name="adj" fmla="val 2909"/>
            </a:avLst>
          </a:prstGeom>
          <a:solidFill>
            <a:srgbClr val="1B3155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6974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629400" y="3886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confirmation gate — alerts fire only on verified emergencies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46920" y="1554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LAYER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961120" y="2194560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464040" y="1920240"/>
            <a:ext cx="2176272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37" name="Text 35"/>
          <p:cNvSpPr/>
          <p:nvPr/>
        </p:nvSpPr>
        <p:spPr>
          <a:xfrm>
            <a:off x="9464040" y="19202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(112)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961120" y="2907792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464040" y="2633472"/>
            <a:ext cx="2176272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40" name="Text 38"/>
          <p:cNvSpPr/>
          <p:nvPr/>
        </p:nvSpPr>
        <p:spPr>
          <a:xfrm>
            <a:off x="9464040" y="263347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(108)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61120" y="3621024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9464040" y="3346704"/>
            <a:ext cx="2176272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43" name="Text 41"/>
          <p:cNvSpPr/>
          <p:nvPr/>
        </p:nvSpPr>
        <p:spPr>
          <a:xfrm>
            <a:off x="9464040" y="33467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Contacts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961120" y="4334256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464040" y="4059936"/>
            <a:ext cx="2176272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46" name="Text 44"/>
          <p:cNvSpPr/>
          <p:nvPr/>
        </p:nvSpPr>
        <p:spPr>
          <a:xfrm>
            <a:off x="9464040" y="405993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961120" y="5047488"/>
            <a:ext cx="502920" cy="0"/>
          </a:xfrm>
          <a:prstGeom prst="line">
            <a:avLst/>
          </a:prstGeom>
          <a:noFill/>
          <a:ln w="19050">
            <a:solidFill>
              <a:srgbClr val="C98A00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9464040" y="4773168"/>
            <a:ext cx="2176272" cy="54864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/>
        </p:spPr>
      </p:sp>
      <p:sp>
        <p:nvSpPr>
          <p:cNvPr id="49" name="Text 47"/>
          <p:cNvSpPr/>
          <p:nvPr/>
        </p:nvSpPr>
        <p:spPr>
          <a:xfrm>
            <a:off x="9464040" y="477316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Streetlights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5669280"/>
            <a:ext cx="11091672" cy="685800"/>
          </a:xfrm>
          <a:prstGeom prst="roundRect">
            <a:avLst>
              <a:gd name="adj" fmla="val 10667"/>
            </a:avLst>
          </a:prstGeom>
          <a:solidFill>
            <a:srgbClr val="16294A"/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" y="5669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design:  </a:t>
            </a:r>
            <a:pPr indent="0" marL="0">
              <a:buNone/>
            </a:pPr>
            <a:r>
              <a:rPr lang="en-US" sz="12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continuous analysis happens on the pole. Footage is encrypted and leaves the node only when a verified emergency occurs.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components, novel combination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1629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— PER NODE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7524" y="2329708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76635" y="2348819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8797" y="2360981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88136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 (night-capable)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72124" y="2329708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91235" y="2348819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403397" y="2360981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3602736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array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7524" y="3079516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6635" y="3098627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88797" y="3110789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88136" y="29900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/ impact sensor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72124" y="3079516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391235" y="3098627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03397" y="3110789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5" name="Text 23"/>
          <p:cNvSpPr/>
          <p:nvPr/>
        </p:nvSpPr>
        <p:spPr>
          <a:xfrm>
            <a:off x="3602736" y="29900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module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524" y="3829324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6635" y="3848435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8797" y="3860597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9" name="Text 27"/>
          <p:cNvSpPr/>
          <p:nvPr/>
        </p:nvSpPr>
        <p:spPr>
          <a:xfrm>
            <a:off x="1088136" y="373989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SOS button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72124" y="3829324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91235" y="3848435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03397" y="3860597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3" name="Text 31"/>
          <p:cNvSpPr/>
          <p:nvPr/>
        </p:nvSpPr>
        <p:spPr>
          <a:xfrm>
            <a:off x="3602736" y="3739896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LED floodlight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7524" y="4579132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76635" y="4598243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88797" y="4610405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37" name="Text 35"/>
          <p:cNvSpPr/>
          <p:nvPr/>
        </p:nvSpPr>
        <p:spPr>
          <a:xfrm>
            <a:off x="1088136" y="44897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Public-address speaker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72124" y="4579132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91235" y="4598243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403397" y="4610405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1" name="Text 39"/>
          <p:cNvSpPr/>
          <p:nvPr/>
        </p:nvSpPr>
        <p:spPr>
          <a:xfrm>
            <a:off x="3602736" y="4489704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processor (Jetson-class)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7524" y="5328940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76635" y="5348051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88797" y="5360213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5" name="Text 43"/>
          <p:cNvSpPr/>
          <p:nvPr/>
        </p:nvSpPr>
        <p:spPr>
          <a:xfrm>
            <a:off x="1088136" y="5239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mesh radio (LoRa / NB-IoT)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72124" y="5328940"/>
            <a:ext cx="132039" cy="13203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3391235" y="5348051"/>
            <a:ext cx="93817" cy="93817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403397" y="5360213"/>
            <a:ext cx="69494" cy="6949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9" name="Text 47"/>
          <p:cNvSpPr/>
          <p:nvPr/>
        </p:nvSpPr>
        <p:spPr>
          <a:xfrm>
            <a:off x="3602736" y="523951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battery (8+ hr)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72200" y="160020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16294A"/>
          </a:solidFill>
          <a:ln/>
        </p:spPr>
      </p:sp>
      <p:sp>
        <p:nvSpPr>
          <p:cNvPr id="51" name="Text 49"/>
          <p:cNvSpPr/>
          <p:nvPr/>
        </p:nvSpPr>
        <p:spPr>
          <a:xfrm>
            <a:off x="649224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92240" y="2286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Vision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YOLO, OpenCV, TensorFlow, Edge Impulse (TinyML)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492240" y="277063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runtime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On-device inference; event-only cloud sync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492240" y="325526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Node.js + Express REST APIs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6492240" y="373989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MongoDB (events, nodes, analytics)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492240" y="422452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React + Tailwind CSS control room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492240" y="47091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AWS (IoT Core, S3 evidence vault)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492240" y="519379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Firebase push + SMS gateway to 112/108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6492240" y="567842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Google Maps — live node + incident map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vs. responds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0" y="16002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160020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Apps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1600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67128"/>
            <a:ext cx="8869680" cy="566928"/>
          </a:xfrm>
          <a:prstGeom prst="rect">
            <a:avLst/>
          </a:prstGeom>
          <a:solidFill>
            <a:srgbClr val="16294A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671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incidents automatically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0" y="21671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21671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955280" y="21671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273405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when victim is unconscious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20640" y="273405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273405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955280" y="273405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300984"/>
            <a:ext cx="8869680" cy="566928"/>
          </a:xfrm>
          <a:prstGeom prst="rect">
            <a:avLst/>
          </a:prstGeom>
          <a:solidFill>
            <a:srgbClr val="16294A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30098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before alerting (low false alarms)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20640" y="330098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330098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55280" y="330098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386791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across locations (mesh)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20640" y="38679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37960" y="386791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55280" y="38679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8869680" cy="566928"/>
          </a:xfrm>
          <a:prstGeom prst="rect">
            <a:avLst/>
          </a:prstGeom>
          <a:solidFill>
            <a:srgbClr val="16294A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44348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deterrence (light + speaker)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20640" y="4434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37960" y="443484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55280" y="4434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5800" y="50017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capture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120640" y="50017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537960" y="500176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0" y="50017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955280" y="1600200"/>
            <a:ext cx="1463040" cy="3968496"/>
          </a:xfrm>
          <a:prstGeom prst="rect">
            <a:avLst/>
          </a:prstGeom>
          <a:solidFill>
            <a:srgbClr val="FFB300">
              <a:alpha val="1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92640" y="1600200"/>
            <a:ext cx="1947672" cy="3968496"/>
          </a:xfrm>
          <a:prstGeom prst="roundRect">
            <a:avLst>
              <a:gd name="adj" fmla="val 3756"/>
            </a:avLst>
          </a:prstGeom>
          <a:solidFill>
            <a:srgbClr val="1B3155"/>
          </a:solidFill>
          <a:ln/>
        </p:spPr>
      </p:sp>
      <p:sp>
        <p:nvSpPr>
          <p:cNvPr id="41" name="Text 39"/>
          <p:cNvSpPr/>
          <p:nvPr/>
        </p:nvSpPr>
        <p:spPr>
          <a:xfrm>
            <a:off x="992124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PATENT-READY IP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921240" y="2331720"/>
            <a:ext cx="157276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emergency validation algorithm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pole-to-pole AI coordination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Safe Corridor activation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Edge-based emergency detection framework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8640" y="58064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prior-art search — planned in Phase 1 with incubator IP-cell support.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to prototype in 8 months — then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31750">
            <a:solidFill>
              <a:srgbClr val="2C44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1328" y="1975104"/>
            <a:ext cx="347472" cy="347472"/>
          </a:xfrm>
          <a:prstGeom prst="ellipse">
            <a:avLst/>
          </a:prstGeom>
          <a:solidFill>
            <a:srgbClr val="FFB300"/>
          </a:solidFill>
          <a:ln w="25400">
            <a:solidFill>
              <a:srgbClr val="0B1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1328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1B3155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58444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Interviews: police, 108 operators, municipal officials, 50+ commuters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requirements + success metrics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Prior-art search on 4 IP areas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739896" y="1975104"/>
            <a:ext cx="347472" cy="347472"/>
          </a:xfrm>
          <a:prstGeom prst="ellipse">
            <a:avLst/>
          </a:prstGeom>
          <a:solidFill>
            <a:srgbClr val="FFB300"/>
          </a:solidFill>
          <a:ln w="25400">
            <a:solidFill>
              <a:srgbClr val="0B1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807208" y="256032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1B3155"/>
          </a:solidFill>
          <a:ln/>
        </p:spPr>
      </p:sp>
      <p:sp>
        <p:nvSpPr>
          <p:cNvPr id="18" name="Text 16"/>
          <p:cNvSpPr/>
          <p:nvPr/>
        </p:nvSpPr>
        <p:spPr>
          <a:xfrm>
            <a:off x="2971800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7180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0" y="358444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working node: sensor fusion + edge AI on Jetson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/ scream / SOS detection models trained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MVP + SMS-alert loop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998464" y="1975104"/>
            <a:ext cx="347472" cy="347472"/>
          </a:xfrm>
          <a:prstGeom prst="ellipse">
            <a:avLst/>
          </a:prstGeom>
          <a:solidFill>
            <a:srgbClr val="FFB300"/>
          </a:solidFill>
          <a:ln w="25400">
            <a:solidFill>
              <a:srgbClr val="0B1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98464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65776" y="256032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1B3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PILOT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6–8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30368" y="358444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5-node mesh on campus roads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Corridor live demo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False-alarm rate tuned &lt; 5%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257032" y="1975104"/>
            <a:ext cx="347472" cy="347472"/>
          </a:xfrm>
          <a:prstGeom prst="ellipse">
            <a:avLst/>
          </a:prstGeom>
          <a:solidFill>
            <a:srgbClr val="2C4468"/>
          </a:solidFill>
          <a:ln w="25400">
            <a:solidFill>
              <a:srgbClr val="0B1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57032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24344" y="256032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16294A"/>
          </a:solidFill>
          <a:ln/>
        </p:spPr>
      </p:sp>
      <p:sp>
        <p:nvSpPr>
          <p:cNvPr id="30" name="Text 28"/>
          <p:cNvSpPr/>
          <p:nvPr/>
        </p:nvSpPr>
        <p:spPr>
          <a:xfrm>
            <a:off x="7488936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PILOT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88936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88936" y="358444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nodes with municipal partner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control-room integration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+ weather hardening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10515600" y="1975104"/>
            <a:ext cx="347472" cy="347472"/>
          </a:xfrm>
          <a:prstGeom prst="ellipse">
            <a:avLst/>
          </a:prstGeom>
          <a:solidFill>
            <a:srgbClr val="2C4468"/>
          </a:solidFill>
          <a:ln w="25400">
            <a:solidFill>
              <a:srgbClr val="0B1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0" y="19751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582912" y="2560320"/>
            <a:ext cx="2121408" cy="3246120"/>
          </a:xfrm>
          <a:prstGeom prst="roundRect">
            <a:avLst>
              <a:gd name="adj" fmla="val 3448"/>
            </a:avLst>
          </a:prstGeom>
          <a:solidFill>
            <a:srgbClr val="16294A"/>
          </a:solidFill>
          <a:ln/>
        </p:spPr>
      </p:sp>
      <p:sp>
        <p:nvSpPr>
          <p:cNvPr id="36" name="Text 34"/>
          <p:cNvSpPr/>
          <p:nvPr/>
        </p:nvSpPr>
        <p:spPr>
          <a:xfrm>
            <a:off x="9747504" y="27249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747504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15+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747504" y="3584448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tenders + NHAI corridors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dashboard subscriptions</a:t>
            </a:r>
            <a:endParaRPr lang="en-US" sz="98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98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partnerships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48640" y="5989320"/>
            <a:ext cx="6684264" cy="457200"/>
          </a:xfrm>
          <a:prstGeom prst="rect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989320"/>
            <a:ext cx="668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SUBMISSION FUNDS PHASES 1–3: WORKING MESH PROTOTYPE IN 8 MONTHS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498080" y="5989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to next phase: each phase ends with a demo + metric review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 lakh to a working 5-node mesh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64592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863840" y="1645920"/>
            <a:ext cx="3776472" cy="1920240"/>
          </a:xfrm>
          <a:prstGeom prst="roundRect">
            <a:avLst>
              <a:gd name="adj" fmla="val 3810"/>
            </a:avLst>
          </a:prstGeom>
          <a:solidFill>
            <a:srgbClr val="1B3155"/>
          </a:solidFill>
          <a:ln/>
        </p:spPr>
      </p:sp>
      <p:sp>
        <p:nvSpPr>
          <p:cNvPr id="10" name="Text 7"/>
          <p:cNvSpPr/>
          <p:nvPr/>
        </p:nvSpPr>
        <p:spPr>
          <a:xfrm>
            <a:off x="813816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PROTOTYPE ESTIMATE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13816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₹18–20 L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81381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1–3 · 8 months · 5-node campus mesh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63840" y="3794760"/>
            <a:ext cx="3776472" cy="2331720"/>
          </a:xfrm>
          <a:prstGeom prst="roundRect">
            <a:avLst>
              <a:gd name="adj" fmla="val 3137"/>
            </a:avLst>
          </a:prstGeom>
          <a:solidFill>
            <a:srgbClr val="16294A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4005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DISCIPLINE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38160" y="4315968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hardware only — no custom silicon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existing poles: zero civil-works cost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AI stack (YOLO, OpenCV, TF)</a:t>
            </a:r>
            <a:endParaRPr lang="en-US" sz="11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pilot before any city spend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INDICATIVE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node costs, and what it earns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852160" cy="4160520"/>
          </a:xfrm>
          <a:prstGeom prst="roundRect">
            <a:avLst>
              <a:gd name="adj" fmla="val 1758"/>
            </a:avLst>
          </a:prstGeom>
          <a:solidFill>
            <a:srgbClr val="1629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PER-NODE BILL OF MATERIALS (PROTOTYPE)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5394960" cy="384048"/>
          </a:xfrm>
          <a:prstGeom prst="rect">
            <a:avLst/>
          </a:prstGeom>
          <a:solidFill>
            <a:srgbClr val="1B3155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2267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camera (night-capable)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22677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8,000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26700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processor (Jetson-class)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670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35,000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044952"/>
            <a:ext cx="5394960" cy="384048"/>
          </a:xfrm>
          <a:prstGeom prst="rect">
            <a:avLst/>
          </a:prstGeom>
          <a:solidFill>
            <a:srgbClr val="1B3155">
              <a:alpha val="5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07238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array + vibration + GPS sensors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30723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6,000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96112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NB-IoT radio module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474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3,000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77240" y="3849624"/>
            <a:ext cx="5394960" cy="384048"/>
          </a:xfrm>
          <a:prstGeom prst="rect">
            <a:avLst/>
          </a:prstGeom>
          <a:solidFill>
            <a:srgbClr val="1B3155">
              <a:alpha val="5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87705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battery + power driver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8770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7,000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96112" y="4279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IP66 enclosure, LED floodlight, speaker, mount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4279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14,000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4654296"/>
            <a:ext cx="5394960" cy="384048"/>
          </a:xfrm>
          <a:prstGeom prst="rect">
            <a:avLst/>
          </a:prstGeom>
          <a:solidFill>
            <a:srgbClr val="1B3155">
              <a:alpha val="5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4681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Assembly, wiring &amp; bench test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46817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9,000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68680" y="5138928"/>
            <a:ext cx="5212080" cy="0"/>
          </a:xfrm>
          <a:prstGeom prst="line">
            <a:avLst/>
          </a:prstGeom>
          <a:noFill/>
          <a:ln w="12700">
            <a:solidFill>
              <a:srgbClr val="C98A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52303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PARTS COST / NODE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97680" y="5230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₹ 82,000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720840" y="1600200"/>
            <a:ext cx="4919472" cy="1783080"/>
          </a:xfrm>
          <a:prstGeom prst="roundRect">
            <a:avLst>
              <a:gd name="adj" fmla="val 4103"/>
            </a:avLst>
          </a:prstGeom>
          <a:solidFill>
            <a:srgbClr val="1B3155"/>
          </a:solidFill>
          <a:ln/>
        </p:spPr>
      </p:sp>
      <p:sp>
        <p:nvSpPr>
          <p:cNvPr id="32" name="Text 30"/>
          <p:cNvSpPr/>
          <p:nvPr/>
        </p:nvSpPr>
        <p:spPr>
          <a:xfrm>
            <a:off x="7040880" y="18105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VOLUME (1,000+ NODES)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20848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48–55 k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7040880" y="28163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carrier board replaces dev-kit; 35–40% volume pricing on sensors and enclosure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20840" y="3611880"/>
            <a:ext cx="4919472" cy="2148840"/>
          </a:xfrm>
          <a:prstGeom prst="roundRect">
            <a:avLst>
              <a:gd name="adj" fmla="val 3404"/>
            </a:avLst>
          </a:prstGeom>
          <a:solidFill>
            <a:srgbClr val="16294A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38221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 PER NODE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81114" y="4237330"/>
            <a:ext cx="138989" cy="13898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101230" y="4257446"/>
            <a:ext cx="98755" cy="98755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114032" y="4270248"/>
            <a:ext cx="73152" cy="7315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0" name="Text 38"/>
          <p:cNvSpPr/>
          <p:nvPr/>
        </p:nvSpPr>
        <p:spPr>
          <a:xfrm>
            <a:off x="7360920" y="41605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installation   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95 k – 1.2 L one-time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081114" y="4712818"/>
            <a:ext cx="138989" cy="13898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01230" y="4732934"/>
            <a:ext cx="98755" cy="98755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114032" y="4745736"/>
            <a:ext cx="73152" cy="7315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4" name="Text 42"/>
          <p:cNvSpPr/>
          <p:nvPr/>
        </p:nvSpPr>
        <p:spPr>
          <a:xfrm>
            <a:off x="7360920" y="46360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(AMC)   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8–10 k / node / year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081114" y="5188306"/>
            <a:ext cx="138989" cy="138989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01230" y="5208422"/>
            <a:ext cx="98755" cy="98755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14032" y="5221224"/>
            <a:ext cx="73152" cy="73152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48" name="Text 46"/>
          <p:cNvSpPr/>
          <p:nvPr/>
        </p:nvSpPr>
        <p:spPr>
          <a:xfrm>
            <a:off x="7360920" y="511149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dashboard + analytics   </a:t>
            </a:r>
            <a:pPr indent="0" marL="0">
              <a:buNone/>
            </a:pPr>
            <a:r>
              <a:rPr lang="en-US" sz="11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city / campus licence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59893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prices are indicative (public market pricing, July 2026) — replaced with vendor quotes in Phase 1. Hardware margins at volume fund the recurring SaaS + AMC engine.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BUSINESS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India's 100+ Smart Cities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1629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8972" y="2327148"/>
            <a:ext cx="173736" cy="173736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44118" y="2352294"/>
            <a:ext cx="123444" cy="123444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" y="2368296"/>
            <a:ext cx="91440" cy="9144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2240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SPVs &amp; municipal corporations
</a:t>
            </a:r>
            <a:pPr indent="0" marL="0">
              <a:buNone/>
            </a:pPr>
            <a:r>
              <a:rPr lang="en-US" sz="105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cities under the Smart Cities Mission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8972" y="3259836"/>
            <a:ext cx="173736" cy="173736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44118" y="3284982"/>
            <a:ext cx="123444" cy="123444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3300984"/>
            <a:ext cx="91440" cy="9144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1729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NHAI &amp; state highway authorities
</a:t>
            </a:r>
            <a:pPr indent="0" marL="0">
              <a:buNone/>
            </a:pPr>
            <a:r>
              <a:rPr lang="en-US" sz="105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black-spot corridors, toll plazas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8972" y="4192524"/>
            <a:ext cx="173736" cy="173736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44118" y="4217670"/>
            <a:ext cx="123444" cy="123444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4233672"/>
            <a:ext cx="91440" cy="9144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410565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rail, airports &amp; universities
</a:t>
            </a:r>
            <a:pPr indent="0" marL="0">
              <a:buNone/>
            </a:pPr>
            <a:r>
              <a:rPr lang="en-US" sz="105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 with existing pole infrastructure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8972" y="5125212"/>
            <a:ext cx="173736" cy="173736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44118" y="5150358"/>
            <a:ext cx="123444" cy="123444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" y="5166360"/>
            <a:ext cx="91440" cy="9144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5" name="Text 23"/>
          <p:cNvSpPr/>
          <p:nvPr/>
        </p:nvSpPr>
        <p:spPr>
          <a:xfrm>
            <a:off x="1234440" y="50383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townships &amp; industrial parks
</a:t>
            </a:r>
            <a:pPr indent="0" marL="0">
              <a:buNone/>
            </a:pPr>
            <a:r>
              <a:rPr lang="en-US" sz="105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as a premium amenity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Beneficiaries: women, senior citizens, students, daily commuters, highway travellers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1600200"/>
            <a:ext cx="5468112" cy="4572000"/>
          </a:xfrm>
          <a:prstGeom prst="roundRect">
            <a:avLst>
              <a:gd name="adj" fmla="val 1600"/>
            </a:avLst>
          </a:prstGeom>
          <a:solidFill>
            <a:srgbClr val="16294A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EARN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228600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B3155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installation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00684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one-time, per smart node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92240" y="2999232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B3155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29992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dashboard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006840" y="2999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 per city / campus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92240" y="3712464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B3155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371246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(AMC)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006840" y="371246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recurring, per node per year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92240" y="4425696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B3155"/>
          </a:solidFill>
          <a:ln/>
        </p:spPr>
      </p:sp>
      <p:sp>
        <p:nvSpPr>
          <p:cNvPr id="39" name="Text 37"/>
          <p:cNvSpPr/>
          <p:nvPr/>
        </p:nvSpPr>
        <p:spPr>
          <a:xfrm>
            <a:off x="6629400" y="4425696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analytics reports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006840" y="44256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hotspot &amp; infrastructure insights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92240" y="5138928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B3155"/>
          </a:solidFill>
          <a:ln/>
        </p:spPr>
      </p:sp>
      <p:sp>
        <p:nvSpPr>
          <p:cNvPr id="42" name="Text 40"/>
          <p:cNvSpPr/>
          <p:nvPr/>
        </p:nvSpPr>
        <p:spPr>
          <a:xfrm>
            <a:off x="6629400" y="513892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licensing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06840" y="51389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feed for maps, insurers, fleets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92240" y="5806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Middle East, Southeast Asia, Europe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simulation of the mesh in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working software simulation of a SentinelAI deployment — a live city-block map of smart nodes that detects a simulated crash and SOS event, runs multi-sensor verification, activates the Safe Corridor, and dispatches alerts in real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node mesh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644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smart poles on a city block, each streaming simulated sensor state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27889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60520" y="326440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+ scream events trigger the on-node AI and validation gate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Corridor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8172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neighbouring poles brighten and hand off camera tracking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31920" y="420624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16294A"/>
          </a:solidFill>
          <a:ln/>
        </p:spPr>
      </p:sp>
      <p:sp>
        <p:nvSpPr>
          <p:cNvPr id="19" name="Text 17"/>
          <p:cNvSpPr/>
          <p:nvPr/>
        </p:nvSpPr>
        <p:spPr>
          <a:xfrm>
            <a:off x="416052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console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60520" y="468172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/ ambulance / family alerts with GPS fire automatically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0" y="1554480"/>
            <a:ext cx="4142232" cy="4480560"/>
          </a:xfrm>
          <a:prstGeom prst="roundRect">
            <a:avLst>
              <a:gd name="adj" fmla="val 1766"/>
            </a:avLst>
          </a:prstGeom>
          <a:solidFill>
            <a:srgbClr val="1B3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9395460" y="2112264"/>
            <a:ext cx="347472" cy="347472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445752" y="2162556"/>
            <a:ext cx="246888" cy="2468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477756" y="2194560"/>
            <a:ext cx="182880" cy="182880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2697480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63840" y="3154680"/>
            <a:ext cx="3410712" cy="594360"/>
          </a:xfrm>
          <a:prstGeom prst="roundRect">
            <a:avLst>
              <a:gd name="adj" fmla="val 12308"/>
            </a:avLst>
          </a:prstGeom>
          <a:solidFill>
            <a:srgbClr val="0B1626"/>
          </a:solidFill>
          <a:ln w="12700">
            <a:solidFill>
              <a:srgbClr val="FFB30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7863840" y="3154680"/>
            <a:ext cx="3410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demo video link here ]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863840" y="393192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2-minute screen recording of the simulation: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flow (0:00–1:00) and women's-safety SOS flow (1:00–2:00).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63840" y="5029200"/>
            <a:ext cx="3410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node demo planned at end of Phase 2.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file: sentinelai/demo/index.html — runs in any browser, no install needed.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Builders with shipped projects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68112" cy="3291840"/>
          </a:xfrm>
          <a:prstGeom prst="roundRect">
            <a:avLst>
              <a:gd name="adj" fmla="val 2222"/>
            </a:avLst>
          </a:prstGeom>
          <a:solidFill>
            <a:srgbClr val="16294A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1920240"/>
            <a:ext cx="914400" cy="914400"/>
          </a:xfrm>
          <a:prstGeom prst="ellipse">
            <a:avLst/>
          </a:prstGeom>
          <a:solidFill>
            <a:srgbClr val="1B3155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96596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Saatwik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6596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Product &amp;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63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— shipped PathAhead (career-guidance platform), an ML stock-prediction system, and multiple production web platforms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edge AI models, sensor fusion, dashboard build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degree, branch, college, year]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600200"/>
            <a:ext cx="5468112" cy="3291840"/>
          </a:xfrm>
          <a:prstGeom prst="roundRect">
            <a:avLst>
              <a:gd name="adj" fmla="val 2222"/>
            </a:avLst>
          </a:prstGeom>
          <a:solidFill>
            <a:srgbClr val="16294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920240"/>
            <a:ext cx="914400" cy="914400"/>
          </a:xfrm>
          <a:prstGeom prst="ellipse">
            <a:avLst/>
          </a:prstGeom>
          <a:solidFill>
            <a:srgbClr val="1B3155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920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58952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Nirisha Chowdary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8952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— Research &amp; Strategy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306324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originator — authored the SentinelAI vision, market analysis and IP strategy; built a GPT implementation from scratch in pure Python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Owns: stakeholder validation, business model, partnerships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[Add: degree, branch, college, year]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1B315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03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&amp; VALIDATION NETWORK (IN PROGRESS)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targets: one police-department mentor, one 108/EMRI operations contact, one municipal smart-city officer, one faculty advisor (embedded systems / AI). [Add names as confirmed]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designed for the failure modes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54485" y="471373"/>
            <a:ext cx="191110" cy="191110"/>
          </a:xfrm>
          <a:prstGeom prst="ellipse">
            <a:avLst/>
          </a:prstGeom>
          <a:solidFill>
            <a:srgbClr val="FFB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82146" y="499034"/>
            <a:ext cx="135788" cy="135788"/>
          </a:xfrm>
          <a:prstGeom prst="ellipse">
            <a:avLst/>
          </a:prstGeom>
          <a:solidFill>
            <a:srgbClr val="FFB300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99748" y="516636"/>
            <a:ext cx="100584" cy="100584"/>
          </a:xfrm>
          <a:prstGeom prst="ellipse">
            <a:avLst/>
          </a:prstGeom>
          <a:solidFill>
            <a:srgbClr val="FFB300"/>
          </a:solidFill>
          <a:ln/>
        </p:spPr>
      </p:sp>
      <p:sp>
        <p:nvSpPr>
          <p:cNvPr id="7" name="Text 5"/>
          <p:cNvSpPr/>
          <p:nvPr/>
        </p:nvSpPr>
        <p:spPr>
          <a:xfrm>
            <a:off x="1129284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16294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819656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17099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78992" y="20756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Edge-first processing — footage stays on the node; encrypted, event-only uploads; DPDP-Act-aligned data policy; no facial recognition in v1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1629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28232" y="1819656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702552" y="17099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02552" y="207568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validation gate (vision + audio + vibration must agree); campus pilot tunes threshold to &lt; 5% before any city deployment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136392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1629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3355848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3246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&amp; durability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78992" y="3611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IP66-rated enclosures; sensor redundancy; degraded-mode operation when any one sensor fails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136392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16294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28232" y="3355848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3246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maintenance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702552" y="3611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Self-diagnostics heartbeat to dashboard; AMC model funds field service; modular swap-in parts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72584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1629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" y="4892040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47823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approvals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78992" y="51480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under university MoU first; align with Smart Cities Mission procurement; police partnership from Phase 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672584"/>
            <a:ext cx="5468112" cy="1371600"/>
          </a:xfrm>
          <a:prstGeom prst="roundRect">
            <a:avLst>
              <a:gd name="adj" fmla="val 5333"/>
            </a:avLst>
          </a:prstGeom>
          <a:solidFill>
            <a:srgbClr val="1629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428232" y="4892040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47823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cost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02552" y="51480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existing poles — no new civil works; commodity hardware; per-node cost drops with volume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1443" y="6152083"/>
            <a:ext cx="131674" cy="131674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" y="6190488"/>
            <a:ext cx="54864" cy="54864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2468" y="6308628"/>
            <a:ext cx="184343" cy="184343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96235" y="6362395"/>
            <a:ext cx="76810" cy="76810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27814" y="6145134"/>
            <a:ext cx="237012" cy="237012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796942" y="6214262"/>
            <a:ext cx="98755" cy="98755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49363" y="6334963"/>
            <a:ext cx="131674" cy="131674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87768" y="6373368"/>
            <a:ext cx="54864" cy="54864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26148" y="6125748"/>
            <a:ext cx="184343" cy="184343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79915" y="6179515"/>
            <a:ext cx="76810" cy="76810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037174" y="6236574"/>
            <a:ext cx="237012" cy="237012"/>
          </a:xfrm>
          <a:prstGeom prst="ellipse">
            <a:avLst/>
          </a:prstGeom>
          <a:solidFill>
            <a:srgbClr val="FFB300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106302" y="6305702"/>
            <a:ext cx="98755" cy="98755"/>
          </a:xfrm>
          <a:prstGeom prst="ellipse">
            <a:avLst/>
          </a:prstGeom>
          <a:solidFill>
            <a:srgbClr val="FFB300">
              <a:alpha val="7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822960"/>
            <a:ext cx="9994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pole we light up is a life we might save.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011680" y="1783080"/>
            <a:ext cx="8165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SentinelAI makes public infrastructure aware, responsive and connected — faster emergency response, safer streets, smarter cities.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225296" y="269748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
</a:t>
            </a:r>
            <a:pPr algn="ctr" indent="0" marL="0">
              <a:buNone/>
            </a:pPr>
            <a:r>
              <a:rPr lang="en-US" sz="9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36976" y="269748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36976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5
</a:t>
            </a:r>
            <a:pPr algn="ctr" indent="0" marL="0">
              <a:buNone/>
            </a:pPr>
            <a:r>
              <a:rPr lang="en-US" sz="9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Equality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248656" y="269748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48656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
</a:t>
            </a:r>
            <a:pPr algn="ctr" indent="0" marL="0">
              <a:buNone/>
            </a:pPr>
            <a:r>
              <a:rPr lang="en-US" sz="9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&amp; Innovation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260336" y="269748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0336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
</a:t>
            </a:r>
            <a:pPr algn="ctr" indent="0" marL="0">
              <a:buNone/>
            </a:pPr>
            <a:r>
              <a:rPr lang="en-US" sz="9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272016" y="269748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6294A"/>
          </a:solidFill>
          <a:ln w="9525">
            <a:solidFill>
              <a:srgbClr val="2C44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72016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
</a:t>
            </a:r>
            <a:pPr algn="ctr" indent="0" marL="0">
              <a:buNone/>
            </a:pPr>
            <a:r>
              <a:rPr lang="en-US" sz="950" dirty="0">
                <a:solidFill>
                  <a:srgbClr val="A8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&amp; Justice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011680" y="3794760"/>
            <a:ext cx="8165592" cy="1417320"/>
          </a:xfrm>
          <a:prstGeom prst="roundRect">
            <a:avLst>
              <a:gd name="adj" fmla="val 5161"/>
            </a:avLst>
          </a:prstGeom>
          <a:solidFill>
            <a:srgbClr val="1B3155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39776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77440" y="429768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₹18–20 lakh + incubation support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deliver a working 5-node campus mesh in 8 months — validated with police, ambulance operators and municipal officials.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5532120"/>
            <a:ext cx="9994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SentinelAI  •  adithya001v@gmail.com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SentinelAI — Concept-to-Prototype Execution Plan</dc:title>
  <dc:subject>PptxGenJS Presentation</dc:subject>
  <dc:creator>Team SentinelAI</dc:creator>
  <cp:lastModifiedBy>Team SentinelAI</cp:lastModifiedBy>
  <cp:revision>1</cp:revision>
  <dcterms:created xsi:type="dcterms:W3CDTF">2026-07-21T05:30:20Z</dcterms:created>
  <dcterms:modified xsi:type="dcterms:W3CDTF">2026-07-21T05:30:20Z</dcterms:modified>
</cp:coreProperties>
</file>