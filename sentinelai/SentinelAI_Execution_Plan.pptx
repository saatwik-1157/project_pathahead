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lakh</c:v>
                </c:pt>
              </c:strCache>
            </c:strRef>
          </c:tx>
          <c:spPr>
            <a:solidFill>
              <a:srgbClr val="FFB300"/>
            </a:solidFill>
            <a:effectLst/>
          </c:spPr>
          <c:invertIfNegative val="0"/>
          <c:dLbls>
            <c:numFmt formatCode="0.0" sourceLinked="0"/>
            <c:txPr>
              <a:bodyPr/>
              <a:lstStyle/>
              <a:p>
                <a:pPr>
                  <a:defRPr b="0" i="0" strike="noStrike" sz="1100" u="none">
                    <a:solidFill>
                      <a:srgbClr val="FFFFFF"/>
                    </a:solidFill>
                    <a:latin typeface="Calibri"/>
                  </a:defRPr>
                </a:pPr>
              </a:p>
            </c:txPr>
            <c:showLegendKey val="0"/>
            <c:showVal val="1"/>
            <c:showCatName val="0"/>
            <c:showSerName val="0"/>
            <c:showPercent val="0"/>
            <c:showBubbleSize val="0"/>
            <c:showLeaderLines val="0"/>
          </c:dLbls>
          <c:cat>
            <c:multiLvlStrRef>
              <c:f>Sheet1!$A$2:$A$8</c:f>
              <c:multiLvlStrCache>
                <c:ptCount val="7"/>
                <c:lvl>
                  <c:pt idx="0">
                    <c:v>Sensors &amp; AI cameras</c:v>
                  </c:pt>
                  <c:pt idx="1">
                    <c:v>Edge processors</c:v>
                  </c:pt>
                  <c:pt idx="2">
                    <c:v>Node fabrication</c:v>
                  </c:pt>
                  <c:pt idx="3">
                    <c:v>Cloud &amp; dashboard</c:v>
                  </c:pt>
                  <c:pt idx="4">
                    <c:v>Alerts &amp; SMS gateway</c:v>
                  </c:pt>
                  <c:pt idx="5">
                    <c:v>Field testing &amp; pilot</c:v>
                  </c:pt>
                  <c:pt idx="6">
                    <c:v>Contingency</c:v>
                  </c:pt>
                </c:lvl>
              </c:multiLvlStrCache>
            </c:multiLvlStrRef>
          </c:cat>
          <c:val>
            <c:numRef>
              <c:f>Sheet1!$B$2:$B$8</c:f>
              <c:numCache>
                <c:formatCode>General</c:formatCode>
                <c:ptCount val="7"/>
                <c:pt idx="0">
                  <c:v>4</c:v>
                </c:pt>
                <c:pt idx="1">
                  <c:v>3</c:v>
                </c:pt>
                <c:pt idx="2">
                  <c:v>2.5</c:v>
                </c:pt>
                <c:pt idx="3">
                  <c:v>3</c:v>
                </c:pt>
                <c:pt idx="4">
                  <c:v>1</c:v>
                </c:pt>
                <c:pt idx="5">
                  <c:v>3.5</c:v>
                </c:pt>
                <c:pt idx="6">
                  <c:v>2</c:v>
                </c:pt>
              </c:numCache>
            </c:numRef>
          </c:val>
        </c:ser>
        <c:dLbls>
          <c:numFmt formatCode="0.0" sourceLinked="0"/>
          <c:txPr>
            <a:bodyPr/>
            <a:lstStyle/>
            <a:p>
              <a:pPr>
                <a:defRPr b="0" i="0" strike="noStrike" sz="1100" u="none">
                  <a:solidFill>
                    <a:srgbClr val="FFFF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Calibri"/>
              </a:defRPr>
            </a:pPr>
            <a:endParaRPr lang="en-US"/>
          </a:p>
        </c:txPr>
        <c:crossAx val="2094734552"/>
        <c:crosses val="autoZero"/>
        <c:auto val="1"/>
        <c:lblAlgn val="ctr"/>
        <c:noMultiLvlLbl val="1"/>
      </c:catAx>
      <c:valAx>
        <c:axId val="2094734552"/>
        <c:scaling>
          <c:orientation val="minMax"/>
          <c:max val="5"/>
        </c:scaling>
        <c:delete val="0"/>
        <c:axPos val="b"/>
        <c:majorGridlines>
          <c:spPr>
            <a:ln w="6350" cap="flat">
              <a:solidFill>
                <a:srgbClr val="22385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E97B8"/>
                </a:solidFill>
                <a:latin typeface="Calibri"/>
              </a:defRPr>
            </a:pPr>
            <a:endParaRPr lang="en-US"/>
          </a:p>
        </c:txPr>
        <c:crossAx val="2094734554"/>
        <c:crosses val="autoZero"/>
        <c:crossBetween val="between"/>
        <c:majorUnit val="1"/>
      </c:valAx>
      <c:spPr>
        <a:solidFill>
          <a:srgbClr val="0B1626"/>
        </a:solidFill>
        <a:ln>
          <a:noFill/>
        </a:ln>
        <a:effectLst/>
      </c:spPr>
    </c:plotArea>
    <c:plotVisOnly val="1"/>
    <c:dispBlanksAs val="span"/>
  </c:chart>
  <c:spPr>
    <a:solidFill>
      <a:srgbClr val="0B1626"/>
    </a:solidFill>
    <a:ln w="12700" cap="flat">
      <a:solidFill>
        <a:srgbClr val="0B1626"/>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SentinelAI turns existing streetlights and public infrastructure into an AI-powered emergency detection and response mesh. This deck covers the concept, architecture, execution plan from concept to prototype, budget, demo evidence, and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recorded 1,68,491 road accident deaths in 2022 (MoRTH). The Law Commission's Report 201 estimated half of road fatalities could be saved with timely care in the golden hour. Women's safety in isolated public spaces is a parallel crisis. Existing tools are passive or depend on the victim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building new infrastructure, SentinelAI retrofits what cities already own. The node is self-contained: sense, decide on-device, then alert. The four-step loop — detect, verify, respond, protect — is the core value proposition.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flagship use-cases (accident detection, women's safety) supported by three enabling systems (safe corridor mesh, edge AI, predictive analytics). Safe Corridor is the differentiator — poles act as a coordinated network, not isolated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signals from five sensors fuse on the edge processor; the validation engine is the false-alarm gate; verified events fan out to police, ambulance, family, the city dashboard, and the streetlight mesh itself. Privacy: continuous footage never streams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component is commodity and proven — the innovation is in the fusion and coordination, which keeps prototype risk low. Jetson-class edge processor runs YOLO-family models; mesh radio lets poles coordinate without cellular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CCTV (records) and SOS apps (need a conscious user), SentinelAI is designed to detect, understand, verify and respond. Be clear if asked: the SentinelAI column is the target design, not shipped capability, and the four IP areas are candidates — no prior-art search has been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covers Phases 1-3 (amber): validation, a working node, and a 5-node campus mesh in 8 months. Phases 4-5 follow with a municipal partner. Every phase has a hard gate: demo plus metric review before the next begins. Key metric: false-alarm rate below 5% by end of campus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lakh midpoint covers hardware for 5+ nodes, cloud and dashboard build, alert infrastructure, and 3 months of field testing, with a 2-lakh contingency. Cost control: commodity parts, retrofit (no civil works), open-source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Per-node parts cost is about 82k at prototype, dropping to roughly 48-55k at 1,000-unit volume once the dev-kit is replaced by an integrated carrier board. Indicative sell: 95k-1.2L per node installed, plus 8-10k AMC per year and the SaaS licence. All figures are labelled indicative and will be replaced with vendor quotes during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customer is government (Smart City SPVs, NHAI, municipal bodies) — capital purchase plus recurring SaaS and AMC. The recurring layers (dashboard, AMC, analytics, API) are the long-term margin engine. Note if asked: the Smart Cities Mission selected 100 cities and its central funding window has closed; the SPVs and the municipal bodies that inherited those assets remain the buyers. No customer conversations have happened yet — that is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what this is: a scripted walkthrough of the intended incident flow — the sensor values and the 3/3 gate are synthetic, driven by a timeline, not by a trained model. It demonstrates the interface, the mesh coordination and the dispatch sequence before any hardware spend; it does NOT demonstrate detection accuracy. A recorded ~64-second capture ships in the package (demo/SentinelAI_Demo.mp4) — upload it (YouTube unlisted / Drive) and paste the link into the placeholder box. Real detection models are the Phase 2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Nirisha is the founder — she originated the concept and owns product vision, validation, business model and IP. Saatwik is co-founder and tech lead, owning the technical architecture and build. Both are Integrated M.Tech CSE at VIT-AP University, batch 2024-29. Advisor slots are outreach targets for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risk has a designed-in mitigation, not an afterthought: privacy via edge-first architecture, false alarms via the validation gate with a hard &lt;5% metric, approvals via the campus-MoU-first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ask is 18-20 lakh plus incubation support for an 8-month path to a working 5-node campus mesh, validated with the people who would actually use it — police, 108 operators, municipal officials.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Nirisha22" TargetMode="External"/><Relationship Id="rId2" Type="http://schemas.openxmlformats.org/officeDocument/2006/relationships/hyperlink" Target="https://github.com/Nirisha22" TargetMode="External"/><Relationship Id="rId3" Type="http://schemas.openxmlformats.org/officeDocument/2006/relationships/hyperlink" Target="https://www.linkedin.com/in/nirisha-chowdary-368335248" TargetMode="External"/><Relationship Id="rId4" Type="http://schemas.openxmlformats.org/officeDocument/2006/relationships/hyperlink" Target="https://www.linkedin.com/in/nirisha-chowdary-368335248" TargetMode="External"/><Relationship Id="rId5" Type="http://schemas.openxmlformats.org/officeDocument/2006/relationships/hyperlink" Target="https://github.com/saatwik-1157" TargetMode="External"/><Relationship Id="rId6" Type="http://schemas.openxmlformats.org/officeDocument/2006/relationships/hyperlink" Target="https://github.com/saatwik-1157" TargetMode="External"/><Relationship Id="rId7" Type="http://schemas.openxmlformats.org/officeDocument/2006/relationships/hyperlink" Target="https://www.linkedin.com/in/saatwiksairaamvasamsetti" TargetMode="External"/><Relationship Id="rId8" Type="http://schemas.openxmlformats.org/officeDocument/2006/relationships/hyperlink" Target="https://www.linkedin.com/in/saatwiksairaamvasamsetti" TargetMode="External"/><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saatwik-1157" TargetMode="External"/><Relationship Id="rId2" Type="http://schemas.openxmlformats.org/officeDocument/2006/relationships/hyperlink" Target="https://www.linkedin.com/in/saatwiksairaamvasamsetti" TargetMode="External"/><Relationship Id="rId3" Type="http://schemas.openxmlformats.org/officeDocument/2006/relationships/hyperlink" Target="https://github.com/Nirisha22" TargetMode="External"/><Relationship Id="rId4" Type="http://schemas.openxmlformats.org/officeDocument/2006/relationships/hyperlink" Target="https://www.linkedin.com/in/nirisha-chowdary-368335248" TargetMode="Externa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26"/>
        </a:solidFill>
      </p:bgPr>
    </p:bg>
    <p:spTree>
      <p:nvGrpSpPr>
        <p:cNvPr id="1" name=""/>
        <p:cNvGrpSpPr/>
        <p:nvPr/>
      </p:nvGrpSpPr>
      <p:grpSpPr>
        <a:xfrm>
          <a:off x="0" y="0"/>
          <a:ext cx="0" cy="0"/>
          <a:chOff x="0" y="0"/>
          <a:chExt cx="0" cy="0"/>
        </a:xfrm>
      </p:grpSpPr>
      <p:sp>
        <p:nvSpPr>
          <p:cNvPr id="2" name="Shape 0"/>
          <p:cNvSpPr/>
          <p:nvPr/>
        </p:nvSpPr>
        <p:spPr>
          <a:xfrm>
            <a:off x="1020470" y="5958230"/>
            <a:ext cx="153619" cy="153619"/>
          </a:xfrm>
          <a:prstGeom prst="ellipse">
            <a:avLst/>
          </a:prstGeom>
          <a:solidFill>
            <a:srgbClr val="FFB300">
              <a:alpha val="14000"/>
            </a:srgbClr>
          </a:solidFill>
          <a:ln/>
        </p:spPr>
      </p:sp>
      <p:sp>
        <p:nvSpPr>
          <p:cNvPr id="3" name="Shape 1"/>
          <p:cNvSpPr/>
          <p:nvPr/>
        </p:nvSpPr>
        <p:spPr>
          <a:xfrm>
            <a:off x="1065276" y="6003036"/>
            <a:ext cx="64008" cy="64008"/>
          </a:xfrm>
          <a:prstGeom prst="ellipse">
            <a:avLst/>
          </a:prstGeom>
          <a:solidFill>
            <a:srgbClr val="FFB300">
              <a:alpha val="75000"/>
            </a:srgbClr>
          </a:solidFill>
          <a:ln/>
        </p:spPr>
      </p:sp>
      <p:sp>
        <p:nvSpPr>
          <p:cNvPr id="4" name="Shape 2"/>
          <p:cNvSpPr/>
          <p:nvPr/>
        </p:nvSpPr>
        <p:spPr>
          <a:xfrm>
            <a:off x="2091416" y="6206216"/>
            <a:ext cx="206289" cy="206289"/>
          </a:xfrm>
          <a:prstGeom prst="ellipse">
            <a:avLst/>
          </a:prstGeom>
          <a:solidFill>
            <a:srgbClr val="FFB300">
              <a:alpha val="14000"/>
            </a:srgbClr>
          </a:solidFill>
          <a:ln/>
        </p:spPr>
      </p:sp>
      <p:sp>
        <p:nvSpPr>
          <p:cNvPr id="5" name="Shape 3"/>
          <p:cNvSpPr/>
          <p:nvPr/>
        </p:nvSpPr>
        <p:spPr>
          <a:xfrm>
            <a:off x="2151583" y="6266383"/>
            <a:ext cx="85954" cy="85954"/>
          </a:xfrm>
          <a:prstGeom prst="ellipse">
            <a:avLst/>
          </a:prstGeom>
          <a:solidFill>
            <a:srgbClr val="FFB300">
              <a:alpha val="75000"/>
            </a:srgbClr>
          </a:solidFill>
          <a:ln/>
        </p:spPr>
      </p:sp>
      <p:sp>
        <p:nvSpPr>
          <p:cNvPr id="6" name="Shape 4"/>
          <p:cNvSpPr/>
          <p:nvPr/>
        </p:nvSpPr>
        <p:spPr>
          <a:xfrm>
            <a:off x="3436681" y="5997001"/>
            <a:ext cx="258958" cy="258958"/>
          </a:xfrm>
          <a:prstGeom prst="ellipse">
            <a:avLst/>
          </a:prstGeom>
          <a:solidFill>
            <a:srgbClr val="FFB300">
              <a:alpha val="14000"/>
            </a:srgbClr>
          </a:solidFill>
          <a:ln/>
        </p:spPr>
      </p:sp>
      <p:sp>
        <p:nvSpPr>
          <p:cNvPr id="7" name="Shape 5"/>
          <p:cNvSpPr/>
          <p:nvPr/>
        </p:nvSpPr>
        <p:spPr>
          <a:xfrm>
            <a:off x="3512210" y="6072530"/>
            <a:ext cx="107899" cy="107899"/>
          </a:xfrm>
          <a:prstGeom prst="ellipse">
            <a:avLst/>
          </a:prstGeom>
          <a:solidFill>
            <a:srgbClr val="FFB300">
              <a:alpha val="75000"/>
            </a:srgbClr>
          </a:solidFill>
          <a:ln/>
        </p:spPr>
      </p:sp>
      <p:sp>
        <p:nvSpPr>
          <p:cNvPr id="8" name="Shape 6"/>
          <p:cNvSpPr/>
          <p:nvPr/>
        </p:nvSpPr>
        <p:spPr>
          <a:xfrm>
            <a:off x="5043830" y="6278270"/>
            <a:ext cx="153619" cy="153619"/>
          </a:xfrm>
          <a:prstGeom prst="ellipse">
            <a:avLst/>
          </a:prstGeom>
          <a:solidFill>
            <a:srgbClr val="FFB300">
              <a:alpha val="14000"/>
            </a:srgbClr>
          </a:solidFill>
          <a:ln/>
        </p:spPr>
      </p:sp>
      <p:sp>
        <p:nvSpPr>
          <p:cNvPr id="9" name="Shape 7"/>
          <p:cNvSpPr/>
          <p:nvPr/>
        </p:nvSpPr>
        <p:spPr>
          <a:xfrm>
            <a:off x="5088636" y="6323076"/>
            <a:ext cx="64008" cy="64008"/>
          </a:xfrm>
          <a:prstGeom prst="ellipse">
            <a:avLst/>
          </a:prstGeom>
          <a:solidFill>
            <a:srgbClr val="FFB300">
              <a:alpha val="75000"/>
            </a:srgbClr>
          </a:solidFill>
          <a:ln/>
        </p:spPr>
      </p:sp>
      <p:sp>
        <p:nvSpPr>
          <p:cNvPr id="10" name="Shape 8"/>
          <p:cNvSpPr/>
          <p:nvPr/>
        </p:nvSpPr>
        <p:spPr>
          <a:xfrm>
            <a:off x="6663416" y="6023336"/>
            <a:ext cx="206289" cy="206289"/>
          </a:xfrm>
          <a:prstGeom prst="ellipse">
            <a:avLst/>
          </a:prstGeom>
          <a:solidFill>
            <a:srgbClr val="FFB300">
              <a:alpha val="14000"/>
            </a:srgbClr>
          </a:solidFill>
          <a:ln/>
        </p:spPr>
      </p:sp>
      <p:sp>
        <p:nvSpPr>
          <p:cNvPr id="11" name="Shape 9"/>
          <p:cNvSpPr/>
          <p:nvPr/>
        </p:nvSpPr>
        <p:spPr>
          <a:xfrm>
            <a:off x="6723583" y="6083503"/>
            <a:ext cx="85954" cy="85954"/>
          </a:xfrm>
          <a:prstGeom prst="ellipse">
            <a:avLst/>
          </a:prstGeom>
          <a:solidFill>
            <a:srgbClr val="FFB300">
              <a:alpha val="75000"/>
            </a:srgbClr>
          </a:solidFill>
          <a:ln/>
        </p:spPr>
      </p:sp>
      <p:sp>
        <p:nvSpPr>
          <p:cNvPr id="12" name="Shape 10"/>
          <p:cNvSpPr/>
          <p:nvPr/>
        </p:nvSpPr>
        <p:spPr>
          <a:xfrm>
            <a:off x="8283001" y="6179881"/>
            <a:ext cx="258958" cy="258958"/>
          </a:xfrm>
          <a:prstGeom prst="ellipse">
            <a:avLst/>
          </a:prstGeom>
          <a:solidFill>
            <a:srgbClr val="FFB300">
              <a:alpha val="14000"/>
            </a:srgbClr>
          </a:solidFill>
          <a:ln/>
        </p:spPr>
      </p:sp>
      <p:sp>
        <p:nvSpPr>
          <p:cNvPr id="13" name="Shape 11"/>
          <p:cNvSpPr/>
          <p:nvPr/>
        </p:nvSpPr>
        <p:spPr>
          <a:xfrm>
            <a:off x="8358530" y="6255410"/>
            <a:ext cx="107899" cy="107899"/>
          </a:xfrm>
          <a:prstGeom prst="ellipse">
            <a:avLst/>
          </a:prstGeom>
          <a:solidFill>
            <a:srgbClr val="FFB300">
              <a:alpha val="75000"/>
            </a:srgbClr>
          </a:solidFill>
          <a:ln/>
        </p:spPr>
      </p:sp>
      <p:sp>
        <p:nvSpPr>
          <p:cNvPr id="14" name="Shape 12"/>
          <p:cNvSpPr/>
          <p:nvPr/>
        </p:nvSpPr>
        <p:spPr>
          <a:xfrm>
            <a:off x="9890150" y="6003950"/>
            <a:ext cx="153619" cy="153619"/>
          </a:xfrm>
          <a:prstGeom prst="ellipse">
            <a:avLst/>
          </a:prstGeom>
          <a:solidFill>
            <a:srgbClr val="FFB300">
              <a:alpha val="14000"/>
            </a:srgbClr>
          </a:solidFill>
          <a:ln/>
        </p:spPr>
      </p:sp>
      <p:sp>
        <p:nvSpPr>
          <p:cNvPr id="15" name="Shape 13"/>
          <p:cNvSpPr/>
          <p:nvPr/>
        </p:nvSpPr>
        <p:spPr>
          <a:xfrm>
            <a:off x="9934956" y="6048756"/>
            <a:ext cx="64008" cy="64008"/>
          </a:xfrm>
          <a:prstGeom prst="ellipse">
            <a:avLst/>
          </a:prstGeom>
          <a:solidFill>
            <a:srgbClr val="FFB300">
              <a:alpha val="75000"/>
            </a:srgbClr>
          </a:solidFill>
          <a:ln/>
        </p:spPr>
      </p:sp>
      <p:sp>
        <p:nvSpPr>
          <p:cNvPr id="16" name="Shape 14"/>
          <p:cNvSpPr/>
          <p:nvPr/>
        </p:nvSpPr>
        <p:spPr>
          <a:xfrm>
            <a:off x="11052536" y="6160496"/>
            <a:ext cx="206289" cy="206289"/>
          </a:xfrm>
          <a:prstGeom prst="ellipse">
            <a:avLst/>
          </a:prstGeom>
          <a:solidFill>
            <a:srgbClr val="FFB300">
              <a:alpha val="14000"/>
            </a:srgbClr>
          </a:solidFill>
          <a:ln/>
        </p:spPr>
      </p:sp>
      <p:sp>
        <p:nvSpPr>
          <p:cNvPr id="17" name="Shape 15"/>
          <p:cNvSpPr/>
          <p:nvPr/>
        </p:nvSpPr>
        <p:spPr>
          <a:xfrm>
            <a:off x="11112703" y="6220663"/>
            <a:ext cx="85954" cy="85954"/>
          </a:xfrm>
          <a:prstGeom prst="ellipse">
            <a:avLst/>
          </a:prstGeom>
          <a:solidFill>
            <a:srgbClr val="FFB300">
              <a:alpha val="75000"/>
            </a:srgbClr>
          </a:solidFill>
          <a:ln/>
        </p:spPr>
      </p:sp>
      <p:sp>
        <p:nvSpPr>
          <p:cNvPr id="18" name="Shape 16"/>
          <p:cNvSpPr/>
          <p:nvPr/>
        </p:nvSpPr>
        <p:spPr>
          <a:xfrm>
            <a:off x="5868619" y="1191463"/>
            <a:ext cx="451714" cy="451714"/>
          </a:xfrm>
          <a:prstGeom prst="ellipse">
            <a:avLst/>
          </a:prstGeom>
          <a:solidFill>
            <a:srgbClr val="FFB300">
              <a:alpha val="12000"/>
            </a:srgbClr>
          </a:solidFill>
          <a:ln/>
        </p:spPr>
      </p:sp>
      <p:sp>
        <p:nvSpPr>
          <p:cNvPr id="19" name="Shape 17"/>
          <p:cNvSpPr/>
          <p:nvPr/>
        </p:nvSpPr>
        <p:spPr>
          <a:xfrm>
            <a:off x="5933999" y="1256843"/>
            <a:ext cx="320954" cy="320954"/>
          </a:xfrm>
          <a:prstGeom prst="ellipse">
            <a:avLst/>
          </a:prstGeom>
          <a:solidFill>
            <a:srgbClr val="FFB300">
              <a:alpha val="28000"/>
            </a:srgbClr>
          </a:solidFill>
          <a:ln/>
        </p:spPr>
      </p:sp>
      <p:sp>
        <p:nvSpPr>
          <p:cNvPr id="20" name="Shape 18"/>
          <p:cNvSpPr/>
          <p:nvPr/>
        </p:nvSpPr>
        <p:spPr>
          <a:xfrm>
            <a:off x="5975604" y="1298448"/>
            <a:ext cx="237744" cy="237744"/>
          </a:xfrm>
          <a:prstGeom prst="ellipse">
            <a:avLst/>
          </a:prstGeom>
          <a:solidFill>
            <a:srgbClr val="FFB300"/>
          </a:solidFill>
          <a:ln/>
        </p:spPr>
      </p:sp>
      <p:sp>
        <p:nvSpPr>
          <p:cNvPr id="21" name="Text 19"/>
          <p:cNvSpPr/>
          <p:nvPr/>
        </p:nvSpPr>
        <p:spPr>
          <a:xfrm>
            <a:off x="1371600" y="1965960"/>
            <a:ext cx="9445752" cy="1051560"/>
          </a:xfrm>
          <a:prstGeom prst="rect">
            <a:avLst/>
          </a:prstGeom>
          <a:noFill/>
          <a:ln/>
        </p:spPr>
        <p:txBody>
          <a:bodyPr wrap="square" lIns="0" tIns="0" rIns="0" bIns="0" rtlCol="0" anchor="ctr"/>
          <a:lstStyle/>
          <a:p>
            <a:pPr algn="ctr" indent="0" marL="0">
              <a:buNone/>
            </a:pPr>
            <a:r>
              <a:rPr lang="en-US" sz="6600" b="1" dirty="0">
                <a:solidFill>
                  <a:srgbClr val="FFFFFF"/>
                </a:solidFill>
                <a:latin typeface="Calibri" pitchFamily="34" charset="0"/>
                <a:ea typeface="Calibri" pitchFamily="34" charset="-122"/>
                <a:cs typeface="Calibri" pitchFamily="34" charset="-120"/>
              </a:rPr>
              <a:t>SentinelAI</a:t>
            </a:r>
            <a:endParaRPr lang="en-US" sz="6600" dirty="0"/>
          </a:p>
        </p:txBody>
      </p:sp>
      <p:sp>
        <p:nvSpPr>
          <p:cNvPr id="22" name="Text 20"/>
          <p:cNvSpPr/>
          <p:nvPr/>
        </p:nvSpPr>
        <p:spPr>
          <a:xfrm>
            <a:off x="1371600" y="3063240"/>
            <a:ext cx="9445752" cy="457200"/>
          </a:xfrm>
          <a:prstGeom prst="rect">
            <a:avLst/>
          </a:prstGeom>
          <a:noFill/>
          <a:ln/>
        </p:spPr>
        <p:txBody>
          <a:bodyPr wrap="square" lIns="0" tIns="0" rIns="0" bIns="0" rtlCol="0" anchor="ctr"/>
          <a:lstStyle/>
          <a:p>
            <a:pPr algn="ctr" indent="0" marL="0">
              <a:buNone/>
            </a:pPr>
            <a:r>
              <a:rPr lang="en-US" sz="2000" i="1" dirty="0">
                <a:solidFill>
                  <a:srgbClr val="FFB300"/>
                </a:solidFill>
                <a:latin typeface="Calibri" pitchFamily="34" charset="0"/>
                <a:ea typeface="Calibri" pitchFamily="34" charset="-122"/>
                <a:cs typeface="Calibri" pitchFamily="34" charset="-120"/>
              </a:rPr>
              <a:t>Transforming Every Streetlight into a Silent Guardian</a:t>
            </a:r>
            <a:endParaRPr lang="en-US" sz="2000" dirty="0"/>
          </a:p>
        </p:txBody>
      </p:sp>
      <p:sp>
        <p:nvSpPr>
          <p:cNvPr id="23" name="Text 21"/>
          <p:cNvSpPr/>
          <p:nvPr/>
        </p:nvSpPr>
        <p:spPr>
          <a:xfrm>
            <a:off x="1371600" y="3611880"/>
            <a:ext cx="9445752" cy="365760"/>
          </a:xfrm>
          <a:prstGeom prst="rect">
            <a:avLst/>
          </a:prstGeom>
          <a:noFill/>
          <a:ln/>
        </p:spPr>
        <p:txBody>
          <a:bodyPr wrap="square" lIns="0" tIns="0" rIns="0" bIns="0" rtlCol="0" anchor="ctr"/>
          <a:lstStyle/>
          <a:p>
            <a:pPr algn="ctr" indent="0" marL="0">
              <a:buNone/>
            </a:pPr>
            <a:r>
              <a:rPr lang="en-US" sz="1500" dirty="0">
                <a:solidFill>
                  <a:srgbClr val="A8C6E8"/>
                </a:solidFill>
                <a:latin typeface="Calibri" pitchFamily="34" charset="0"/>
                <a:ea typeface="Calibri" pitchFamily="34" charset="-122"/>
                <a:cs typeface="Calibri" pitchFamily="34" charset="-120"/>
              </a:rPr>
              <a:t>AI-Driven Distributed Public Safety Mesh for Smart Cities</a:t>
            </a:r>
            <a:endParaRPr lang="en-US" sz="1500" dirty="0"/>
          </a:p>
        </p:txBody>
      </p:sp>
      <p:sp>
        <p:nvSpPr>
          <p:cNvPr id="24" name="Shape 22"/>
          <p:cNvSpPr/>
          <p:nvPr/>
        </p:nvSpPr>
        <p:spPr>
          <a:xfrm>
            <a:off x="4037076" y="4434840"/>
            <a:ext cx="4114800" cy="566928"/>
          </a:xfrm>
          <a:prstGeom prst="roundRect">
            <a:avLst>
              <a:gd name="adj" fmla="val 12903"/>
            </a:avLst>
          </a:prstGeom>
          <a:solidFill>
            <a:srgbClr val="16294A"/>
          </a:solidFill>
          <a:ln/>
        </p:spPr>
      </p:sp>
      <p:sp>
        <p:nvSpPr>
          <p:cNvPr id="25" name="Text 23"/>
          <p:cNvSpPr/>
          <p:nvPr/>
        </p:nvSpPr>
        <p:spPr>
          <a:xfrm>
            <a:off x="4037076" y="4434840"/>
            <a:ext cx="4114800" cy="566928"/>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CONCEPT-TO-PROTOTYPE EXECUTION PLAN</a:t>
            </a:r>
            <a:endParaRPr lang="en-US" sz="1300" dirty="0"/>
          </a:p>
        </p:txBody>
      </p:sp>
      <p:sp>
        <p:nvSpPr>
          <p:cNvPr id="26" name="Text 24"/>
          <p:cNvSpPr/>
          <p:nvPr/>
        </p:nvSpPr>
        <p:spPr>
          <a:xfrm>
            <a:off x="1371600" y="5303520"/>
            <a:ext cx="9445752" cy="594360"/>
          </a:xfrm>
          <a:prstGeom prst="rect">
            <a:avLst/>
          </a:prstGeom>
          <a:noFill/>
          <a:ln/>
        </p:spPr>
        <p:txBody>
          <a:bodyPr wrap="square" lIns="0" tIns="0" rIns="0" bIns="0" rtlCol="0" anchor="ctr"/>
          <a:lstStyle/>
          <a:p>
            <a:pPr algn="ctr" indent="0" marL="0">
              <a:buNone/>
            </a:pPr>
            <a:r>
              <a:rPr lang="en-US" sz="1300" dirty="0">
                <a:solidFill>
                  <a:srgbClr val="A8C6E8"/>
                </a:solidFill>
                <a:latin typeface="Calibri" pitchFamily="34" charset="0"/>
                <a:ea typeface="Calibri" pitchFamily="34" charset="-122"/>
                <a:cs typeface="Calibri" pitchFamily="34" charset="-120"/>
              </a:rPr>
              <a:t>Sai Nirisha Chowdary Pavuluri  •  Saatwik Sairaam Vasamsetti
</a:t>
            </a:r>
            <a:pPr algn="ctr" indent="0" marL="0">
              <a:buNone/>
            </a:pPr>
            <a:r>
              <a:rPr lang="en-US" sz="1300" dirty="0">
                <a:solidFill>
                  <a:srgbClr val="7E97B8"/>
                </a:solidFill>
                <a:latin typeface="Calibri" pitchFamily="34" charset="0"/>
                <a:ea typeface="Calibri" pitchFamily="34" charset="-122"/>
                <a:cs typeface="Calibri" pitchFamily="34" charset="-120"/>
              </a:rPr>
              <a:t>VIT-AP University  ·  July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THE PROBLEM</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Help arrives too late — because no one is watching</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02</a:t>
            </a:r>
            <a:endParaRPr lang="en-US" sz="1100" dirty="0"/>
          </a:p>
        </p:txBody>
      </p:sp>
      <p:sp>
        <p:nvSpPr>
          <p:cNvPr id="8" name="Shape 6"/>
          <p:cNvSpPr/>
          <p:nvPr/>
        </p:nvSpPr>
        <p:spPr>
          <a:xfrm>
            <a:off x="548640" y="1600200"/>
            <a:ext cx="3520440" cy="2286000"/>
          </a:xfrm>
          <a:prstGeom prst="roundRect">
            <a:avLst>
              <a:gd name="adj" fmla="val 3200"/>
            </a:avLst>
          </a:prstGeom>
          <a:solidFill>
            <a:srgbClr val="16294A"/>
          </a:solidFill>
          <a:ln/>
        </p:spPr>
      </p:sp>
      <p:sp>
        <p:nvSpPr>
          <p:cNvPr id="9" name="Text 7"/>
          <p:cNvSpPr/>
          <p:nvPr/>
        </p:nvSpPr>
        <p:spPr>
          <a:xfrm>
            <a:off x="822960" y="1828800"/>
            <a:ext cx="2971800" cy="822960"/>
          </a:xfrm>
          <a:prstGeom prst="rect">
            <a:avLst/>
          </a:prstGeom>
          <a:noFill/>
          <a:ln/>
        </p:spPr>
        <p:txBody>
          <a:bodyPr wrap="square" lIns="0" tIns="0" rIns="0" bIns="0" rtlCol="0" anchor="ctr"/>
          <a:lstStyle/>
          <a:p>
            <a:pPr indent="0" marL="0">
              <a:buNone/>
            </a:pPr>
            <a:r>
              <a:rPr lang="en-US" sz="5400" b="1" dirty="0">
                <a:solidFill>
                  <a:srgbClr val="FFB300"/>
                </a:solidFill>
                <a:latin typeface="Calibri" pitchFamily="34" charset="0"/>
                <a:ea typeface="Calibri" pitchFamily="34" charset="-122"/>
                <a:cs typeface="Calibri" pitchFamily="34" charset="-120"/>
              </a:rPr>
              <a:t>1.68 L</a:t>
            </a:r>
            <a:endParaRPr lang="en-US" sz="5400" dirty="0"/>
          </a:p>
        </p:txBody>
      </p:sp>
      <p:sp>
        <p:nvSpPr>
          <p:cNvPr id="10" name="Text 8"/>
          <p:cNvSpPr/>
          <p:nvPr/>
        </p:nvSpPr>
        <p:spPr>
          <a:xfrm>
            <a:off x="822960" y="2697480"/>
            <a:ext cx="2971800" cy="9144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road-accident deaths in India in 2022 — many die waiting for help that comes too late</a:t>
            </a:r>
            <a:endParaRPr lang="en-US" sz="1250" dirty="0"/>
          </a:p>
        </p:txBody>
      </p:sp>
      <p:sp>
        <p:nvSpPr>
          <p:cNvPr id="11" name="Text 9"/>
          <p:cNvSpPr/>
          <p:nvPr/>
        </p:nvSpPr>
        <p:spPr>
          <a:xfrm>
            <a:off x="822960" y="3566160"/>
            <a:ext cx="2971800" cy="256032"/>
          </a:xfrm>
          <a:prstGeom prst="rect">
            <a:avLst/>
          </a:prstGeom>
          <a:noFill/>
          <a:ln/>
        </p:spPr>
        <p:txBody>
          <a:bodyPr wrap="square" lIns="0" tIns="0" rIns="0" bIns="0" rtlCol="0" anchor="ctr"/>
          <a:lstStyle/>
          <a:p>
            <a:pPr indent="0" marL="0">
              <a:buNone/>
            </a:pPr>
            <a:r>
              <a:rPr lang="en-US" sz="900" i="1" dirty="0">
                <a:solidFill>
                  <a:srgbClr val="7E97B8"/>
                </a:solidFill>
                <a:latin typeface="Calibri" pitchFamily="34" charset="0"/>
                <a:ea typeface="Calibri" pitchFamily="34" charset="-122"/>
                <a:cs typeface="Calibri" pitchFamily="34" charset="-120"/>
              </a:rPr>
              <a:t>MoRTH, Road Accidents in India 2022 (1,68,491)</a:t>
            </a:r>
            <a:endParaRPr lang="en-US" sz="900" dirty="0"/>
          </a:p>
        </p:txBody>
      </p:sp>
      <p:sp>
        <p:nvSpPr>
          <p:cNvPr id="12" name="Shape 10"/>
          <p:cNvSpPr/>
          <p:nvPr/>
        </p:nvSpPr>
        <p:spPr>
          <a:xfrm>
            <a:off x="4343400" y="1600200"/>
            <a:ext cx="3520440" cy="2286000"/>
          </a:xfrm>
          <a:prstGeom prst="roundRect">
            <a:avLst>
              <a:gd name="adj" fmla="val 3200"/>
            </a:avLst>
          </a:prstGeom>
          <a:solidFill>
            <a:srgbClr val="16294A"/>
          </a:solidFill>
          <a:ln/>
        </p:spPr>
      </p:sp>
      <p:sp>
        <p:nvSpPr>
          <p:cNvPr id="13" name="Text 11"/>
          <p:cNvSpPr/>
          <p:nvPr/>
        </p:nvSpPr>
        <p:spPr>
          <a:xfrm>
            <a:off x="4617720" y="1828800"/>
            <a:ext cx="2971800" cy="822960"/>
          </a:xfrm>
          <a:prstGeom prst="rect">
            <a:avLst/>
          </a:prstGeom>
          <a:noFill/>
          <a:ln/>
        </p:spPr>
        <p:txBody>
          <a:bodyPr wrap="square" lIns="0" tIns="0" rIns="0" bIns="0" rtlCol="0" anchor="ctr"/>
          <a:lstStyle/>
          <a:p>
            <a:pPr indent="0" marL="0">
              <a:buNone/>
            </a:pPr>
            <a:r>
              <a:rPr lang="en-US" sz="5400" b="1" dirty="0">
                <a:solidFill>
                  <a:srgbClr val="FFB300"/>
                </a:solidFill>
                <a:latin typeface="Calibri" pitchFamily="34" charset="0"/>
                <a:ea typeface="Calibri" pitchFamily="34" charset="-122"/>
                <a:cs typeface="Calibri" pitchFamily="34" charset="-120"/>
              </a:rPr>
              <a:t>50%</a:t>
            </a:r>
            <a:endParaRPr lang="en-US" sz="5400" dirty="0"/>
          </a:p>
        </p:txBody>
      </p:sp>
      <p:sp>
        <p:nvSpPr>
          <p:cNvPr id="14" name="Text 12"/>
          <p:cNvSpPr/>
          <p:nvPr/>
        </p:nvSpPr>
        <p:spPr>
          <a:xfrm>
            <a:off x="4617720" y="2697480"/>
            <a:ext cx="2971800" cy="9144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of road-accident fatalities could be saved with timely medical care in the golden hour</a:t>
            </a:r>
            <a:endParaRPr lang="en-US" sz="1250" dirty="0"/>
          </a:p>
        </p:txBody>
      </p:sp>
      <p:sp>
        <p:nvSpPr>
          <p:cNvPr id="15" name="Text 13"/>
          <p:cNvSpPr/>
          <p:nvPr/>
        </p:nvSpPr>
        <p:spPr>
          <a:xfrm>
            <a:off x="4617720" y="3566160"/>
            <a:ext cx="2971800" cy="256032"/>
          </a:xfrm>
          <a:prstGeom prst="rect">
            <a:avLst/>
          </a:prstGeom>
          <a:noFill/>
          <a:ln/>
        </p:spPr>
        <p:txBody>
          <a:bodyPr wrap="square" lIns="0" tIns="0" rIns="0" bIns="0" rtlCol="0" anchor="ctr"/>
          <a:lstStyle/>
          <a:p>
            <a:pPr indent="0" marL="0">
              <a:buNone/>
            </a:pPr>
            <a:r>
              <a:rPr lang="en-US" sz="900" i="1" dirty="0">
                <a:solidFill>
                  <a:srgbClr val="7E97B8"/>
                </a:solidFill>
                <a:latin typeface="Calibri" pitchFamily="34" charset="0"/>
                <a:ea typeface="Calibri" pitchFamily="34" charset="-122"/>
                <a:cs typeface="Calibri" pitchFamily="34" charset="-120"/>
              </a:rPr>
              <a:t>Law Commission of India, Report 201 (2006)</a:t>
            </a:r>
            <a:endParaRPr lang="en-US" sz="900" dirty="0"/>
          </a:p>
        </p:txBody>
      </p:sp>
      <p:sp>
        <p:nvSpPr>
          <p:cNvPr id="16" name="Shape 14"/>
          <p:cNvSpPr/>
          <p:nvPr/>
        </p:nvSpPr>
        <p:spPr>
          <a:xfrm>
            <a:off x="8138160" y="1600200"/>
            <a:ext cx="3520440" cy="2286000"/>
          </a:xfrm>
          <a:prstGeom prst="roundRect">
            <a:avLst>
              <a:gd name="adj" fmla="val 3200"/>
            </a:avLst>
          </a:prstGeom>
          <a:solidFill>
            <a:srgbClr val="16294A"/>
          </a:solidFill>
          <a:ln/>
        </p:spPr>
      </p:sp>
      <p:sp>
        <p:nvSpPr>
          <p:cNvPr id="17" name="Text 15"/>
          <p:cNvSpPr/>
          <p:nvPr/>
        </p:nvSpPr>
        <p:spPr>
          <a:xfrm>
            <a:off x="8412480" y="1828800"/>
            <a:ext cx="2971800" cy="822960"/>
          </a:xfrm>
          <a:prstGeom prst="rect">
            <a:avLst/>
          </a:prstGeom>
          <a:noFill/>
          <a:ln/>
        </p:spPr>
        <p:txBody>
          <a:bodyPr wrap="square" lIns="0" tIns="0" rIns="0" bIns="0" rtlCol="0" anchor="ctr"/>
          <a:lstStyle/>
          <a:p>
            <a:pPr indent="0" marL="0">
              <a:buNone/>
            </a:pPr>
            <a:r>
              <a:rPr lang="en-US" sz="5400" b="1" dirty="0">
                <a:solidFill>
                  <a:srgbClr val="FFB300"/>
                </a:solidFill>
                <a:latin typeface="Calibri" pitchFamily="34" charset="0"/>
                <a:ea typeface="Calibri" pitchFamily="34" charset="-122"/>
                <a:cs typeface="Calibri" pitchFamily="34" charset="-120"/>
              </a:rPr>
              <a:t>4.4 L+</a:t>
            </a:r>
            <a:endParaRPr lang="en-US" sz="5400" dirty="0"/>
          </a:p>
        </p:txBody>
      </p:sp>
      <p:sp>
        <p:nvSpPr>
          <p:cNvPr id="18" name="Text 16"/>
          <p:cNvSpPr/>
          <p:nvPr/>
        </p:nvSpPr>
        <p:spPr>
          <a:xfrm>
            <a:off x="8412480" y="2697480"/>
            <a:ext cx="2971800" cy="9144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crimes against women reported annually; isolated public spaces remain unmonitored</a:t>
            </a:r>
            <a:endParaRPr lang="en-US" sz="1250" dirty="0"/>
          </a:p>
        </p:txBody>
      </p:sp>
      <p:sp>
        <p:nvSpPr>
          <p:cNvPr id="19" name="Text 17"/>
          <p:cNvSpPr/>
          <p:nvPr/>
        </p:nvSpPr>
        <p:spPr>
          <a:xfrm>
            <a:off x="8412480" y="3566160"/>
            <a:ext cx="2971800" cy="256032"/>
          </a:xfrm>
          <a:prstGeom prst="rect">
            <a:avLst/>
          </a:prstGeom>
          <a:noFill/>
          <a:ln/>
        </p:spPr>
        <p:txBody>
          <a:bodyPr wrap="square" lIns="0" tIns="0" rIns="0" bIns="0" rtlCol="0" anchor="ctr"/>
          <a:lstStyle/>
          <a:p>
            <a:pPr indent="0" marL="0">
              <a:buNone/>
            </a:pPr>
            <a:r>
              <a:rPr lang="en-US" sz="900" i="1" dirty="0">
                <a:solidFill>
                  <a:srgbClr val="7E97B8"/>
                </a:solidFill>
                <a:latin typeface="Calibri" pitchFamily="34" charset="0"/>
                <a:ea typeface="Calibri" pitchFamily="34" charset="-122"/>
                <a:cs typeface="Calibri" pitchFamily="34" charset="-120"/>
              </a:rPr>
              <a:t>NCRB Crime in India 2022</a:t>
            </a:r>
            <a:endParaRPr lang="en-US" sz="900" dirty="0"/>
          </a:p>
        </p:txBody>
      </p:sp>
      <p:sp>
        <p:nvSpPr>
          <p:cNvPr id="20" name="Shape 18"/>
          <p:cNvSpPr/>
          <p:nvPr/>
        </p:nvSpPr>
        <p:spPr>
          <a:xfrm>
            <a:off x="548640" y="4251960"/>
            <a:ext cx="11091672" cy="1965960"/>
          </a:xfrm>
          <a:prstGeom prst="roundRect">
            <a:avLst>
              <a:gd name="adj" fmla="val 3721"/>
            </a:avLst>
          </a:prstGeom>
          <a:solidFill>
            <a:srgbClr val="1B3155"/>
          </a:solidFill>
          <a:ln/>
        </p:spPr>
      </p:sp>
      <p:sp>
        <p:nvSpPr>
          <p:cNvPr id="21" name="Text 19"/>
          <p:cNvSpPr/>
          <p:nvPr/>
        </p:nvSpPr>
        <p:spPr>
          <a:xfrm>
            <a:off x="868680" y="4434840"/>
            <a:ext cx="1042416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current solutions fail</a:t>
            </a:r>
            <a:endParaRPr lang="en-US" sz="1600" dirty="0"/>
          </a:p>
        </p:txBody>
      </p:sp>
      <p:sp>
        <p:nvSpPr>
          <p:cNvPr id="22" name="Shape 20"/>
          <p:cNvSpPr/>
          <p:nvPr/>
        </p:nvSpPr>
        <p:spPr>
          <a:xfrm>
            <a:off x="868680" y="4946904"/>
            <a:ext cx="128016" cy="128016"/>
          </a:xfrm>
          <a:prstGeom prst="ellipse">
            <a:avLst/>
          </a:prstGeom>
          <a:solidFill>
            <a:srgbClr val="FF6B6B"/>
          </a:solidFill>
          <a:ln/>
        </p:spPr>
      </p:sp>
      <p:sp>
        <p:nvSpPr>
          <p:cNvPr id="23" name="Text 21"/>
          <p:cNvSpPr/>
          <p:nvPr/>
        </p:nvSpPr>
        <p:spPr>
          <a:xfrm>
            <a:off x="1124712" y="4892040"/>
            <a:ext cx="502920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CCTV cameras — </a:t>
            </a:r>
            <a:pPr indent="0" marL="0">
              <a:buNone/>
            </a:pPr>
            <a:r>
              <a:rPr lang="en-US" sz="1250" dirty="0">
                <a:solidFill>
                  <a:srgbClr val="A8C6E8"/>
                </a:solidFill>
                <a:latin typeface="Calibri" pitchFamily="34" charset="0"/>
                <a:ea typeface="Calibri" pitchFamily="34" charset="-122"/>
                <a:cs typeface="Calibri" pitchFamily="34" charset="-120"/>
              </a:rPr>
              <a:t>only record incidents — nobody responds in real time</a:t>
            </a:r>
            <a:endParaRPr lang="en-US" sz="1250" dirty="0"/>
          </a:p>
        </p:txBody>
      </p:sp>
      <p:sp>
        <p:nvSpPr>
          <p:cNvPr id="24" name="Shape 22"/>
          <p:cNvSpPr/>
          <p:nvPr/>
        </p:nvSpPr>
        <p:spPr>
          <a:xfrm>
            <a:off x="6217920" y="4946904"/>
            <a:ext cx="128016" cy="128016"/>
          </a:xfrm>
          <a:prstGeom prst="ellipse">
            <a:avLst/>
          </a:prstGeom>
          <a:solidFill>
            <a:srgbClr val="FF6B6B"/>
          </a:solidFill>
          <a:ln/>
        </p:spPr>
      </p:sp>
      <p:sp>
        <p:nvSpPr>
          <p:cNvPr id="25" name="Text 23"/>
          <p:cNvSpPr/>
          <p:nvPr/>
        </p:nvSpPr>
        <p:spPr>
          <a:xfrm>
            <a:off x="6473952" y="4892040"/>
            <a:ext cx="502920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Emergency apps — </a:t>
            </a:r>
            <a:pPr indent="0" marL="0">
              <a:buNone/>
            </a:pPr>
            <a:r>
              <a:rPr lang="en-US" sz="1250" dirty="0">
                <a:solidFill>
                  <a:srgbClr val="A8C6E8"/>
                </a:solidFill>
                <a:latin typeface="Calibri" pitchFamily="34" charset="0"/>
                <a:ea typeface="Calibri" pitchFamily="34" charset="-122"/>
                <a:cs typeface="Calibri" pitchFamily="34" charset="-120"/>
              </a:rPr>
              <a:t>require a conscious victim to manually ask for help</a:t>
            </a:r>
            <a:endParaRPr lang="en-US" sz="1250" dirty="0"/>
          </a:p>
        </p:txBody>
      </p:sp>
      <p:sp>
        <p:nvSpPr>
          <p:cNvPr id="26" name="Shape 24"/>
          <p:cNvSpPr/>
          <p:nvPr/>
        </p:nvSpPr>
        <p:spPr>
          <a:xfrm>
            <a:off x="868680" y="5513832"/>
            <a:ext cx="128016" cy="128016"/>
          </a:xfrm>
          <a:prstGeom prst="ellipse">
            <a:avLst/>
          </a:prstGeom>
          <a:solidFill>
            <a:srgbClr val="FF6B6B"/>
          </a:solidFill>
          <a:ln/>
        </p:spPr>
      </p:sp>
      <p:sp>
        <p:nvSpPr>
          <p:cNvPr id="27" name="Text 25"/>
          <p:cNvSpPr/>
          <p:nvPr/>
        </p:nvSpPr>
        <p:spPr>
          <a:xfrm>
            <a:off x="1124712" y="5458968"/>
            <a:ext cx="502920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Public infrastructure — </a:t>
            </a:r>
            <a:pPr indent="0" marL="0">
              <a:buNone/>
            </a:pPr>
            <a:r>
              <a:rPr lang="en-US" sz="1250" dirty="0">
                <a:solidFill>
                  <a:srgbClr val="A8C6E8"/>
                </a:solidFill>
                <a:latin typeface="Calibri" pitchFamily="34" charset="0"/>
                <a:ea typeface="Calibri" pitchFamily="34" charset="-122"/>
                <a:cs typeface="Calibri" pitchFamily="34" charset="-120"/>
              </a:rPr>
              <a:t>is passive — streetlights illuminate, they don't protect</a:t>
            </a:r>
            <a:endParaRPr lang="en-US" sz="1250" dirty="0"/>
          </a:p>
        </p:txBody>
      </p:sp>
      <p:sp>
        <p:nvSpPr>
          <p:cNvPr id="28" name="Shape 26"/>
          <p:cNvSpPr/>
          <p:nvPr/>
        </p:nvSpPr>
        <p:spPr>
          <a:xfrm>
            <a:off x="6217920" y="5513832"/>
            <a:ext cx="128016" cy="128016"/>
          </a:xfrm>
          <a:prstGeom prst="ellipse">
            <a:avLst/>
          </a:prstGeom>
          <a:solidFill>
            <a:srgbClr val="FF6B6B"/>
          </a:solidFill>
          <a:ln/>
        </p:spPr>
      </p:sp>
      <p:sp>
        <p:nvSpPr>
          <p:cNvPr id="29" name="Text 27"/>
          <p:cNvSpPr/>
          <p:nvPr/>
        </p:nvSpPr>
        <p:spPr>
          <a:xfrm>
            <a:off x="6473952" y="5458968"/>
            <a:ext cx="502920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Emergency services — </a:t>
            </a:r>
            <a:pPr indent="0" marL="0">
              <a:buNone/>
            </a:pPr>
            <a:r>
              <a:rPr lang="en-US" sz="1250" dirty="0">
                <a:solidFill>
                  <a:srgbClr val="A8C6E8"/>
                </a:solidFill>
                <a:latin typeface="Calibri" pitchFamily="34" charset="0"/>
                <a:ea typeface="Calibri" pitchFamily="34" charset="-122"/>
                <a:cs typeface="Calibri" pitchFamily="34" charset="-120"/>
              </a:rPr>
              <a:t>receive late, incomplete, unverified information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THE SOLUTION</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Infrastructure that detects, verifies and responds</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03</a:t>
            </a:r>
            <a:endParaRPr lang="en-US" sz="1100" dirty="0"/>
          </a:p>
        </p:txBody>
      </p:sp>
      <p:sp>
        <p:nvSpPr>
          <p:cNvPr id="8" name="Text 6"/>
          <p:cNvSpPr/>
          <p:nvPr/>
        </p:nvSpPr>
        <p:spPr>
          <a:xfrm>
            <a:off x="548640" y="1554480"/>
            <a:ext cx="5852160" cy="1051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SentinelAI retrofits existing streetlights, bus stops and public poles into AI-powered emergency response nodes. Each node monitors its surroundings with fused sensors and on-device AI — no victim action required.</a:t>
            </a:r>
            <a:endParaRPr lang="en-US" sz="1500" dirty="0"/>
          </a:p>
        </p:txBody>
      </p:sp>
      <p:sp>
        <p:nvSpPr>
          <p:cNvPr id="9" name="Shape 7"/>
          <p:cNvSpPr/>
          <p:nvPr/>
        </p:nvSpPr>
        <p:spPr>
          <a:xfrm>
            <a:off x="548640" y="2743200"/>
            <a:ext cx="566928" cy="566928"/>
          </a:xfrm>
          <a:prstGeom prst="ellipse">
            <a:avLst/>
          </a:prstGeom>
          <a:solidFill>
            <a:srgbClr val="FFB300"/>
          </a:solidFill>
          <a:ln/>
        </p:spPr>
      </p:sp>
      <p:sp>
        <p:nvSpPr>
          <p:cNvPr id="10" name="Text 8"/>
          <p:cNvSpPr/>
          <p:nvPr/>
        </p:nvSpPr>
        <p:spPr>
          <a:xfrm>
            <a:off x="548640" y="2743200"/>
            <a:ext cx="566928" cy="566928"/>
          </a:xfrm>
          <a:prstGeom prst="rect">
            <a:avLst/>
          </a:prstGeom>
          <a:noFill/>
          <a:ln/>
        </p:spPr>
        <p:txBody>
          <a:bodyPr wrap="square" rtlCol="0" anchor="ctr"/>
          <a:lstStyle/>
          <a:p>
            <a:pPr algn="ctr" indent="0" marL="0">
              <a:buNone/>
            </a:pPr>
            <a:r>
              <a:rPr lang="en-US" sz="2000" b="1" dirty="0">
                <a:solidFill>
                  <a:srgbClr val="0B1626"/>
                </a:solidFill>
                <a:latin typeface="Calibri" pitchFamily="34" charset="0"/>
                <a:ea typeface="Calibri" pitchFamily="34" charset="-122"/>
                <a:cs typeface="Calibri" pitchFamily="34" charset="-120"/>
              </a:rPr>
              <a:t>1</a:t>
            </a:r>
            <a:endParaRPr lang="en-US" sz="2000" dirty="0"/>
          </a:p>
        </p:txBody>
      </p:sp>
      <p:sp>
        <p:nvSpPr>
          <p:cNvPr id="11" name="Text 9"/>
          <p:cNvSpPr/>
          <p:nvPr/>
        </p:nvSpPr>
        <p:spPr>
          <a:xfrm>
            <a:off x="1298448" y="2715768"/>
            <a:ext cx="5120640" cy="777240"/>
          </a:xfrm>
          <a:prstGeom prst="rect">
            <a:avLst/>
          </a:prstGeom>
          <a:noFill/>
          <a:ln/>
        </p:spPr>
        <p:txBody>
          <a:bodyPr wrap="square" lIns="0" tIns="0" rIns="0" bIns="0" rtlCol="0" anchor="t"/>
          <a:lstStyle/>
          <a:p>
            <a:pPr indent="0" marL="0">
              <a:buNone/>
            </a:pPr>
            <a:r>
              <a:rPr lang="en-US" sz="1400" b="1" dirty="0">
                <a:solidFill>
                  <a:srgbClr val="FFB300"/>
                </a:solidFill>
                <a:latin typeface="Calibri" pitchFamily="34" charset="0"/>
                <a:ea typeface="Calibri" pitchFamily="34" charset="-122"/>
                <a:cs typeface="Calibri" pitchFamily="34" charset="-120"/>
              </a:rPr>
              <a:t>DETECT   </a:t>
            </a:r>
            <a:pPr indent="0" marL="0">
              <a:buNone/>
            </a:pPr>
            <a:r>
              <a:rPr lang="en-US" sz="1250" dirty="0">
                <a:solidFill>
                  <a:srgbClr val="A8C6E8"/>
                </a:solidFill>
                <a:latin typeface="Calibri" pitchFamily="34" charset="0"/>
                <a:ea typeface="Calibri" pitchFamily="34" charset="-122"/>
                <a:cs typeface="Calibri" pitchFamily="34" charset="-120"/>
              </a:rPr>
              <a:t>AI camera, microphone and vibration sensor spot accidents and distress automatically</a:t>
            </a:r>
            <a:endParaRPr lang="en-US" sz="1400" dirty="0"/>
          </a:p>
        </p:txBody>
      </p:sp>
      <p:sp>
        <p:nvSpPr>
          <p:cNvPr id="12" name="Shape 10"/>
          <p:cNvSpPr/>
          <p:nvPr/>
        </p:nvSpPr>
        <p:spPr>
          <a:xfrm>
            <a:off x="548640" y="3611880"/>
            <a:ext cx="566928" cy="566928"/>
          </a:xfrm>
          <a:prstGeom prst="ellipse">
            <a:avLst/>
          </a:prstGeom>
          <a:solidFill>
            <a:srgbClr val="FFB300"/>
          </a:solidFill>
          <a:ln/>
        </p:spPr>
      </p:sp>
      <p:sp>
        <p:nvSpPr>
          <p:cNvPr id="13" name="Text 11"/>
          <p:cNvSpPr/>
          <p:nvPr/>
        </p:nvSpPr>
        <p:spPr>
          <a:xfrm>
            <a:off x="548640" y="3611880"/>
            <a:ext cx="566928" cy="566928"/>
          </a:xfrm>
          <a:prstGeom prst="rect">
            <a:avLst/>
          </a:prstGeom>
          <a:noFill/>
          <a:ln/>
        </p:spPr>
        <p:txBody>
          <a:bodyPr wrap="square" rtlCol="0" anchor="ctr"/>
          <a:lstStyle/>
          <a:p>
            <a:pPr algn="ctr" indent="0" marL="0">
              <a:buNone/>
            </a:pPr>
            <a:r>
              <a:rPr lang="en-US" sz="2000" b="1" dirty="0">
                <a:solidFill>
                  <a:srgbClr val="0B1626"/>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298448" y="3584448"/>
            <a:ext cx="5120640" cy="777240"/>
          </a:xfrm>
          <a:prstGeom prst="rect">
            <a:avLst/>
          </a:prstGeom>
          <a:noFill/>
          <a:ln/>
        </p:spPr>
        <p:txBody>
          <a:bodyPr wrap="square" lIns="0" tIns="0" rIns="0" bIns="0" rtlCol="0" anchor="t"/>
          <a:lstStyle/>
          <a:p>
            <a:pPr indent="0" marL="0">
              <a:buNone/>
            </a:pPr>
            <a:r>
              <a:rPr lang="en-US" sz="1400" b="1" dirty="0">
                <a:solidFill>
                  <a:srgbClr val="FFB300"/>
                </a:solidFill>
                <a:latin typeface="Calibri" pitchFamily="34" charset="0"/>
                <a:ea typeface="Calibri" pitchFamily="34" charset="-122"/>
                <a:cs typeface="Calibri" pitchFamily="34" charset="-120"/>
              </a:rPr>
              <a:t>VERIFY   </a:t>
            </a:r>
            <a:pPr indent="0" marL="0">
              <a:buNone/>
            </a:pPr>
            <a:r>
              <a:rPr lang="en-US" sz="1250" dirty="0">
                <a:solidFill>
                  <a:srgbClr val="A8C6E8"/>
                </a:solidFill>
                <a:latin typeface="Calibri" pitchFamily="34" charset="0"/>
                <a:ea typeface="Calibri" pitchFamily="34" charset="-122"/>
                <a:cs typeface="Calibri" pitchFamily="34" charset="-120"/>
              </a:rPr>
              <a:t>Multi-sensor fusion confirms a real emergency before anyone is alerted — cutting false alarms</a:t>
            </a:r>
            <a:endParaRPr lang="en-US" sz="1400" dirty="0"/>
          </a:p>
        </p:txBody>
      </p:sp>
      <p:sp>
        <p:nvSpPr>
          <p:cNvPr id="15" name="Shape 13"/>
          <p:cNvSpPr/>
          <p:nvPr/>
        </p:nvSpPr>
        <p:spPr>
          <a:xfrm>
            <a:off x="548640" y="4480560"/>
            <a:ext cx="566928" cy="566928"/>
          </a:xfrm>
          <a:prstGeom prst="ellipse">
            <a:avLst/>
          </a:prstGeom>
          <a:solidFill>
            <a:srgbClr val="FFB300"/>
          </a:solidFill>
          <a:ln/>
        </p:spPr>
      </p:sp>
      <p:sp>
        <p:nvSpPr>
          <p:cNvPr id="16" name="Text 14"/>
          <p:cNvSpPr/>
          <p:nvPr/>
        </p:nvSpPr>
        <p:spPr>
          <a:xfrm>
            <a:off x="548640" y="4480560"/>
            <a:ext cx="566928" cy="566928"/>
          </a:xfrm>
          <a:prstGeom prst="rect">
            <a:avLst/>
          </a:prstGeom>
          <a:noFill/>
          <a:ln/>
        </p:spPr>
        <p:txBody>
          <a:bodyPr wrap="square" rtlCol="0" anchor="ctr"/>
          <a:lstStyle/>
          <a:p>
            <a:pPr algn="ctr" indent="0" marL="0">
              <a:buNone/>
            </a:pPr>
            <a:r>
              <a:rPr lang="en-US" sz="2000" b="1" dirty="0">
                <a:solidFill>
                  <a:srgbClr val="0B1626"/>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298448" y="4453128"/>
            <a:ext cx="5120640" cy="777240"/>
          </a:xfrm>
          <a:prstGeom prst="rect">
            <a:avLst/>
          </a:prstGeom>
          <a:noFill/>
          <a:ln/>
        </p:spPr>
        <p:txBody>
          <a:bodyPr wrap="square" lIns="0" tIns="0" rIns="0" bIns="0" rtlCol="0" anchor="t"/>
          <a:lstStyle/>
          <a:p>
            <a:pPr indent="0" marL="0">
              <a:buNone/>
            </a:pPr>
            <a:r>
              <a:rPr lang="en-US" sz="1400" b="1" dirty="0">
                <a:solidFill>
                  <a:srgbClr val="FFB300"/>
                </a:solidFill>
                <a:latin typeface="Calibri" pitchFamily="34" charset="0"/>
                <a:ea typeface="Calibri" pitchFamily="34" charset="-122"/>
                <a:cs typeface="Calibri" pitchFamily="34" charset="-120"/>
              </a:rPr>
              <a:t>RESPOND   </a:t>
            </a:r>
            <a:pPr indent="0" marL="0">
              <a:buNone/>
            </a:pPr>
            <a:r>
              <a:rPr lang="en-US" sz="1250" dirty="0">
                <a:solidFill>
                  <a:srgbClr val="A8C6E8"/>
                </a:solidFill>
                <a:latin typeface="Calibri" pitchFamily="34" charset="0"/>
                <a:ea typeface="Calibri" pitchFamily="34" charset="-122"/>
                <a:cs typeface="Calibri" pitchFamily="34" charset="-120"/>
              </a:rPr>
              <a:t>Police, ambulance and family get verified alerts with exact GPS location in seconds</a:t>
            </a:r>
            <a:endParaRPr lang="en-US" sz="1400" dirty="0"/>
          </a:p>
        </p:txBody>
      </p:sp>
      <p:sp>
        <p:nvSpPr>
          <p:cNvPr id="18" name="Shape 16"/>
          <p:cNvSpPr/>
          <p:nvPr/>
        </p:nvSpPr>
        <p:spPr>
          <a:xfrm>
            <a:off x="548640" y="5349240"/>
            <a:ext cx="566928" cy="566928"/>
          </a:xfrm>
          <a:prstGeom prst="ellipse">
            <a:avLst/>
          </a:prstGeom>
          <a:solidFill>
            <a:srgbClr val="FFB300"/>
          </a:solidFill>
          <a:ln/>
        </p:spPr>
      </p:sp>
      <p:sp>
        <p:nvSpPr>
          <p:cNvPr id="19" name="Text 17"/>
          <p:cNvSpPr/>
          <p:nvPr/>
        </p:nvSpPr>
        <p:spPr>
          <a:xfrm>
            <a:off x="548640" y="5349240"/>
            <a:ext cx="566928" cy="566928"/>
          </a:xfrm>
          <a:prstGeom prst="rect">
            <a:avLst/>
          </a:prstGeom>
          <a:noFill/>
          <a:ln/>
        </p:spPr>
        <p:txBody>
          <a:bodyPr wrap="square" rtlCol="0" anchor="ctr"/>
          <a:lstStyle/>
          <a:p>
            <a:pPr algn="ctr" indent="0" marL="0">
              <a:buNone/>
            </a:pPr>
            <a:r>
              <a:rPr lang="en-US" sz="2000" b="1" dirty="0">
                <a:solidFill>
                  <a:srgbClr val="0B1626"/>
                </a:solidFill>
                <a:latin typeface="Calibri" pitchFamily="34" charset="0"/>
                <a:ea typeface="Calibri" pitchFamily="34" charset="-122"/>
                <a:cs typeface="Calibri" pitchFamily="34" charset="-120"/>
              </a:rPr>
              <a:t>4</a:t>
            </a:r>
            <a:endParaRPr lang="en-US" sz="2000" dirty="0"/>
          </a:p>
        </p:txBody>
      </p:sp>
      <p:sp>
        <p:nvSpPr>
          <p:cNvPr id="20" name="Text 18"/>
          <p:cNvSpPr/>
          <p:nvPr/>
        </p:nvSpPr>
        <p:spPr>
          <a:xfrm>
            <a:off x="1298448" y="5321808"/>
            <a:ext cx="5120640" cy="777240"/>
          </a:xfrm>
          <a:prstGeom prst="rect">
            <a:avLst/>
          </a:prstGeom>
          <a:noFill/>
          <a:ln/>
        </p:spPr>
        <p:txBody>
          <a:bodyPr wrap="square" lIns="0" tIns="0" rIns="0" bIns="0" rtlCol="0" anchor="t"/>
          <a:lstStyle/>
          <a:p>
            <a:pPr indent="0" marL="0">
              <a:buNone/>
            </a:pPr>
            <a:r>
              <a:rPr lang="en-US" sz="1400" b="1" dirty="0">
                <a:solidFill>
                  <a:srgbClr val="FFB300"/>
                </a:solidFill>
                <a:latin typeface="Calibri" pitchFamily="34" charset="0"/>
                <a:ea typeface="Calibri" pitchFamily="34" charset="-122"/>
                <a:cs typeface="Calibri" pitchFamily="34" charset="-120"/>
              </a:rPr>
              <a:t>PROTECT   </a:t>
            </a:r>
            <a:pPr indent="0" marL="0">
              <a:buNone/>
            </a:pPr>
            <a:r>
              <a:rPr lang="en-US" sz="1250" dirty="0">
                <a:solidFill>
                  <a:srgbClr val="A8C6E8"/>
                </a:solidFill>
                <a:latin typeface="Calibri" pitchFamily="34" charset="0"/>
                <a:ea typeface="Calibri" pitchFamily="34" charset="-122"/>
                <a:cs typeface="Calibri" pitchFamily="34" charset="-120"/>
              </a:rPr>
              <a:t>Lights brighten, cameras track, evidence is stored securely, responders get the safest route</a:t>
            </a:r>
            <a:endParaRPr lang="en-US" sz="1400" dirty="0"/>
          </a:p>
        </p:txBody>
      </p:sp>
      <p:sp>
        <p:nvSpPr>
          <p:cNvPr id="21" name="Shape 19"/>
          <p:cNvSpPr/>
          <p:nvPr/>
        </p:nvSpPr>
        <p:spPr>
          <a:xfrm>
            <a:off x="6858000" y="1554480"/>
            <a:ext cx="4782312" cy="4709160"/>
          </a:xfrm>
          <a:prstGeom prst="roundRect">
            <a:avLst>
              <a:gd name="adj" fmla="val 1553"/>
            </a:avLst>
          </a:prstGeom>
          <a:solidFill>
            <a:srgbClr val="16294A"/>
          </a:solidFill>
          <a:ln/>
        </p:spPr>
      </p:sp>
      <p:sp>
        <p:nvSpPr>
          <p:cNvPr id="22" name="Text 20"/>
          <p:cNvSpPr/>
          <p:nvPr/>
        </p:nvSpPr>
        <p:spPr>
          <a:xfrm>
            <a:off x="6858000" y="1755648"/>
            <a:ext cx="4782312" cy="274320"/>
          </a:xfrm>
          <a:prstGeom prst="rect">
            <a:avLst/>
          </a:prstGeom>
          <a:noFill/>
          <a:ln/>
        </p:spPr>
        <p:txBody>
          <a:bodyPr wrap="square" lIns="0" tIns="0" rIns="0" bIns="0" rtlCol="0" anchor="ctr"/>
          <a:lstStyle/>
          <a:p>
            <a:pPr algn="ctr" indent="0" marL="0">
              <a:buNone/>
            </a:pPr>
            <a:r>
              <a:rPr lang="en-US" sz="1200" b="1" spc="200" kern="0" dirty="0">
                <a:solidFill>
                  <a:srgbClr val="7E97B8"/>
                </a:solidFill>
                <a:latin typeface="Calibri" pitchFamily="34" charset="0"/>
                <a:ea typeface="Calibri" pitchFamily="34" charset="-122"/>
                <a:cs typeface="Calibri" pitchFamily="34" charset="-120"/>
              </a:rPr>
              <a:t>ONE SMART NODE</a:t>
            </a:r>
            <a:endParaRPr lang="en-US" sz="1200" dirty="0"/>
          </a:p>
        </p:txBody>
      </p:sp>
      <p:sp>
        <p:nvSpPr>
          <p:cNvPr id="23" name="Shape 21"/>
          <p:cNvSpPr/>
          <p:nvPr/>
        </p:nvSpPr>
        <p:spPr>
          <a:xfrm>
            <a:off x="8732520" y="2514600"/>
            <a:ext cx="109728" cy="3383280"/>
          </a:xfrm>
          <a:prstGeom prst="rect">
            <a:avLst/>
          </a:prstGeom>
          <a:solidFill>
            <a:srgbClr val="3A5378"/>
          </a:solidFill>
          <a:ln/>
        </p:spPr>
      </p:sp>
      <p:sp>
        <p:nvSpPr>
          <p:cNvPr id="24" name="Shape 22"/>
          <p:cNvSpPr/>
          <p:nvPr/>
        </p:nvSpPr>
        <p:spPr>
          <a:xfrm>
            <a:off x="8732520" y="2395728"/>
            <a:ext cx="868680" cy="109728"/>
          </a:xfrm>
          <a:prstGeom prst="rect">
            <a:avLst/>
          </a:prstGeom>
          <a:solidFill>
            <a:srgbClr val="3A5378"/>
          </a:solidFill>
          <a:ln/>
        </p:spPr>
      </p:sp>
      <p:sp>
        <p:nvSpPr>
          <p:cNvPr id="25" name="Shape 23"/>
          <p:cNvSpPr/>
          <p:nvPr/>
        </p:nvSpPr>
        <p:spPr>
          <a:xfrm>
            <a:off x="9410090" y="2460650"/>
            <a:ext cx="382219" cy="382219"/>
          </a:xfrm>
          <a:prstGeom prst="ellipse">
            <a:avLst/>
          </a:prstGeom>
          <a:solidFill>
            <a:srgbClr val="FFB300">
              <a:alpha val="12000"/>
            </a:srgbClr>
          </a:solidFill>
          <a:ln/>
        </p:spPr>
      </p:sp>
      <p:sp>
        <p:nvSpPr>
          <p:cNvPr id="26" name="Shape 24"/>
          <p:cNvSpPr/>
          <p:nvPr/>
        </p:nvSpPr>
        <p:spPr>
          <a:xfrm>
            <a:off x="9465412" y="2515972"/>
            <a:ext cx="271577" cy="271577"/>
          </a:xfrm>
          <a:prstGeom prst="ellipse">
            <a:avLst/>
          </a:prstGeom>
          <a:solidFill>
            <a:srgbClr val="FFB300">
              <a:alpha val="28000"/>
            </a:srgbClr>
          </a:solidFill>
          <a:ln/>
        </p:spPr>
      </p:sp>
      <p:sp>
        <p:nvSpPr>
          <p:cNvPr id="27" name="Shape 25"/>
          <p:cNvSpPr/>
          <p:nvPr/>
        </p:nvSpPr>
        <p:spPr>
          <a:xfrm>
            <a:off x="9500616" y="2551176"/>
            <a:ext cx="201168" cy="201168"/>
          </a:xfrm>
          <a:prstGeom prst="ellipse">
            <a:avLst/>
          </a:prstGeom>
          <a:solidFill>
            <a:srgbClr val="FFB300"/>
          </a:solidFill>
          <a:ln/>
        </p:spPr>
      </p:sp>
      <p:sp>
        <p:nvSpPr>
          <p:cNvPr id="28" name="Shape 26"/>
          <p:cNvSpPr/>
          <p:nvPr/>
        </p:nvSpPr>
        <p:spPr>
          <a:xfrm>
            <a:off x="7086600" y="2331720"/>
            <a:ext cx="1600200" cy="384048"/>
          </a:xfrm>
          <a:prstGeom prst="roundRect">
            <a:avLst>
              <a:gd name="adj" fmla="val 19048"/>
            </a:avLst>
          </a:prstGeom>
          <a:solidFill>
            <a:srgbClr val="1B3155"/>
          </a:solidFill>
          <a:ln/>
        </p:spPr>
      </p:sp>
      <p:sp>
        <p:nvSpPr>
          <p:cNvPr id="29" name="Text 27"/>
          <p:cNvSpPr/>
          <p:nvPr/>
        </p:nvSpPr>
        <p:spPr>
          <a:xfrm>
            <a:off x="7159752" y="233172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AI camera</a:t>
            </a:r>
            <a:endParaRPr lang="en-US" sz="950" dirty="0"/>
          </a:p>
        </p:txBody>
      </p:sp>
      <p:sp>
        <p:nvSpPr>
          <p:cNvPr id="30" name="Shape 28"/>
          <p:cNvSpPr/>
          <p:nvPr/>
        </p:nvSpPr>
        <p:spPr>
          <a:xfrm>
            <a:off x="8686800" y="2523744"/>
            <a:ext cx="45720" cy="0"/>
          </a:xfrm>
          <a:prstGeom prst="line">
            <a:avLst/>
          </a:prstGeom>
          <a:noFill/>
          <a:ln w="9525">
            <a:solidFill>
              <a:srgbClr val="7E97B8"/>
            </a:solidFill>
            <a:prstDash val="dash"/>
          </a:ln>
        </p:spPr>
      </p:sp>
      <p:sp>
        <p:nvSpPr>
          <p:cNvPr id="31" name="Shape 29"/>
          <p:cNvSpPr/>
          <p:nvPr/>
        </p:nvSpPr>
        <p:spPr>
          <a:xfrm>
            <a:off x="9189720" y="2880360"/>
            <a:ext cx="1600200" cy="384048"/>
          </a:xfrm>
          <a:prstGeom prst="roundRect">
            <a:avLst>
              <a:gd name="adj" fmla="val 19048"/>
            </a:avLst>
          </a:prstGeom>
          <a:solidFill>
            <a:srgbClr val="1B3155"/>
          </a:solidFill>
          <a:ln/>
        </p:spPr>
      </p:sp>
      <p:sp>
        <p:nvSpPr>
          <p:cNvPr id="32" name="Text 30"/>
          <p:cNvSpPr/>
          <p:nvPr/>
        </p:nvSpPr>
        <p:spPr>
          <a:xfrm>
            <a:off x="9262872" y="288036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Emergency LED + speaker</a:t>
            </a:r>
            <a:endParaRPr lang="en-US" sz="950" dirty="0"/>
          </a:p>
        </p:txBody>
      </p:sp>
      <p:sp>
        <p:nvSpPr>
          <p:cNvPr id="33" name="Shape 31"/>
          <p:cNvSpPr/>
          <p:nvPr/>
        </p:nvSpPr>
        <p:spPr>
          <a:xfrm>
            <a:off x="8842248" y="3072384"/>
            <a:ext cx="393192" cy="0"/>
          </a:xfrm>
          <a:prstGeom prst="line">
            <a:avLst/>
          </a:prstGeom>
          <a:noFill/>
          <a:ln w="9525">
            <a:solidFill>
              <a:srgbClr val="7E97B8"/>
            </a:solidFill>
            <a:prstDash val="dash"/>
          </a:ln>
        </p:spPr>
      </p:sp>
      <p:sp>
        <p:nvSpPr>
          <p:cNvPr id="34" name="Shape 32"/>
          <p:cNvSpPr/>
          <p:nvPr/>
        </p:nvSpPr>
        <p:spPr>
          <a:xfrm>
            <a:off x="7086600" y="3063240"/>
            <a:ext cx="1600200" cy="384048"/>
          </a:xfrm>
          <a:prstGeom prst="roundRect">
            <a:avLst>
              <a:gd name="adj" fmla="val 19048"/>
            </a:avLst>
          </a:prstGeom>
          <a:solidFill>
            <a:srgbClr val="1B3155"/>
          </a:solidFill>
          <a:ln/>
        </p:spPr>
      </p:sp>
      <p:sp>
        <p:nvSpPr>
          <p:cNvPr id="35" name="Text 33"/>
          <p:cNvSpPr/>
          <p:nvPr/>
        </p:nvSpPr>
        <p:spPr>
          <a:xfrm>
            <a:off x="7159752" y="306324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Microphone</a:t>
            </a:r>
            <a:endParaRPr lang="en-US" sz="950" dirty="0"/>
          </a:p>
        </p:txBody>
      </p:sp>
      <p:sp>
        <p:nvSpPr>
          <p:cNvPr id="36" name="Shape 34"/>
          <p:cNvSpPr/>
          <p:nvPr/>
        </p:nvSpPr>
        <p:spPr>
          <a:xfrm>
            <a:off x="8686800" y="3255264"/>
            <a:ext cx="45720" cy="0"/>
          </a:xfrm>
          <a:prstGeom prst="line">
            <a:avLst/>
          </a:prstGeom>
          <a:noFill/>
          <a:ln w="9525">
            <a:solidFill>
              <a:srgbClr val="7E97B8"/>
            </a:solidFill>
            <a:prstDash val="dash"/>
          </a:ln>
        </p:spPr>
      </p:sp>
      <p:sp>
        <p:nvSpPr>
          <p:cNvPr id="37" name="Shape 35"/>
          <p:cNvSpPr/>
          <p:nvPr/>
        </p:nvSpPr>
        <p:spPr>
          <a:xfrm>
            <a:off x="9189720" y="3657600"/>
            <a:ext cx="1600200" cy="384048"/>
          </a:xfrm>
          <a:prstGeom prst="roundRect">
            <a:avLst>
              <a:gd name="adj" fmla="val 19048"/>
            </a:avLst>
          </a:prstGeom>
          <a:solidFill>
            <a:srgbClr val="1B3155"/>
          </a:solidFill>
          <a:ln/>
        </p:spPr>
      </p:sp>
      <p:sp>
        <p:nvSpPr>
          <p:cNvPr id="38" name="Text 36"/>
          <p:cNvSpPr/>
          <p:nvPr/>
        </p:nvSpPr>
        <p:spPr>
          <a:xfrm>
            <a:off x="9262872" y="365760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Edge AI processor</a:t>
            </a:r>
            <a:endParaRPr lang="en-US" sz="950" dirty="0"/>
          </a:p>
        </p:txBody>
      </p:sp>
      <p:sp>
        <p:nvSpPr>
          <p:cNvPr id="39" name="Shape 37"/>
          <p:cNvSpPr/>
          <p:nvPr/>
        </p:nvSpPr>
        <p:spPr>
          <a:xfrm>
            <a:off x="8842248" y="3849624"/>
            <a:ext cx="393192" cy="0"/>
          </a:xfrm>
          <a:prstGeom prst="line">
            <a:avLst/>
          </a:prstGeom>
          <a:noFill/>
          <a:ln w="9525">
            <a:solidFill>
              <a:srgbClr val="7E97B8"/>
            </a:solidFill>
            <a:prstDash val="dash"/>
          </a:ln>
        </p:spPr>
      </p:sp>
      <p:sp>
        <p:nvSpPr>
          <p:cNvPr id="40" name="Shape 38"/>
          <p:cNvSpPr/>
          <p:nvPr/>
        </p:nvSpPr>
        <p:spPr>
          <a:xfrm>
            <a:off x="7086600" y="3840480"/>
            <a:ext cx="1600200" cy="384048"/>
          </a:xfrm>
          <a:prstGeom prst="roundRect">
            <a:avLst>
              <a:gd name="adj" fmla="val 19048"/>
            </a:avLst>
          </a:prstGeom>
          <a:solidFill>
            <a:srgbClr val="1B3155"/>
          </a:solidFill>
          <a:ln/>
        </p:spPr>
      </p:sp>
      <p:sp>
        <p:nvSpPr>
          <p:cNvPr id="41" name="Text 39"/>
          <p:cNvSpPr/>
          <p:nvPr/>
        </p:nvSpPr>
        <p:spPr>
          <a:xfrm>
            <a:off x="7159752" y="384048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SOS button</a:t>
            </a:r>
            <a:endParaRPr lang="en-US" sz="950" dirty="0"/>
          </a:p>
        </p:txBody>
      </p:sp>
      <p:sp>
        <p:nvSpPr>
          <p:cNvPr id="42" name="Shape 40"/>
          <p:cNvSpPr/>
          <p:nvPr/>
        </p:nvSpPr>
        <p:spPr>
          <a:xfrm>
            <a:off x="8686800" y="4032504"/>
            <a:ext cx="45720" cy="0"/>
          </a:xfrm>
          <a:prstGeom prst="line">
            <a:avLst/>
          </a:prstGeom>
          <a:noFill/>
          <a:ln w="9525">
            <a:solidFill>
              <a:srgbClr val="7E97B8"/>
            </a:solidFill>
            <a:prstDash val="dash"/>
          </a:ln>
        </p:spPr>
      </p:sp>
      <p:sp>
        <p:nvSpPr>
          <p:cNvPr id="43" name="Shape 41"/>
          <p:cNvSpPr/>
          <p:nvPr/>
        </p:nvSpPr>
        <p:spPr>
          <a:xfrm>
            <a:off x="9189720" y="4434840"/>
            <a:ext cx="1600200" cy="384048"/>
          </a:xfrm>
          <a:prstGeom prst="roundRect">
            <a:avLst>
              <a:gd name="adj" fmla="val 19048"/>
            </a:avLst>
          </a:prstGeom>
          <a:solidFill>
            <a:srgbClr val="1B3155"/>
          </a:solidFill>
          <a:ln/>
        </p:spPr>
      </p:sp>
      <p:sp>
        <p:nvSpPr>
          <p:cNvPr id="44" name="Text 42"/>
          <p:cNvSpPr/>
          <p:nvPr/>
        </p:nvSpPr>
        <p:spPr>
          <a:xfrm>
            <a:off x="9262872" y="443484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IoT mesh radio + GPS</a:t>
            </a:r>
            <a:endParaRPr lang="en-US" sz="950" dirty="0"/>
          </a:p>
        </p:txBody>
      </p:sp>
      <p:sp>
        <p:nvSpPr>
          <p:cNvPr id="45" name="Shape 43"/>
          <p:cNvSpPr/>
          <p:nvPr/>
        </p:nvSpPr>
        <p:spPr>
          <a:xfrm>
            <a:off x="8842248" y="4626864"/>
            <a:ext cx="393192" cy="0"/>
          </a:xfrm>
          <a:prstGeom prst="line">
            <a:avLst/>
          </a:prstGeom>
          <a:noFill/>
          <a:ln w="9525">
            <a:solidFill>
              <a:srgbClr val="7E97B8"/>
            </a:solidFill>
            <a:prstDash val="dash"/>
          </a:ln>
        </p:spPr>
      </p:sp>
      <p:sp>
        <p:nvSpPr>
          <p:cNvPr id="46" name="Shape 44"/>
          <p:cNvSpPr/>
          <p:nvPr/>
        </p:nvSpPr>
        <p:spPr>
          <a:xfrm>
            <a:off x="7086600" y="4617720"/>
            <a:ext cx="1600200" cy="384048"/>
          </a:xfrm>
          <a:prstGeom prst="roundRect">
            <a:avLst>
              <a:gd name="adj" fmla="val 19048"/>
            </a:avLst>
          </a:prstGeom>
          <a:solidFill>
            <a:srgbClr val="1B3155"/>
          </a:solidFill>
          <a:ln/>
        </p:spPr>
      </p:sp>
      <p:sp>
        <p:nvSpPr>
          <p:cNvPr id="47" name="Text 45"/>
          <p:cNvSpPr/>
          <p:nvPr/>
        </p:nvSpPr>
        <p:spPr>
          <a:xfrm>
            <a:off x="7159752" y="461772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Vibration sensor</a:t>
            </a:r>
            <a:endParaRPr lang="en-US" sz="950" dirty="0"/>
          </a:p>
        </p:txBody>
      </p:sp>
      <p:sp>
        <p:nvSpPr>
          <p:cNvPr id="48" name="Shape 46"/>
          <p:cNvSpPr/>
          <p:nvPr/>
        </p:nvSpPr>
        <p:spPr>
          <a:xfrm>
            <a:off x="8686800" y="4809744"/>
            <a:ext cx="45720" cy="0"/>
          </a:xfrm>
          <a:prstGeom prst="line">
            <a:avLst/>
          </a:prstGeom>
          <a:noFill/>
          <a:ln w="9525">
            <a:solidFill>
              <a:srgbClr val="7E97B8"/>
            </a:solidFill>
            <a:prstDash val="dash"/>
          </a:ln>
        </p:spPr>
      </p:sp>
      <p:sp>
        <p:nvSpPr>
          <p:cNvPr id="49" name="Shape 47"/>
          <p:cNvSpPr/>
          <p:nvPr/>
        </p:nvSpPr>
        <p:spPr>
          <a:xfrm>
            <a:off x="9189720" y="5212080"/>
            <a:ext cx="1600200" cy="384048"/>
          </a:xfrm>
          <a:prstGeom prst="roundRect">
            <a:avLst>
              <a:gd name="adj" fmla="val 19048"/>
            </a:avLst>
          </a:prstGeom>
          <a:solidFill>
            <a:srgbClr val="1B3155"/>
          </a:solidFill>
          <a:ln/>
        </p:spPr>
      </p:sp>
      <p:sp>
        <p:nvSpPr>
          <p:cNvPr id="50" name="Text 48"/>
          <p:cNvSpPr/>
          <p:nvPr/>
        </p:nvSpPr>
        <p:spPr>
          <a:xfrm>
            <a:off x="9262872" y="5212080"/>
            <a:ext cx="1463040" cy="38404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Backup battery</a:t>
            </a:r>
            <a:endParaRPr lang="en-US" sz="950" dirty="0"/>
          </a:p>
        </p:txBody>
      </p:sp>
      <p:sp>
        <p:nvSpPr>
          <p:cNvPr id="51" name="Shape 49"/>
          <p:cNvSpPr/>
          <p:nvPr/>
        </p:nvSpPr>
        <p:spPr>
          <a:xfrm>
            <a:off x="8842248" y="5404104"/>
            <a:ext cx="393192" cy="0"/>
          </a:xfrm>
          <a:prstGeom prst="line">
            <a:avLst/>
          </a:prstGeom>
          <a:noFill/>
          <a:ln w="9525">
            <a:solidFill>
              <a:srgbClr val="7E97B8"/>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CORE CAPABILITIES</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Five systems, one guardian</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04</a:t>
            </a:r>
            <a:endParaRPr lang="en-US" sz="1100" dirty="0"/>
          </a:p>
        </p:txBody>
      </p:sp>
      <p:sp>
        <p:nvSpPr>
          <p:cNvPr id="8" name="Shape 6"/>
          <p:cNvSpPr/>
          <p:nvPr/>
        </p:nvSpPr>
        <p:spPr>
          <a:xfrm>
            <a:off x="548640" y="1600200"/>
            <a:ext cx="5468112" cy="2148840"/>
          </a:xfrm>
          <a:prstGeom prst="roundRect">
            <a:avLst>
              <a:gd name="adj" fmla="val 3404"/>
            </a:avLst>
          </a:prstGeom>
          <a:solidFill>
            <a:srgbClr val="16294A"/>
          </a:solidFill>
          <a:ln/>
        </p:spPr>
      </p:sp>
      <p:sp>
        <p:nvSpPr>
          <p:cNvPr id="9" name="Shape 7"/>
          <p:cNvSpPr/>
          <p:nvPr/>
        </p:nvSpPr>
        <p:spPr>
          <a:xfrm>
            <a:off x="893826" y="1927098"/>
            <a:ext cx="260604" cy="260604"/>
          </a:xfrm>
          <a:prstGeom prst="ellipse">
            <a:avLst/>
          </a:prstGeom>
          <a:solidFill>
            <a:srgbClr val="FFB300">
              <a:alpha val="12000"/>
            </a:srgbClr>
          </a:solidFill>
          <a:ln/>
        </p:spPr>
      </p:sp>
      <p:sp>
        <p:nvSpPr>
          <p:cNvPr id="10" name="Shape 8"/>
          <p:cNvSpPr/>
          <p:nvPr/>
        </p:nvSpPr>
        <p:spPr>
          <a:xfrm>
            <a:off x="931545" y="1964817"/>
            <a:ext cx="185166" cy="185166"/>
          </a:xfrm>
          <a:prstGeom prst="ellipse">
            <a:avLst/>
          </a:prstGeom>
          <a:solidFill>
            <a:srgbClr val="FFB300">
              <a:alpha val="28000"/>
            </a:srgbClr>
          </a:solidFill>
          <a:ln/>
        </p:spPr>
      </p:sp>
      <p:sp>
        <p:nvSpPr>
          <p:cNvPr id="11" name="Shape 9"/>
          <p:cNvSpPr/>
          <p:nvPr/>
        </p:nvSpPr>
        <p:spPr>
          <a:xfrm>
            <a:off x="955548" y="1988820"/>
            <a:ext cx="137160" cy="137160"/>
          </a:xfrm>
          <a:prstGeom prst="ellipse">
            <a:avLst/>
          </a:prstGeom>
          <a:solidFill>
            <a:srgbClr val="FFB300"/>
          </a:solidFill>
          <a:ln/>
        </p:spPr>
      </p:sp>
      <p:sp>
        <p:nvSpPr>
          <p:cNvPr id="12" name="Text 10"/>
          <p:cNvSpPr/>
          <p:nvPr/>
        </p:nvSpPr>
        <p:spPr>
          <a:xfrm>
            <a:off x="1389888" y="1856232"/>
            <a:ext cx="4416552"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Accident Detection</a:t>
            </a:r>
            <a:endParaRPr lang="en-US" sz="1650" dirty="0"/>
          </a:p>
        </p:txBody>
      </p:sp>
      <p:sp>
        <p:nvSpPr>
          <p:cNvPr id="13" name="Text 11"/>
          <p:cNvSpPr/>
          <p:nvPr/>
        </p:nvSpPr>
        <p:spPr>
          <a:xfrm>
            <a:off x="822960" y="2468880"/>
            <a:ext cx="4919472" cy="1051560"/>
          </a:xfrm>
          <a:prstGeom prst="rect">
            <a:avLst/>
          </a:prstGeom>
          <a:noFill/>
          <a:ln/>
        </p:spPr>
        <p:txBody>
          <a:bodyPr wrap="square" lIns="0" tIns="0" rIns="0" bIns="0" rtlCol="0" anchor="t"/>
          <a:lstStyle/>
          <a:p>
            <a:pPr indent="0" marL="0">
              <a:buNone/>
            </a:pPr>
            <a:r>
              <a:rPr lang="en-US" sz="1150" dirty="0">
                <a:solidFill>
                  <a:srgbClr val="A8C6E8"/>
                </a:solidFill>
                <a:latin typeface="Calibri" pitchFamily="34" charset="0"/>
                <a:ea typeface="Calibri" pitchFamily="34" charset="-122"/>
                <a:cs typeface="Calibri" pitchFamily="34" charset="-120"/>
              </a:rPr>
              <a:t>Detects vehicle, bike and pedestrian collisions by fusing AI vision, crash-sound signatures and road vibration — then auto-dispatches help with GPS location.</a:t>
            </a:r>
            <a:endParaRPr lang="en-US" sz="1150" dirty="0"/>
          </a:p>
        </p:txBody>
      </p:sp>
      <p:sp>
        <p:nvSpPr>
          <p:cNvPr id="14" name="Shape 12"/>
          <p:cNvSpPr/>
          <p:nvPr/>
        </p:nvSpPr>
        <p:spPr>
          <a:xfrm>
            <a:off x="6172200" y="1600200"/>
            <a:ext cx="5468112" cy="2148840"/>
          </a:xfrm>
          <a:prstGeom prst="roundRect">
            <a:avLst>
              <a:gd name="adj" fmla="val 3404"/>
            </a:avLst>
          </a:prstGeom>
          <a:solidFill>
            <a:srgbClr val="16294A"/>
          </a:solidFill>
          <a:ln/>
        </p:spPr>
      </p:sp>
      <p:sp>
        <p:nvSpPr>
          <p:cNvPr id="15" name="Shape 13"/>
          <p:cNvSpPr/>
          <p:nvPr/>
        </p:nvSpPr>
        <p:spPr>
          <a:xfrm>
            <a:off x="6517386" y="1927098"/>
            <a:ext cx="260604" cy="260604"/>
          </a:xfrm>
          <a:prstGeom prst="ellipse">
            <a:avLst/>
          </a:prstGeom>
          <a:solidFill>
            <a:srgbClr val="FFB300">
              <a:alpha val="12000"/>
            </a:srgbClr>
          </a:solidFill>
          <a:ln/>
        </p:spPr>
      </p:sp>
      <p:sp>
        <p:nvSpPr>
          <p:cNvPr id="16" name="Shape 14"/>
          <p:cNvSpPr/>
          <p:nvPr/>
        </p:nvSpPr>
        <p:spPr>
          <a:xfrm>
            <a:off x="6555105" y="1964817"/>
            <a:ext cx="185166" cy="185166"/>
          </a:xfrm>
          <a:prstGeom prst="ellipse">
            <a:avLst/>
          </a:prstGeom>
          <a:solidFill>
            <a:srgbClr val="FFB300">
              <a:alpha val="28000"/>
            </a:srgbClr>
          </a:solidFill>
          <a:ln/>
        </p:spPr>
      </p:sp>
      <p:sp>
        <p:nvSpPr>
          <p:cNvPr id="17" name="Shape 15"/>
          <p:cNvSpPr/>
          <p:nvPr/>
        </p:nvSpPr>
        <p:spPr>
          <a:xfrm>
            <a:off x="6579108" y="1988820"/>
            <a:ext cx="137160" cy="137160"/>
          </a:xfrm>
          <a:prstGeom prst="ellipse">
            <a:avLst/>
          </a:prstGeom>
          <a:solidFill>
            <a:srgbClr val="FFB300"/>
          </a:solidFill>
          <a:ln/>
        </p:spPr>
      </p:sp>
      <p:sp>
        <p:nvSpPr>
          <p:cNvPr id="18" name="Text 16"/>
          <p:cNvSpPr/>
          <p:nvPr/>
        </p:nvSpPr>
        <p:spPr>
          <a:xfrm>
            <a:off x="7013448" y="1856232"/>
            <a:ext cx="4416552"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Women's Safety</a:t>
            </a:r>
            <a:endParaRPr lang="en-US" sz="1650" dirty="0"/>
          </a:p>
        </p:txBody>
      </p:sp>
      <p:sp>
        <p:nvSpPr>
          <p:cNvPr id="19" name="Text 17"/>
          <p:cNvSpPr/>
          <p:nvPr/>
        </p:nvSpPr>
        <p:spPr>
          <a:xfrm>
            <a:off x="6446520" y="2468880"/>
            <a:ext cx="4919472" cy="1051560"/>
          </a:xfrm>
          <a:prstGeom prst="rect">
            <a:avLst/>
          </a:prstGeom>
          <a:noFill/>
          <a:ln/>
        </p:spPr>
        <p:txBody>
          <a:bodyPr wrap="square" lIns="0" tIns="0" rIns="0" bIns="0" rtlCol="0" anchor="t"/>
          <a:lstStyle/>
          <a:p>
            <a:pPr indent="0" marL="0">
              <a:buNone/>
            </a:pPr>
            <a:r>
              <a:rPr lang="en-US" sz="1150" dirty="0">
                <a:solidFill>
                  <a:srgbClr val="A8C6E8"/>
                </a:solidFill>
                <a:latin typeface="Calibri" pitchFamily="34" charset="0"/>
                <a:ea typeface="Calibri" pitchFamily="34" charset="-122"/>
                <a:cs typeface="Calibri" pitchFamily="34" charset="-120"/>
              </a:rPr>
              <a:t>SOS press, a scream, or AI-detected suspicious activity triggers police + family alerts, floodlighting, active camera tracking and secure evidence capture.</a:t>
            </a:r>
            <a:endParaRPr lang="en-US" sz="1150" dirty="0"/>
          </a:p>
        </p:txBody>
      </p:sp>
      <p:sp>
        <p:nvSpPr>
          <p:cNvPr id="20" name="Shape 18"/>
          <p:cNvSpPr/>
          <p:nvPr/>
        </p:nvSpPr>
        <p:spPr>
          <a:xfrm>
            <a:off x="548640" y="3977640"/>
            <a:ext cx="3566160" cy="2148840"/>
          </a:xfrm>
          <a:prstGeom prst="roundRect">
            <a:avLst>
              <a:gd name="adj" fmla="val 3404"/>
            </a:avLst>
          </a:prstGeom>
          <a:solidFill>
            <a:srgbClr val="16294A"/>
          </a:solidFill>
          <a:ln/>
        </p:spPr>
      </p:sp>
      <p:sp>
        <p:nvSpPr>
          <p:cNvPr id="21" name="Shape 19"/>
          <p:cNvSpPr/>
          <p:nvPr/>
        </p:nvSpPr>
        <p:spPr>
          <a:xfrm>
            <a:off x="893826" y="4304538"/>
            <a:ext cx="260604" cy="260604"/>
          </a:xfrm>
          <a:prstGeom prst="ellipse">
            <a:avLst/>
          </a:prstGeom>
          <a:solidFill>
            <a:srgbClr val="FFB300">
              <a:alpha val="12000"/>
            </a:srgbClr>
          </a:solidFill>
          <a:ln/>
        </p:spPr>
      </p:sp>
      <p:sp>
        <p:nvSpPr>
          <p:cNvPr id="22" name="Shape 20"/>
          <p:cNvSpPr/>
          <p:nvPr/>
        </p:nvSpPr>
        <p:spPr>
          <a:xfrm>
            <a:off x="931545" y="4342257"/>
            <a:ext cx="185166" cy="185166"/>
          </a:xfrm>
          <a:prstGeom prst="ellipse">
            <a:avLst/>
          </a:prstGeom>
          <a:solidFill>
            <a:srgbClr val="FFB300">
              <a:alpha val="28000"/>
            </a:srgbClr>
          </a:solidFill>
          <a:ln/>
        </p:spPr>
      </p:sp>
      <p:sp>
        <p:nvSpPr>
          <p:cNvPr id="23" name="Shape 21"/>
          <p:cNvSpPr/>
          <p:nvPr/>
        </p:nvSpPr>
        <p:spPr>
          <a:xfrm>
            <a:off x="955548" y="4366260"/>
            <a:ext cx="137160" cy="137160"/>
          </a:xfrm>
          <a:prstGeom prst="ellipse">
            <a:avLst/>
          </a:prstGeom>
          <a:solidFill>
            <a:srgbClr val="FFB300"/>
          </a:solidFill>
          <a:ln/>
        </p:spPr>
      </p:sp>
      <p:sp>
        <p:nvSpPr>
          <p:cNvPr id="24" name="Text 22"/>
          <p:cNvSpPr/>
          <p:nvPr/>
        </p:nvSpPr>
        <p:spPr>
          <a:xfrm>
            <a:off x="1389888" y="4233672"/>
            <a:ext cx="2514600"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Safe Corridor</a:t>
            </a:r>
            <a:endParaRPr lang="en-US" sz="1650" dirty="0"/>
          </a:p>
        </p:txBody>
      </p:sp>
      <p:sp>
        <p:nvSpPr>
          <p:cNvPr id="25" name="Text 23"/>
          <p:cNvSpPr/>
          <p:nvPr/>
        </p:nvSpPr>
        <p:spPr>
          <a:xfrm>
            <a:off x="822960" y="4846320"/>
            <a:ext cx="3017520" cy="1051560"/>
          </a:xfrm>
          <a:prstGeom prst="rect">
            <a:avLst/>
          </a:prstGeom>
          <a:noFill/>
          <a:ln/>
        </p:spPr>
        <p:txBody>
          <a:bodyPr wrap="square" lIns="0" tIns="0" rIns="0" bIns="0" rtlCol="0" anchor="t"/>
          <a:lstStyle/>
          <a:p>
            <a:pPr indent="0" marL="0">
              <a:buNone/>
            </a:pPr>
            <a:r>
              <a:rPr lang="en-US" sz="1150" dirty="0">
                <a:solidFill>
                  <a:srgbClr val="A8C6E8"/>
                </a:solidFill>
                <a:latin typeface="Calibri" pitchFamily="34" charset="0"/>
                <a:ea typeface="Calibri" pitchFamily="34" charset="-122"/>
                <a:cs typeface="Calibri" pitchFamily="34" charset="-120"/>
              </a:rPr>
              <a:t>Neighbouring poles coordinate as a mesh: lights brighten along the victim's path, cameras hand off tracking, responders receive the fastest safe route.</a:t>
            </a:r>
            <a:endParaRPr lang="en-US" sz="1150" dirty="0"/>
          </a:p>
        </p:txBody>
      </p:sp>
      <p:sp>
        <p:nvSpPr>
          <p:cNvPr id="26" name="Shape 24"/>
          <p:cNvSpPr/>
          <p:nvPr/>
        </p:nvSpPr>
        <p:spPr>
          <a:xfrm>
            <a:off x="4270248" y="3977640"/>
            <a:ext cx="3566160" cy="2148840"/>
          </a:xfrm>
          <a:prstGeom prst="roundRect">
            <a:avLst>
              <a:gd name="adj" fmla="val 3404"/>
            </a:avLst>
          </a:prstGeom>
          <a:solidFill>
            <a:srgbClr val="16294A"/>
          </a:solidFill>
          <a:ln/>
        </p:spPr>
      </p:sp>
      <p:sp>
        <p:nvSpPr>
          <p:cNvPr id="27" name="Shape 25"/>
          <p:cNvSpPr/>
          <p:nvPr/>
        </p:nvSpPr>
        <p:spPr>
          <a:xfrm>
            <a:off x="4615434" y="4304538"/>
            <a:ext cx="260604" cy="260604"/>
          </a:xfrm>
          <a:prstGeom prst="ellipse">
            <a:avLst/>
          </a:prstGeom>
          <a:solidFill>
            <a:srgbClr val="FFB300">
              <a:alpha val="12000"/>
            </a:srgbClr>
          </a:solidFill>
          <a:ln/>
        </p:spPr>
      </p:sp>
      <p:sp>
        <p:nvSpPr>
          <p:cNvPr id="28" name="Shape 26"/>
          <p:cNvSpPr/>
          <p:nvPr/>
        </p:nvSpPr>
        <p:spPr>
          <a:xfrm>
            <a:off x="4653153" y="4342257"/>
            <a:ext cx="185166" cy="185166"/>
          </a:xfrm>
          <a:prstGeom prst="ellipse">
            <a:avLst/>
          </a:prstGeom>
          <a:solidFill>
            <a:srgbClr val="FFB300">
              <a:alpha val="28000"/>
            </a:srgbClr>
          </a:solidFill>
          <a:ln/>
        </p:spPr>
      </p:sp>
      <p:sp>
        <p:nvSpPr>
          <p:cNvPr id="29" name="Shape 27"/>
          <p:cNvSpPr/>
          <p:nvPr/>
        </p:nvSpPr>
        <p:spPr>
          <a:xfrm>
            <a:off x="4677156" y="4366260"/>
            <a:ext cx="137160" cy="137160"/>
          </a:xfrm>
          <a:prstGeom prst="ellipse">
            <a:avLst/>
          </a:prstGeom>
          <a:solidFill>
            <a:srgbClr val="FFB300"/>
          </a:solidFill>
          <a:ln/>
        </p:spPr>
      </p:sp>
      <p:sp>
        <p:nvSpPr>
          <p:cNvPr id="30" name="Text 28"/>
          <p:cNvSpPr/>
          <p:nvPr/>
        </p:nvSpPr>
        <p:spPr>
          <a:xfrm>
            <a:off x="5111496" y="4233672"/>
            <a:ext cx="2514600"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Edge AI</a:t>
            </a:r>
            <a:endParaRPr lang="en-US" sz="1650" dirty="0"/>
          </a:p>
        </p:txBody>
      </p:sp>
      <p:sp>
        <p:nvSpPr>
          <p:cNvPr id="31" name="Text 29"/>
          <p:cNvSpPr/>
          <p:nvPr/>
        </p:nvSpPr>
        <p:spPr>
          <a:xfrm>
            <a:off x="4544568" y="4846320"/>
            <a:ext cx="3017520" cy="1051560"/>
          </a:xfrm>
          <a:prstGeom prst="rect">
            <a:avLst/>
          </a:prstGeom>
          <a:noFill/>
          <a:ln/>
        </p:spPr>
        <p:txBody>
          <a:bodyPr wrap="square" lIns="0" tIns="0" rIns="0" bIns="0" rtlCol="0" anchor="t"/>
          <a:lstStyle/>
          <a:p>
            <a:pPr indent="0" marL="0">
              <a:buNone/>
            </a:pPr>
            <a:r>
              <a:rPr lang="en-US" sz="1150" dirty="0">
                <a:solidFill>
                  <a:srgbClr val="A8C6E8"/>
                </a:solidFill>
                <a:latin typeface="Calibri" pitchFamily="34" charset="0"/>
                <a:ea typeface="Calibri" pitchFamily="34" charset="-122"/>
                <a:cs typeface="Calibri" pitchFamily="34" charset="-120"/>
              </a:rPr>
              <a:t>Video and audio are processed on the pole, not in the cloud — sub-second response, minimal bandwidth, and raw footage never leaves the node by default.</a:t>
            </a:r>
            <a:endParaRPr lang="en-US" sz="1150" dirty="0"/>
          </a:p>
        </p:txBody>
      </p:sp>
      <p:sp>
        <p:nvSpPr>
          <p:cNvPr id="32" name="Shape 30"/>
          <p:cNvSpPr/>
          <p:nvPr/>
        </p:nvSpPr>
        <p:spPr>
          <a:xfrm>
            <a:off x="7991856" y="3977640"/>
            <a:ext cx="3648456" cy="2148840"/>
          </a:xfrm>
          <a:prstGeom prst="roundRect">
            <a:avLst>
              <a:gd name="adj" fmla="val 3404"/>
            </a:avLst>
          </a:prstGeom>
          <a:solidFill>
            <a:srgbClr val="16294A"/>
          </a:solidFill>
          <a:ln/>
        </p:spPr>
      </p:sp>
      <p:sp>
        <p:nvSpPr>
          <p:cNvPr id="33" name="Shape 31"/>
          <p:cNvSpPr/>
          <p:nvPr/>
        </p:nvSpPr>
        <p:spPr>
          <a:xfrm>
            <a:off x="8337042" y="4304538"/>
            <a:ext cx="260604" cy="260604"/>
          </a:xfrm>
          <a:prstGeom prst="ellipse">
            <a:avLst/>
          </a:prstGeom>
          <a:solidFill>
            <a:srgbClr val="FFB300">
              <a:alpha val="12000"/>
            </a:srgbClr>
          </a:solidFill>
          <a:ln/>
        </p:spPr>
      </p:sp>
      <p:sp>
        <p:nvSpPr>
          <p:cNvPr id="34" name="Shape 32"/>
          <p:cNvSpPr/>
          <p:nvPr/>
        </p:nvSpPr>
        <p:spPr>
          <a:xfrm>
            <a:off x="8374761" y="4342257"/>
            <a:ext cx="185166" cy="185166"/>
          </a:xfrm>
          <a:prstGeom prst="ellipse">
            <a:avLst/>
          </a:prstGeom>
          <a:solidFill>
            <a:srgbClr val="FFB300">
              <a:alpha val="28000"/>
            </a:srgbClr>
          </a:solidFill>
          <a:ln/>
        </p:spPr>
      </p:sp>
      <p:sp>
        <p:nvSpPr>
          <p:cNvPr id="35" name="Shape 33"/>
          <p:cNvSpPr/>
          <p:nvPr/>
        </p:nvSpPr>
        <p:spPr>
          <a:xfrm>
            <a:off x="8398764" y="4366260"/>
            <a:ext cx="137160" cy="137160"/>
          </a:xfrm>
          <a:prstGeom prst="ellipse">
            <a:avLst/>
          </a:prstGeom>
          <a:solidFill>
            <a:srgbClr val="FFB300"/>
          </a:solidFill>
          <a:ln/>
        </p:spPr>
      </p:sp>
      <p:sp>
        <p:nvSpPr>
          <p:cNvPr id="36" name="Text 34"/>
          <p:cNvSpPr/>
          <p:nvPr/>
        </p:nvSpPr>
        <p:spPr>
          <a:xfrm>
            <a:off x="8833104" y="4233672"/>
            <a:ext cx="2596896"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Predictive Analytics</a:t>
            </a:r>
            <a:endParaRPr lang="en-US" sz="1650" dirty="0"/>
          </a:p>
        </p:txBody>
      </p:sp>
      <p:sp>
        <p:nvSpPr>
          <p:cNvPr id="37" name="Text 35"/>
          <p:cNvSpPr/>
          <p:nvPr/>
        </p:nvSpPr>
        <p:spPr>
          <a:xfrm>
            <a:off x="8266176" y="4846320"/>
            <a:ext cx="3099816" cy="1051560"/>
          </a:xfrm>
          <a:prstGeom prst="rect">
            <a:avLst/>
          </a:prstGeom>
          <a:noFill/>
          <a:ln/>
        </p:spPr>
        <p:txBody>
          <a:bodyPr wrap="square" lIns="0" tIns="0" rIns="0" bIns="0" rtlCol="0" anchor="t"/>
          <a:lstStyle/>
          <a:p>
            <a:pPr indent="0" marL="0">
              <a:buNone/>
            </a:pPr>
            <a:r>
              <a:rPr lang="en-US" sz="1150" dirty="0">
                <a:solidFill>
                  <a:srgbClr val="A8C6E8"/>
                </a:solidFill>
                <a:latin typeface="Calibri" pitchFamily="34" charset="0"/>
                <a:ea typeface="Calibri" pitchFamily="34" charset="-122"/>
                <a:cs typeface="Calibri" pitchFamily="34" charset="-120"/>
              </a:rPr>
              <a:t>Learns from every event to flag accident-prone roads, unsafe zones, repeat crime hotspots and failing infrastructure before incidents happen.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SYSTEM ARCHITECTURE</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Sense → verify on the edge → dispatch</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05</a:t>
            </a:r>
            <a:endParaRPr lang="en-US" sz="1100" dirty="0"/>
          </a:p>
        </p:txBody>
      </p:sp>
      <p:sp>
        <p:nvSpPr>
          <p:cNvPr id="8" name="Text 6"/>
          <p:cNvSpPr/>
          <p:nvPr/>
        </p:nvSpPr>
        <p:spPr>
          <a:xfrm>
            <a:off x="548640" y="1554480"/>
            <a:ext cx="2377440" cy="274320"/>
          </a:xfrm>
          <a:prstGeom prst="rect">
            <a:avLst/>
          </a:prstGeom>
          <a:noFill/>
          <a:ln/>
        </p:spPr>
        <p:txBody>
          <a:bodyPr wrap="square" lIns="0" tIns="0" rIns="0" bIns="0" rtlCol="0" anchor="ctr"/>
          <a:lstStyle/>
          <a:p>
            <a:pPr indent="0" marL="0">
              <a:buNone/>
            </a:pPr>
            <a:r>
              <a:rPr lang="en-US" sz="1150" b="1" spc="200" kern="0" dirty="0">
                <a:solidFill>
                  <a:srgbClr val="7E97B8"/>
                </a:solidFill>
                <a:latin typeface="Calibri" pitchFamily="34" charset="0"/>
                <a:ea typeface="Calibri" pitchFamily="34" charset="-122"/>
                <a:cs typeface="Calibri" pitchFamily="34" charset="-120"/>
              </a:rPr>
              <a:t>SENSOR LAYER</a:t>
            </a:r>
            <a:endParaRPr lang="en-US" sz="1150" dirty="0"/>
          </a:p>
        </p:txBody>
      </p:sp>
      <p:sp>
        <p:nvSpPr>
          <p:cNvPr id="9" name="Shape 7"/>
          <p:cNvSpPr/>
          <p:nvPr/>
        </p:nvSpPr>
        <p:spPr>
          <a:xfrm>
            <a:off x="548640" y="1920240"/>
            <a:ext cx="2377440" cy="548640"/>
          </a:xfrm>
          <a:prstGeom prst="roundRect">
            <a:avLst>
              <a:gd name="adj" fmla="val 13333"/>
            </a:avLst>
          </a:prstGeom>
          <a:solidFill>
            <a:srgbClr val="16294A"/>
          </a:solidFill>
          <a:ln/>
        </p:spPr>
      </p:sp>
      <p:sp>
        <p:nvSpPr>
          <p:cNvPr id="10" name="Text 8"/>
          <p:cNvSpPr/>
          <p:nvPr/>
        </p:nvSpPr>
        <p:spPr>
          <a:xfrm>
            <a:off x="548640" y="1920240"/>
            <a:ext cx="237744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AI Camera</a:t>
            </a:r>
            <a:endParaRPr lang="en-US" sz="1250" dirty="0"/>
          </a:p>
        </p:txBody>
      </p:sp>
      <p:sp>
        <p:nvSpPr>
          <p:cNvPr id="11" name="Shape 9"/>
          <p:cNvSpPr/>
          <p:nvPr/>
        </p:nvSpPr>
        <p:spPr>
          <a:xfrm>
            <a:off x="2926080" y="2194560"/>
            <a:ext cx="502920" cy="0"/>
          </a:xfrm>
          <a:prstGeom prst="line">
            <a:avLst/>
          </a:prstGeom>
          <a:noFill/>
          <a:ln w="19050">
            <a:solidFill>
              <a:srgbClr val="C98A00"/>
            </a:solidFill>
            <a:prstDash val="solid"/>
            <a:tailEnd type="triangle"/>
          </a:ln>
        </p:spPr>
      </p:sp>
      <p:sp>
        <p:nvSpPr>
          <p:cNvPr id="12" name="Shape 10"/>
          <p:cNvSpPr/>
          <p:nvPr/>
        </p:nvSpPr>
        <p:spPr>
          <a:xfrm>
            <a:off x="548640" y="2633472"/>
            <a:ext cx="2377440" cy="548640"/>
          </a:xfrm>
          <a:prstGeom prst="roundRect">
            <a:avLst>
              <a:gd name="adj" fmla="val 13333"/>
            </a:avLst>
          </a:prstGeom>
          <a:solidFill>
            <a:srgbClr val="16294A"/>
          </a:solidFill>
          <a:ln/>
        </p:spPr>
      </p:sp>
      <p:sp>
        <p:nvSpPr>
          <p:cNvPr id="13" name="Text 11"/>
          <p:cNvSpPr/>
          <p:nvPr/>
        </p:nvSpPr>
        <p:spPr>
          <a:xfrm>
            <a:off x="548640" y="2633472"/>
            <a:ext cx="237744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Microphone</a:t>
            </a:r>
            <a:endParaRPr lang="en-US" sz="1250" dirty="0"/>
          </a:p>
        </p:txBody>
      </p:sp>
      <p:sp>
        <p:nvSpPr>
          <p:cNvPr id="14" name="Shape 12"/>
          <p:cNvSpPr/>
          <p:nvPr/>
        </p:nvSpPr>
        <p:spPr>
          <a:xfrm>
            <a:off x="2926080" y="2907792"/>
            <a:ext cx="502920" cy="0"/>
          </a:xfrm>
          <a:prstGeom prst="line">
            <a:avLst/>
          </a:prstGeom>
          <a:noFill/>
          <a:ln w="19050">
            <a:solidFill>
              <a:srgbClr val="C98A00"/>
            </a:solidFill>
            <a:prstDash val="solid"/>
            <a:tailEnd type="triangle"/>
          </a:ln>
        </p:spPr>
      </p:sp>
      <p:sp>
        <p:nvSpPr>
          <p:cNvPr id="15" name="Shape 13"/>
          <p:cNvSpPr/>
          <p:nvPr/>
        </p:nvSpPr>
        <p:spPr>
          <a:xfrm>
            <a:off x="548640" y="3346704"/>
            <a:ext cx="2377440" cy="548640"/>
          </a:xfrm>
          <a:prstGeom prst="roundRect">
            <a:avLst>
              <a:gd name="adj" fmla="val 13333"/>
            </a:avLst>
          </a:prstGeom>
          <a:solidFill>
            <a:srgbClr val="16294A"/>
          </a:solidFill>
          <a:ln/>
        </p:spPr>
      </p:sp>
      <p:sp>
        <p:nvSpPr>
          <p:cNvPr id="16" name="Text 14"/>
          <p:cNvSpPr/>
          <p:nvPr/>
        </p:nvSpPr>
        <p:spPr>
          <a:xfrm>
            <a:off x="548640" y="3346704"/>
            <a:ext cx="237744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Vibration Sensor</a:t>
            </a:r>
            <a:endParaRPr lang="en-US" sz="1250" dirty="0"/>
          </a:p>
        </p:txBody>
      </p:sp>
      <p:sp>
        <p:nvSpPr>
          <p:cNvPr id="17" name="Shape 15"/>
          <p:cNvSpPr/>
          <p:nvPr/>
        </p:nvSpPr>
        <p:spPr>
          <a:xfrm>
            <a:off x="2926080" y="3621024"/>
            <a:ext cx="502920" cy="0"/>
          </a:xfrm>
          <a:prstGeom prst="line">
            <a:avLst/>
          </a:prstGeom>
          <a:noFill/>
          <a:ln w="19050">
            <a:solidFill>
              <a:srgbClr val="C98A00"/>
            </a:solidFill>
            <a:prstDash val="solid"/>
            <a:tailEnd type="triangle"/>
          </a:ln>
        </p:spPr>
      </p:sp>
      <p:sp>
        <p:nvSpPr>
          <p:cNvPr id="18" name="Shape 16"/>
          <p:cNvSpPr/>
          <p:nvPr/>
        </p:nvSpPr>
        <p:spPr>
          <a:xfrm>
            <a:off x="548640" y="4059936"/>
            <a:ext cx="2377440" cy="548640"/>
          </a:xfrm>
          <a:prstGeom prst="roundRect">
            <a:avLst>
              <a:gd name="adj" fmla="val 13333"/>
            </a:avLst>
          </a:prstGeom>
          <a:solidFill>
            <a:srgbClr val="16294A"/>
          </a:solidFill>
          <a:ln/>
        </p:spPr>
      </p:sp>
      <p:sp>
        <p:nvSpPr>
          <p:cNvPr id="19" name="Text 17"/>
          <p:cNvSpPr/>
          <p:nvPr/>
        </p:nvSpPr>
        <p:spPr>
          <a:xfrm>
            <a:off x="548640" y="4059936"/>
            <a:ext cx="237744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GPS Module</a:t>
            </a:r>
            <a:endParaRPr lang="en-US" sz="1250" dirty="0"/>
          </a:p>
        </p:txBody>
      </p:sp>
      <p:sp>
        <p:nvSpPr>
          <p:cNvPr id="20" name="Shape 18"/>
          <p:cNvSpPr/>
          <p:nvPr/>
        </p:nvSpPr>
        <p:spPr>
          <a:xfrm>
            <a:off x="2926080" y="4334256"/>
            <a:ext cx="502920" cy="0"/>
          </a:xfrm>
          <a:prstGeom prst="line">
            <a:avLst/>
          </a:prstGeom>
          <a:noFill/>
          <a:ln w="19050">
            <a:solidFill>
              <a:srgbClr val="C98A00"/>
            </a:solidFill>
            <a:prstDash val="solid"/>
            <a:tailEnd type="triangle"/>
          </a:ln>
        </p:spPr>
      </p:sp>
      <p:sp>
        <p:nvSpPr>
          <p:cNvPr id="21" name="Shape 19"/>
          <p:cNvSpPr/>
          <p:nvPr/>
        </p:nvSpPr>
        <p:spPr>
          <a:xfrm>
            <a:off x="548640" y="4773168"/>
            <a:ext cx="2377440" cy="548640"/>
          </a:xfrm>
          <a:prstGeom prst="roundRect">
            <a:avLst>
              <a:gd name="adj" fmla="val 13333"/>
            </a:avLst>
          </a:prstGeom>
          <a:solidFill>
            <a:srgbClr val="16294A"/>
          </a:solidFill>
          <a:ln/>
        </p:spPr>
      </p:sp>
      <p:sp>
        <p:nvSpPr>
          <p:cNvPr id="22" name="Text 20"/>
          <p:cNvSpPr/>
          <p:nvPr/>
        </p:nvSpPr>
        <p:spPr>
          <a:xfrm>
            <a:off x="548640" y="4773168"/>
            <a:ext cx="237744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SOS Button</a:t>
            </a:r>
            <a:endParaRPr lang="en-US" sz="1250" dirty="0"/>
          </a:p>
        </p:txBody>
      </p:sp>
      <p:sp>
        <p:nvSpPr>
          <p:cNvPr id="23" name="Shape 21"/>
          <p:cNvSpPr/>
          <p:nvPr/>
        </p:nvSpPr>
        <p:spPr>
          <a:xfrm>
            <a:off x="2926080" y="5047488"/>
            <a:ext cx="502920" cy="0"/>
          </a:xfrm>
          <a:prstGeom prst="line">
            <a:avLst/>
          </a:prstGeom>
          <a:noFill/>
          <a:ln w="19050">
            <a:solidFill>
              <a:srgbClr val="C98A00"/>
            </a:solidFill>
            <a:prstDash val="solid"/>
            <a:tailEnd type="triangle"/>
          </a:ln>
        </p:spPr>
      </p:sp>
      <p:sp>
        <p:nvSpPr>
          <p:cNvPr id="24" name="Shape 22"/>
          <p:cNvSpPr/>
          <p:nvPr/>
        </p:nvSpPr>
        <p:spPr>
          <a:xfrm>
            <a:off x="3429000" y="2286000"/>
            <a:ext cx="2514600" cy="2606040"/>
          </a:xfrm>
          <a:prstGeom prst="roundRect">
            <a:avLst>
              <a:gd name="adj" fmla="val 2909"/>
            </a:avLst>
          </a:prstGeom>
          <a:solidFill>
            <a:srgbClr val="1B3155"/>
          </a:solidFill>
          <a:ln/>
        </p:spPr>
      </p:sp>
      <p:sp>
        <p:nvSpPr>
          <p:cNvPr id="25" name="Shape 23"/>
          <p:cNvSpPr/>
          <p:nvPr/>
        </p:nvSpPr>
        <p:spPr>
          <a:xfrm>
            <a:off x="4529938" y="2632558"/>
            <a:ext cx="312725" cy="312725"/>
          </a:xfrm>
          <a:prstGeom prst="ellipse">
            <a:avLst/>
          </a:prstGeom>
          <a:solidFill>
            <a:srgbClr val="FFB300">
              <a:alpha val="12000"/>
            </a:srgbClr>
          </a:solidFill>
          <a:ln/>
        </p:spPr>
      </p:sp>
      <p:sp>
        <p:nvSpPr>
          <p:cNvPr id="26" name="Shape 24"/>
          <p:cNvSpPr/>
          <p:nvPr/>
        </p:nvSpPr>
        <p:spPr>
          <a:xfrm>
            <a:off x="4575200" y="2677820"/>
            <a:ext cx="222199" cy="222199"/>
          </a:xfrm>
          <a:prstGeom prst="ellipse">
            <a:avLst/>
          </a:prstGeom>
          <a:solidFill>
            <a:srgbClr val="FFB300">
              <a:alpha val="28000"/>
            </a:srgbClr>
          </a:solidFill>
          <a:ln/>
        </p:spPr>
      </p:sp>
      <p:sp>
        <p:nvSpPr>
          <p:cNvPr id="27" name="Shape 25"/>
          <p:cNvSpPr/>
          <p:nvPr/>
        </p:nvSpPr>
        <p:spPr>
          <a:xfrm>
            <a:off x="4604004" y="2706624"/>
            <a:ext cx="164592" cy="164592"/>
          </a:xfrm>
          <a:prstGeom prst="ellipse">
            <a:avLst/>
          </a:prstGeom>
          <a:solidFill>
            <a:srgbClr val="FFB300"/>
          </a:solidFill>
          <a:ln/>
        </p:spPr>
      </p:sp>
      <p:sp>
        <p:nvSpPr>
          <p:cNvPr id="28" name="Text 26"/>
          <p:cNvSpPr/>
          <p:nvPr/>
        </p:nvSpPr>
        <p:spPr>
          <a:xfrm>
            <a:off x="3429000" y="3063240"/>
            <a:ext cx="251460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EDGE AI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PROCESSOR</a:t>
            </a:r>
            <a:endParaRPr lang="en-US" sz="1500" dirty="0"/>
          </a:p>
        </p:txBody>
      </p:sp>
      <p:sp>
        <p:nvSpPr>
          <p:cNvPr id="29" name="Text 27"/>
          <p:cNvSpPr/>
          <p:nvPr/>
        </p:nvSpPr>
        <p:spPr>
          <a:xfrm>
            <a:off x="3611880" y="3886200"/>
            <a:ext cx="2148840" cy="822960"/>
          </a:xfrm>
          <a:prstGeom prst="rect">
            <a:avLst/>
          </a:prstGeom>
          <a:noFill/>
          <a:ln/>
        </p:spPr>
        <p:txBody>
          <a:bodyPr wrap="square" lIns="0" tIns="0" rIns="0" bIns="0" rtlCol="0" anchor="ctr"/>
          <a:lstStyle/>
          <a:p>
            <a:pPr algn="ctr" indent="0" marL="0">
              <a:buNone/>
            </a:pPr>
            <a:r>
              <a:rPr lang="en-US" sz="1050" dirty="0">
                <a:solidFill>
                  <a:srgbClr val="A8C6E8"/>
                </a:solidFill>
                <a:latin typeface="Calibri" pitchFamily="34" charset="0"/>
                <a:ea typeface="Calibri" pitchFamily="34" charset="-122"/>
                <a:cs typeface="Calibri" pitchFamily="34" charset="-120"/>
              </a:rPr>
              <a:t>On-device vision + audio + vibration fusion (YOLO, TinyML)</a:t>
            </a:r>
            <a:endParaRPr lang="en-US" sz="1050" dirty="0"/>
          </a:p>
        </p:txBody>
      </p:sp>
      <p:sp>
        <p:nvSpPr>
          <p:cNvPr id="30" name="Shape 28"/>
          <p:cNvSpPr/>
          <p:nvPr/>
        </p:nvSpPr>
        <p:spPr>
          <a:xfrm>
            <a:off x="5943600" y="3566160"/>
            <a:ext cx="502920" cy="0"/>
          </a:xfrm>
          <a:prstGeom prst="line">
            <a:avLst/>
          </a:prstGeom>
          <a:noFill/>
          <a:ln w="19050">
            <a:solidFill>
              <a:srgbClr val="C98A00"/>
            </a:solidFill>
            <a:prstDash val="solid"/>
            <a:tailEnd type="triangle"/>
          </a:ln>
        </p:spPr>
      </p:sp>
      <p:sp>
        <p:nvSpPr>
          <p:cNvPr id="31" name="Shape 29"/>
          <p:cNvSpPr/>
          <p:nvPr/>
        </p:nvSpPr>
        <p:spPr>
          <a:xfrm>
            <a:off x="6446520" y="2286000"/>
            <a:ext cx="2514600" cy="2606040"/>
          </a:xfrm>
          <a:prstGeom prst="roundRect">
            <a:avLst>
              <a:gd name="adj" fmla="val 2909"/>
            </a:avLst>
          </a:prstGeom>
          <a:solidFill>
            <a:srgbClr val="1B3155"/>
          </a:solidFill>
          <a:ln/>
        </p:spPr>
      </p:sp>
      <p:sp>
        <p:nvSpPr>
          <p:cNvPr id="32" name="Text 30"/>
          <p:cNvSpPr/>
          <p:nvPr/>
        </p:nvSpPr>
        <p:spPr>
          <a:xfrm>
            <a:off x="6446520" y="2697480"/>
            <a:ext cx="2514600" cy="1097280"/>
          </a:xfrm>
          <a:prstGeom prst="rect">
            <a:avLst/>
          </a:prstGeom>
          <a:noFill/>
          <a:ln/>
        </p:spPr>
        <p:txBody>
          <a:bodyPr wrap="square" lIns="0" tIns="0" rIns="0" bIns="0" rtlCol="0" anchor="ctr"/>
          <a:lstStyle/>
          <a:p>
            <a:pPr algn="ctr" indent="0" marL="0">
              <a:buNone/>
            </a:pPr>
            <a:r>
              <a:rPr lang="en-US" sz="1500" b="1" dirty="0">
                <a:solidFill>
                  <a:srgbClr val="FFB300"/>
                </a:solidFill>
                <a:latin typeface="Calibri" pitchFamily="34" charset="0"/>
                <a:ea typeface="Calibri" pitchFamily="34" charset="-122"/>
                <a:cs typeface="Calibri" pitchFamily="34" charset="-120"/>
              </a:rPr>
              <a:t>EMERGENCY</a:t>
            </a:r>
            <a:endParaRPr lang="en-US" sz="1500" dirty="0"/>
          </a:p>
          <a:p>
            <a:pPr algn="ctr" indent="0" marL="0">
              <a:buNone/>
            </a:pPr>
            <a:r>
              <a:rPr lang="en-US" sz="1500" b="1" dirty="0">
                <a:solidFill>
                  <a:srgbClr val="FFB300"/>
                </a:solidFill>
                <a:latin typeface="Calibri" pitchFamily="34" charset="0"/>
                <a:ea typeface="Calibri" pitchFamily="34" charset="-122"/>
                <a:cs typeface="Calibri" pitchFamily="34" charset="-120"/>
              </a:rPr>
              <a:t>VALIDATION</a:t>
            </a:r>
            <a:endParaRPr lang="en-US" sz="1500" dirty="0"/>
          </a:p>
          <a:p>
            <a:pPr algn="ctr" indent="0" marL="0">
              <a:buNone/>
            </a:pPr>
            <a:r>
              <a:rPr lang="en-US" sz="1500" b="1" dirty="0">
                <a:solidFill>
                  <a:srgbClr val="FFB300"/>
                </a:solidFill>
                <a:latin typeface="Calibri" pitchFamily="34" charset="0"/>
                <a:ea typeface="Calibri" pitchFamily="34" charset="-122"/>
                <a:cs typeface="Calibri" pitchFamily="34" charset="-120"/>
              </a:rPr>
              <a:t>ENGINE</a:t>
            </a:r>
            <a:endParaRPr lang="en-US" sz="1500" dirty="0"/>
          </a:p>
        </p:txBody>
      </p:sp>
      <p:sp>
        <p:nvSpPr>
          <p:cNvPr id="33" name="Text 31"/>
          <p:cNvSpPr/>
          <p:nvPr/>
        </p:nvSpPr>
        <p:spPr>
          <a:xfrm>
            <a:off x="6629400" y="3886200"/>
            <a:ext cx="2148840" cy="822960"/>
          </a:xfrm>
          <a:prstGeom prst="rect">
            <a:avLst/>
          </a:prstGeom>
          <a:noFill/>
          <a:ln/>
        </p:spPr>
        <p:txBody>
          <a:bodyPr wrap="square" lIns="0" tIns="0" rIns="0" bIns="0" rtlCol="0" anchor="ctr"/>
          <a:lstStyle/>
          <a:p>
            <a:pPr algn="ctr" indent="0" marL="0">
              <a:buNone/>
            </a:pPr>
            <a:r>
              <a:rPr lang="en-US" sz="1050" dirty="0">
                <a:solidFill>
                  <a:srgbClr val="A8C6E8"/>
                </a:solidFill>
                <a:latin typeface="Calibri" pitchFamily="34" charset="0"/>
                <a:ea typeface="Calibri" pitchFamily="34" charset="-122"/>
                <a:cs typeface="Calibri" pitchFamily="34" charset="-120"/>
              </a:rPr>
              <a:t>Multi-sensor confirmation gate — alerts fire only on verified emergencies</a:t>
            </a:r>
            <a:endParaRPr lang="en-US" sz="1050" dirty="0"/>
          </a:p>
        </p:txBody>
      </p:sp>
      <p:sp>
        <p:nvSpPr>
          <p:cNvPr id="34" name="Text 32"/>
          <p:cNvSpPr/>
          <p:nvPr/>
        </p:nvSpPr>
        <p:spPr>
          <a:xfrm>
            <a:off x="9646920" y="1554480"/>
            <a:ext cx="2377440" cy="274320"/>
          </a:xfrm>
          <a:prstGeom prst="rect">
            <a:avLst/>
          </a:prstGeom>
          <a:noFill/>
          <a:ln/>
        </p:spPr>
        <p:txBody>
          <a:bodyPr wrap="square" lIns="0" tIns="0" rIns="0" bIns="0" rtlCol="0" anchor="ctr"/>
          <a:lstStyle/>
          <a:p>
            <a:pPr indent="0" marL="0">
              <a:buNone/>
            </a:pPr>
            <a:r>
              <a:rPr lang="en-US" sz="1150" b="1" spc="200" kern="0" dirty="0">
                <a:solidFill>
                  <a:srgbClr val="7E97B8"/>
                </a:solidFill>
                <a:latin typeface="Calibri" pitchFamily="34" charset="0"/>
                <a:ea typeface="Calibri" pitchFamily="34" charset="-122"/>
                <a:cs typeface="Calibri" pitchFamily="34" charset="-120"/>
              </a:rPr>
              <a:t>RESPONSE LAYER</a:t>
            </a:r>
            <a:endParaRPr lang="en-US" sz="1150" dirty="0"/>
          </a:p>
        </p:txBody>
      </p:sp>
      <p:sp>
        <p:nvSpPr>
          <p:cNvPr id="35" name="Shape 33"/>
          <p:cNvSpPr/>
          <p:nvPr/>
        </p:nvSpPr>
        <p:spPr>
          <a:xfrm>
            <a:off x="8961120" y="2194560"/>
            <a:ext cx="502920" cy="0"/>
          </a:xfrm>
          <a:prstGeom prst="line">
            <a:avLst/>
          </a:prstGeom>
          <a:noFill/>
          <a:ln w="19050">
            <a:solidFill>
              <a:srgbClr val="C98A00"/>
            </a:solidFill>
            <a:prstDash val="solid"/>
            <a:tailEnd type="triangle"/>
          </a:ln>
        </p:spPr>
      </p:sp>
      <p:sp>
        <p:nvSpPr>
          <p:cNvPr id="36" name="Shape 34"/>
          <p:cNvSpPr/>
          <p:nvPr/>
        </p:nvSpPr>
        <p:spPr>
          <a:xfrm>
            <a:off x="9464040" y="1920240"/>
            <a:ext cx="2176272" cy="548640"/>
          </a:xfrm>
          <a:prstGeom prst="roundRect">
            <a:avLst>
              <a:gd name="adj" fmla="val 13333"/>
            </a:avLst>
          </a:prstGeom>
          <a:solidFill>
            <a:srgbClr val="16294A"/>
          </a:solidFill>
          <a:ln/>
        </p:spPr>
      </p:sp>
      <p:sp>
        <p:nvSpPr>
          <p:cNvPr id="37" name="Text 35"/>
          <p:cNvSpPr/>
          <p:nvPr/>
        </p:nvSpPr>
        <p:spPr>
          <a:xfrm>
            <a:off x="9464040" y="1920240"/>
            <a:ext cx="2176272"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Police (112)</a:t>
            </a:r>
            <a:endParaRPr lang="en-US" sz="1200" dirty="0"/>
          </a:p>
        </p:txBody>
      </p:sp>
      <p:sp>
        <p:nvSpPr>
          <p:cNvPr id="38" name="Shape 36"/>
          <p:cNvSpPr/>
          <p:nvPr/>
        </p:nvSpPr>
        <p:spPr>
          <a:xfrm>
            <a:off x="8961120" y="2907792"/>
            <a:ext cx="502920" cy="0"/>
          </a:xfrm>
          <a:prstGeom prst="line">
            <a:avLst/>
          </a:prstGeom>
          <a:noFill/>
          <a:ln w="19050">
            <a:solidFill>
              <a:srgbClr val="C98A00"/>
            </a:solidFill>
            <a:prstDash val="solid"/>
            <a:tailEnd type="triangle"/>
          </a:ln>
        </p:spPr>
      </p:sp>
      <p:sp>
        <p:nvSpPr>
          <p:cNvPr id="39" name="Shape 37"/>
          <p:cNvSpPr/>
          <p:nvPr/>
        </p:nvSpPr>
        <p:spPr>
          <a:xfrm>
            <a:off x="9464040" y="2633472"/>
            <a:ext cx="2176272" cy="548640"/>
          </a:xfrm>
          <a:prstGeom prst="roundRect">
            <a:avLst>
              <a:gd name="adj" fmla="val 13333"/>
            </a:avLst>
          </a:prstGeom>
          <a:solidFill>
            <a:srgbClr val="16294A"/>
          </a:solidFill>
          <a:ln/>
        </p:spPr>
      </p:sp>
      <p:sp>
        <p:nvSpPr>
          <p:cNvPr id="40" name="Text 38"/>
          <p:cNvSpPr/>
          <p:nvPr/>
        </p:nvSpPr>
        <p:spPr>
          <a:xfrm>
            <a:off x="9464040" y="2633472"/>
            <a:ext cx="2176272"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Ambulance (108)</a:t>
            </a:r>
            <a:endParaRPr lang="en-US" sz="1200" dirty="0"/>
          </a:p>
        </p:txBody>
      </p:sp>
      <p:sp>
        <p:nvSpPr>
          <p:cNvPr id="41" name="Shape 39"/>
          <p:cNvSpPr/>
          <p:nvPr/>
        </p:nvSpPr>
        <p:spPr>
          <a:xfrm>
            <a:off x="8961120" y="3621024"/>
            <a:ext cx="502920" cy="0"/>
          </a:xfrm>
          <a:prstGeom prst="line">
            <a:avLst/>
          </a:prstGeom>
          <a:noFill/>
          <a:ln w="19050">
            <a:solidFill>
              <a:srgbClr val="C98A00"/>
            </a:solidFill>
            <a:prstDash val="solid"/>
            <a:tailEnd type="triangle"/>
          </a:ln>
        </p:spPr>
      </p:sp>
      <p:sp>
        <p:nvSpPr>
          <p:cNvPr id="42" name="Shape 40"/>
          <p:cNvSpPr/>
          <p:nvPr/>
        </p:nvSpPr>
        <p:spPr>
          <a:xfrm>
            <a:off x="9464040" y="3346704"/>
            <a:ext cx="2176272" cy="548640"/>
          </a:xfrm>
          <a:prstGeom prst="roundRect">
            <a:avLst>
              <a:gd name="adj" fmla="val 13333"/>
            </a:avLst>
          </a:prstGeom>
          <a:solidFill>
            <a:srgbClr val="16294A"/>
          </a:solidFill>
          <a:ln/>
        </p:spPr>
      </p:sp>
      <p:sp>
        <p:nvSpPr>
          <p:cNvPr id="43" name="Text 41"/>
          <p:cNvSpPr/>
          <p:nvPr/>
        </p:nvSpPr>
        <p:spPr>
          <a:xfrm>
            <a:off x="9464040" y="3346704"/>
            <a:ext cx="2176272"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Family Contacts</a:t>
            </a:r>
            <a:endParaRPr lang="en-US" sz="1200" dirty="0"/>
          </a:p>
        </p:txBody>
      </p:sp>
      <p:sp>
        <p:nvSpPr>
          <p:cNvPr id="44" name="Shape 42"/>
          <p:cNvSpPr/>
          <p:nvPr/>
        </p:nvSpPr>
        <p:spPr>
          <a:xfrm>
            <a:off x="8961120" y="4334256"/>
            <a:ext cx="502920" cy="0"/>
          </a:xfrm>
          <a:prstGeom prst="line">
            <a:avLst/>
          </a:prstGeom>
          <a:noFill/>
          <a:ln w="19050">
            <a:solidFill>
              <a:srgbClr val="C98A00"/>
            </a:solidFill>
            <a:prstDash val="solid"/>
            <a:tailEnd type="triangle"/>
          </a:ln>
        </p:spPr>
      </p:sp>
      <p:sp>
        <p:nvSpPr>
          <p:cNvPr id="45" name="Shape 43"/>
          <p:cNvSpPr/>
          <p:nvPr/>
        </p:nvSpPr>
        <p:spPr>
          <a:xfrm>
            <a:off x="9464040" y="4059936"/>
            <a:ext cx="2176272" cy="548640"/>
          </a:xfrm>
          <a:prstGeom prst="roundRect">
            <a:avLst>
              <a:gd name="adj" fmla="val 13333"/>
            </a:avLst>
          </a:prstGeom>
          <a:solidFill>
            <a:srgbClr val="16294A"/>
          </a:solidFill>
          <a:ln/>
        </p:spPr>
      </p:sp>
      <p:sp>
        <p:nvSpPr>
          <p:cNvPr id="46" name="Text 44"/>
          <p:cNvSpPr/>
          <p:nvPr/>
        </p:nvSpPr>
        <p:spPr>
          <a:xfrm>
            <a:off x="9464040" y="4059936"/>
            <a:ext cx="2176272"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Cloud Dashboard</a:t>
            </a:r>
            <a:endParaRPr lang="en-US" sz="1200" dirty="0"/>
          </a:p>
        </p:txBody>
      </p:sp>
      <p:sp>
        <p:nvSpPr>
          <p:cNvPr id="47" name="Shape 45"/>
          <p:cNvSpPr/>
          <p:nvPr/>
        </p:nvSpPr>
        <p:spPr>
          <a:xfrm>
            <a:off x="8961120" y="5047488"/>
            <a:ext cx="502920" cy="0"/>
          </a:xfrm>
          <a:prstGeom prst="line">
            <a:avLst/>
          </a:prstGeom>
          <a:noFill/>
          <a:ln w="19050">
            <a:solidFill>
              <a:srgbClr val="C98A00"/>
            </a:solidFill>
            <a:prstDash val="solid"/>
            <a:tailEnd type="triangle"/>
          </a:ln>
        </p:spPr>
      </p:sp>
      <p:sp>
        <p:nvSpPr>
          <p:cNvPr id="48" name="Shape 46"/>
          <p:cNvSpPr/>
          <p:nvPr/>
        </p:nvSpPr>
        <p:spPr>
          <a:xfrm>
            <a:off x="9464040" y="4773168"/>
            <a:ext cx="2176272" cy="548640"/>
          </a:xfrm>
          <a:prstGeom prst="roundRect">
            <a:avLst>
              <a:gd name="adj" fmla="val 13333"/>
            </a:avLst>
          </a:prstGeom>
          <a:solidFill>
            <a:srgbClr val="16294A"/>
          </a:solidFill>
          <a:ln/>
        </p:spPr>
      </p:sp>
      <p:sp>
        <p:nvSpPr>
          <p:cNvPr id="49" name="Text 47"/>
          <p:cNvSpPr/>
          <p:nvPr/>
        </p:nvSpPr>
        <p:spPr>
          <a:xfrm>
            <a:off x="9464040" y="4773168"/>
            <a:ext cx="2176272"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Smart Streetlights</a:t>
            </a:r>
            <a:endParaRPr lang="en-US" sz="1200" dirty="0"/>
          </a:p>
        </p:txBody>
      </p:sp>
      <p:sp>
        <p:nvSpPr>
          <p:cNvPr id="50" name="Shape 48"/>
          <p:cNvSpPr/>
          <p:nvPr/>
        </p:nvSpPr>
        <p:spPr>
          <a:xfrm>
            <a:off x="548640" y="5669280"/>
            <a:ext cx="11091672" cy="685800"/>
          </a:xfrm>
          <a:prstGeom prst="roundRect">
            <a:avLst>
              <a:gd name="adj" fmla="val 10667"/>
            </a:avLst>
          </a:prstGeom>
          <a:solidFill>
            <a:srgbClr val="16294A"/>
          </a:solidFill>
          <a:ln/>
        </p:spPr>
      </p:sp>
      <p:sp>
        <p:nvSpPr>
          <p:cNvPr id="51" name="Text 49"/>
          <p:cNvSpPr/>
          <p:nvPr/>
        </p:nvSpPr>
        <p:spPr>
          <a:xfrm>
            <a:off x="822960" y="5669280"/>
            <a:ext cx="10607040" cy="685800"/>
          </a:xfrm>
          <a:prstGeom prst="rect">
            <a:avLst/>
          </a:prstGeom>
          <a:noFill/>
          <a:ln/>
        </p:spPr>
        <p:txBody>
          <a:bodyPr wrap="square" lIns="0" tIns="0" rIns="0" bIns="0" rtlCol="0" anchor="ctr"/>
          <a:lstStyle/>
          <a:p>
            <a:pPr indent="0" marL="0">
              <a:buNone/>
            </a:pPr>
            <a:r>
              <a:rPr lang="en-US" sz="1250" b="1" dirty="0">
                <a:solidFill>
                  <a:srgbClr val="FFB300"/>
                </a:solidFill>
                <a:latin typeface="Calibri" pitchFamily="34" charset="0"/>
                <a:ea typeface="Calibri" pitchFamily="34" charset="-122"/>
                <a:cs typeface="Calibri" pitchFamily="34" charset="-120"/>
              </a:rPr>
              <a:t>Privacy by design:  </a:t>
            </a:r>
            <a:pPr indent="0" marL="0">
              <a:buNone/>
            </a:pPr>
            <a:r>
              <a:rPr lang="en-US" sz="1250" dirty="0">
                <a:solidFill>
                  <a:srgbClr val="A8C6E8"/>
                </a:solidFill>
                <a:latin typeface="Calibri" pitchFamily="34" charset="0"/>
                <a:ea typeface="Calibri" pitchFamily="34" charset="-122"/>
                <a:cs typeface="Calibri" pitchFamily="34" charset="-120"/>
              </a:rPr>
              <a:t>all continuous analysis happens on the pole. Footage is encrypted and leaves the node only when a verified emergency occurs.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TECHNOLOGY</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Proven components, novel combination</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06</a:t>
            </a:r>
            <a:endParaRPr lang="en-US" sz="1100" dirty="0"/>
          </a:p>
        </p:txBody>
      </p:sp>
      <p:sp>
        <p:nvSpPr>
          <p:cNvPr id="8" name="Shape 6"/>
          <p:cNvSpPr/>
          <p:nvPr/>
        </p:nvSpPr>
        <p:spPr>
          <a:xfrm>
            <a:off x="548640" y="1600200"/>
            <a:ext cx="5468112" cy="4663440"/>
          </a:xfrm>
          <a:prstGeom prst="roundRect">
            <a:avLst>
              <a:gd name="adj" fmla="val 1569"/>
            </a:avLst>
          </a:prstGeom>
          <a:solidFill>
            <a:srgbClr val="16294A"/>
          </a:solidFill>
          <a:ln/>
        </p:spPr>
      </p:sp>
      <p:sp>
        <p:nvSpPr>
          <p:cNvPr id="9" name="Text 7"/>
          <p:cNvSpPr/>
          <p:nvPr/>
        </p:nvSpPr>
        <p:spPr>
          <a:xfrm>
            <a:off x="868680" y="1828800"/>
            <a:ext cx="4846320" cy="292608"/>
          </a:xfrm>
          <a:prstGeom prst="rect">
            <a:avLst/>
          </a:prstGeom>
          <a:noFill/>
          <a:ln/>
        </p:spPr>
        <p:txBody>
          <a:bodyPr wrap="square" lIns="0" tIns="0" rIns="0" bIns="0" rtlCol="0" anchor="ctr"/>
          <a:lstStyle/>
          <a:p>
            <a:pPr indent="0" marL="0">
              <a:buNone/>
            </a:pPr>
            <a:r>
              <a:rPr lang="en-US" sz="1300" b="1" spc="200" kern="0" dirty="0">
                <a:solidFill>
                  <a:srgbClr val="FFB300"/>
                </a:solidFill>
                <a:latin typeface="Calibri" pitchFamily="34" charset="0"/>
                <a:ea typeface="Calibri" pitchFamily="34" charset="-122"/>
                <a:cs typeface="Calibri" pitchFamily="34" charset="-120"/>
              </a:rPr>
              <a:t>HARDWARE — PER NODE</a:t>
            </a:r>
            <a:endParaRPr lang="en-US" sz="1300" dirty="0"/>
          </a:p>
        </p:txBody>
      </p:sp>
      <p:sp>
        <p:nvSpPr>
          <p:cNvPr id="10" name="Shape 8"/>
          <p:cNvSpPr/>
          <p:nvPr/>
        </p:nvSpPr>
        <p:spPr>
          <a:xfrm>
            <a:off x="857524" y="2329708"/>
            <a:ext cx="132039" cy="132039"/>
          </a:xfrm>
          <a:prstGeom prst="ellipse">
            <a:avLst/>
          </a:prstGeom>
          <a:solidFill>
            <a:srgbClr val="FFB300">
              <a:alpha val="12000"/>
            </a:srgbClr>
          </a:solidFill>
          <a:ln/>
        </p:spPr>
      </p:sp>
      <p:sp>
        <p:nvSpPr>
          <p:cNvPr id="11" name="Shape 9"/>
          <p:cNvSpPr/>
          <p:nvPr/>
        </p:nvSpPr>
        <p:spPr>
          <a:xfrm>
            <a:off x="876635" y="2348819"/>
            <a:ext cx="93817" cy="93817"/>
          </a:xfrm>
          <a:prstGeom prst="ellipse">
            <a:avLst/>
          </a:prstGeom>
          <a:solidFill>
            <a:srgbClr val="FFB300">
              <a:alpha val="28000"/>
            </a:srgbClr>
          </a:solidFill>
          <a:ln/>
        </p:spPr>
      </p:sp>
      <p:sp>
        <p:nvSpPr>
          <p:cNvPr id="12" name="Shape 10"/>
          <p:cNvSpPr/>
          <p:nvPr/>
        </p:nvSpPr>
        <p:spPr>
          <a:xfrm>
            <a:off x="888797" y="2360981"/>
            <a:ext cx="69494" cy="69494"/>
          </a:xfrm>
          <a:prstGeom prst="ellipse">
            <a:avLst/>
          </a:prstGeom>
          <a:solidFill>
            <a:srgbClr val="FFB300"/>
          </a:solidFill>
          <a:ln/>
        </p:spPr>
      </p:sp>
      <p:sp>
        <p:nvSpPr>
          <p:cNvPr id="13" name="Text 11"/>
          <p:cNvSpPr/>
          <p:nvPr/>
        </p:nvSpPr>
        <p:spPr>
          <a:xfrm>
            <a:off x="1088136" y="2240280"/>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AI camera (night-capable)</a:t>
            </a:r>
            <a:endParaRPr lang="en-US" sz="1100" dirty="0"/>
          </a:p>
        </p:txBody>
      </p:sp>
      <p:sp>
        <p:nvSpPr>
          <p:cNvPr id="14" name="Shape 12"/>
          <p:cNvSpPr/>
          <p:nvPr/>
        </p:nvSpPr>
        <p:spPr>
          <a:xfrm>
            <a:off x="3372124" y="2329708"/>
            <a:ext cx="132039" cy="132039"/>
          </a:xfrm>
          <a:prstGeom prst="ellipse">
            <a:avLst/>
          </a:prstGeom>
          <a:solidFill>
            <a:srgbClr val="FFB300">
              <a:alpha val="12000"/>
            </a:srgbClr>
          </a:solidFill>
          <a:ln/>
        </p:spPr>
      </p:sp>
      <p:sp>
        <p:nvSpPr>
          <p:cNvPr id="15" name="Shape 13"/>
          <p:cNvSpPr/>
          <p:nvPr/>
        </p:nvSpPr>
        <p:spPr>
          <a:xfrm>
            <a:off x="3391235" y="2348819"/>
            <a:ext cx="93817" cy="93817"/>
          </a:xfrm>
          <a:prstGeom prst="ellipse">
            <a:avLst/>
          </a:prstGeom>
          <a:solidFill>
            <a:srgbClr val="FFB300">
              <a:alpha val="28000"/>
            </a:srgbClr>
          </a:solidFill>
          <a:ln/>
        </p:spPr>
      </p:sp>
      <p:sp>
        <p:nvSpPr>
          <p:cNvPr id="16" name="Shape 14"/>
          <p:cNvSpPr/>
          <p:nvPr/>
        </p:nvSpPr>
        <p:spPr>
          <a:xfrm>
            <a:off x="3403397" y="2360981"/>
            <a:ext cx="69494" cy="69494"/>
          </a:xfrm>
          <a:prstGeom prst="ellipse">
            <a:avLst/>
          </a:prstGeom>
          <a:solidFill>
            <a:srgbClr val="FFB300"/>
          </a:solidFill>
          <a:ln/>
        </p:spPr>
      </p:sp>
      <p:sp>
        <p:nvSpPr>
          <p:cNvPr id="17" name="Text 15"/>
          <p:cNvSpPr/>
          <p:nvPr/>
        </p:nvSpPr>
        <p:spPr>
          <a:xfrm>
            <a:off x="3602736" y="2240280"/>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Microphone array</a:t>
            </a:r>
            <a:endParaRPr lang="en-US" sz="1100" dirty="0"/>
          </a:p>
        </p:txBody>
      </p:sp>
      <p:sp>
        <p:nvSpPr>
          <p:cNvPr id="18" name="Shape 16"/>
          <p:cNvSpPr/>
          <p:nvPr/>
        </p:nvSpPr>
        <p:spPr>
          <a:xfrm>
            <a:off x="857524" y="3079516"/>
            <a:ext cx="132039" cy="132039"/>
          </a:xfrm>
          <a:prstGeom prst="ellipse">
            <a:avLst/>
          </a:prstGeom>
          <a:solidFill>
            <a:srgbClr val="FFB300">
              <a:alpha val="12000"/>
            </a:srgbClr>
          </a:solidFill>
          <a:ln/>
        </p:spPr>
      </p:sp>
      <p:sp>
        <p:nvSpPr>
          <p:cNvPr id="19" name="Shape 17"/>
          <p:cNvSpPr/>
          <p:nvPr/>
        </p:nvSpPr>
        <p:spPr>
          <a:xfrm>
            <a:off x="876635" y="3098627"/>
            <a:ext cx="93817" cy="93817"/>
          </a:xfrm>
          <a:prstGeom prst="ellipse">
            <a:avLst/>
          </a:prstGeom>
          <a:solidFill>
            <a:srgbClr val="FFB300">
              <a:alpha val="28000"/>
            </a:srgbClr>
          </a:solidFill>
          <a:ln/>
        </p:spPr>
      </p:sp>
      <p:sp>
        <p:nvSpPr>
          <p:cNvPr id="20" name="Shape 18"/>
          <p:cNvSpPr/>
          <p:nvPr/>
        </p:nvSpPr>
        <p:spPr>
          <a:xfrm>
            <a:off x="888797" y="3110789"/>
            <a:ext cx="69494" cy="69494"/>
          </a:xfrm>
          <a:prstGeom prst="ellipse">
            <a:avLst/>
          </a:prstGeom>
          <a:solidFill>
            <a:srgbClr val="FFB300"/>
          </a:solidFill>
          <a:ln/>
        </p:spPr>
      </p:sp>
      <p:sp>
        <p:nvSpPr>
          <p:cNvPr id="21" name="Text 19"/>
          <p:cNvSpPr/>
          <p:nvPr/>
        </p:nvSpPr>
        <p:spPr>
          <a:xfrm>
            <a:off x="1088136" y="2990088"/>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Vibration / impact sensor</a:t>
            </a:r>
            <a:endParaRPr lang="en-US" sz="1100" dirty="0"/>
          </a:p>
        </p:txBody>
      </p:sp>
      <p:sp>
        <p:nvSpPr>
          <p:cNvPr id="22" name="Shape 20"/>
          <p:cNvSpPr/>
          <p:nvPr/>
        </p:nvSpPr>
        <p:spPr>
          <a:xfrm>
            <a:off x="3372124" y="3079516"/>
            <a:ext cx="132039" cy="132039"/>
          </a:xfrm>
          <a:prstGeom prst="ellipse">
            <a:avLst/>
          </a:prstGeom>
          <a:solidFill>
            <a:srgbClr val="FFB300">
              <a:alpha val="12000"/>
            </a:srgbClr>
          </a:solidFill>
          <a:ln/>
        </p:spPr>
      </p:sp>
      <p:sp>
        <p:nvSpPr>
          <p:cNvPr id="23" name="Shape 21"/>
          <p:cNvSpPr/>
          <p:nvPr/>
        </p:nvSpPr>
        <p:spPr>
          <a:xfrm>
            <a:off x="3391235" y="3098627"/>
            <a:ext cx="93817" cy="93817"/>
          </a:xfrm>
          <a:prstGeom prst="ellipse">
            <a:avLst/>
          </a:prstGeom>
          <a:solidFill>
            <a:srgbClr val="FFB300">
              <a:alpha val="28000"/>
            </a:srgbClr>
          </a:solidFill>
          <a:ln/>
        </p:spPr>
      </p:sp>
      <p:sp>
        <p:nvSpPr>
          <p:cNvPr id="24" name="Shape 22"/>
          <p:cNvSpPr/>
          <p:nvPr/>
        </p:nvSpPr>
        <p:spPr>
          <a:xfrm>
            <a:off x="3403397" y="3110789"/>
            <a:ext cx="69494" cy="69494"/>
          </a:xfrm>
          <a:prstGeom prst="ellipse">
            <a:avLst/>
          </a:prstGeom>
          <a:solidFill>
            <a:srgbClr val="FFB300"/>
          </a:solidFill>
          <a:ln/>
        </p:spPr>
      </p:sp>
      <p:sp>
        <p:nvSpPr>
          <p:cNvPr id="25" name="Text 23"/>
          <p:cNvSpPr/>
          <p:nvPr/>
        </p:nvSpPr>
        <p:spPr>
          <a:xfrm>
            <a:off x="3602736" y="2990088"/>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GPS module</a:t>
            </a:r>
            <a:endParaRPr lang="en-US" sz="1100" dirty="0"/>
          </a:p>
        </p:txBody>
      </p:sp>
      <p:sp>
        <p:nvSpPr>
          <p:cNvPr id="26" name="Shape 24"/>
          <p:cNvSpPr/>
          <p:nvPr/>
        </p:nvSpPr>
        <p:spPr>
          <a:xfrm>
            <a:off x="857524" y="3829324"/>
            <a:ext cx="132039" cy="132039"/>
          </a:xfrm>
          <a:prstGeom prst="ellipse">
            <a:avLst/>
          </a:prstGeom>
          <a:solidFill>
            <a:srgbClr val="FFB300">
              <a:alpha val="12000"/>
            </a:srgbClr>
          </a:solidFill>
          <a:ln/>
        </p:spPr>
      </p:sp>
      <p:sp>
        <p:nvSpPr>
          <p:cNvPr id="27" name="Shape 25"/>
          <p:cNvSpPr/>
          <p:nvPr/>
        </p:nvSpPr>
        <p:spPr>
          <a:xfrm>
            <a:off x="876635" y="3848435"/>
            <a:ext cx="93817" cy="93817"/>
          </a:xfrm>
          <a:prstGeom prst="ellipse">
            <a:avLst/>
          </a:prstGeom>
          <a:solidFill>
            <a:srgbClr val="FFB300">
              <a:alpha val="28000"/>
            </a:srgbClr>
          </a:solidFill>
          <a:ln/>
        </p:spPr>
      </p:sp>
      <p:sp>
        <p:nvSpPr>
          <p:cNvPr id="28" name="Shape 26"/>
          <p:cNvSpPr/>
          <p:nvPr/>
        </p:nvSpPr>
        <p:spPr>
          <a:xfrm>
            <a:off x="888797" y="3860597"/>
            <a:ext cx="69494" cy="69494"/>
          </a:xfrm>
          <a:prstGeom prst="ellipse">
            <a:avLst/>
          </a:prstGeom>
          <a:solidFill>
            <a:srgbClr val="FFB300"/>
          </a:solidFill>
          <a:ln/>
        </p:spPr>
      </p:sp>
      <p:sp>
        <p:nvSpPr>
          <p:cNvPr id="29" name="Text 27"/>
          <p:cNvSpPr/>
          <p:nvPr/>
        </p:nvSpPr>
        <p:spPr>
          <a:xfrm>
            <a:off x="1088136" y="3739896"/>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Physical SOS button</a:t>
            </a:r>
            <a:endParaRPr lang="en-US" sz="1100" dirty="0"/>
          </a:p>
        </p:txBody>
      </p:sp>
      <p:sp>
        <p:nvSpPr>
          <p:cNvPr id="30" name="Shape 28"/>
          <p:cNvSpPr/>
          <p:nvPr/>
        </p:nvSpPr>
        <p:spPr>
          <a:xfrm>
            <a:off x="3372124" y="3829324"/>
            <a:ext cx="132039" cy="132039"/>
          </a:xfrm>
          <a:prstGeom prst="ellipse">
            <a:avLst/>
          </a:prstGeom>
          <a:solidFill>
            <a:srgbClr val="FFB300">
              <a:alpha val="12000"/>
            </a:srgbClr>
          </a:solidFill>
          <a:ln/>
        </p:spPr>
      </p:sp>
      <p:sp>
        <p:nvSpPr>
          <p:cNvPr id="31" name="Shape 29"/>
          <p:cNvSpPr/>
          <p:nvPr/>
        </p:nvSpPr>
        <p:spPr>
          <a:xfrm>
            <a:off x="3391235" y="3848435"/>
            <a:ext cx="93817" cy="93817"/>
          </a:xfrm>
          <a:prstGeom prst="ellipse">
            <a:avLst/>
          </a:prstGeom>
          <a:solidFill>
            <a:srgbClr val="FFB300">
              <a:alpha val="28000"/>
            </a:srgbClr>
          </a:solidFill>
          <a:ln/>
        </p:spPr>
      </p:sp>
      <p:sp>
        <p:nvSpPr>
          <p:cNvPr id="32" name="Shape 30"/>
          <p:cNvSpPr/>
          <p:nvPr/>
        </p:nvSpPr>
        <p:spPr>
          <a:xfrm>
            <a:off x="3403397" y="3860597"/>
            <a:ext cx="69494" cy="69494"/>
          </a:xfrm>
          <a:prstGeom prst="ellipse">
            <a:avLst/>
          </a:prstGeom>
          <a:solidFill>
            <a:srgbClr val="FFB300"/>
          </a:solidFill>
          <a:ln/>
        </p:spPr>
      </p:sp>
      <p:sp>
        <p:nvSpPr>
          <p:cNvPr id="33" name="Text 31"/>
          <p:cNvSpPr/>
          <p:nvPr/>
        </p:nvSpPr>
        <p:spPr>
          <a:xfrm>
            <a:off x="3602736" y="3739896"/>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Emergency LED floodlight</a:t>
            </a:r>
            <a:endParaRPr lang="en-US" sz="1100" dirty="0"/>
          </a:p>
        </p:txBody>
      </p:sp>
      <p:sp>
        <p:nvSpPr>
          <p:cNvPr id="34" name="Shape 32"/>
          <p:cNvSpPr/>
          <p:nvPr/>
        </p:nvSpPr>
        <p:spPr>
          <a:xfrm>
            <a:off x="857524" y="4579132"/>
            <a:ext cx="132039" cy="132039"/>
          </a:xfrm>
          <a:prstGeom prst="ellipse">
            <a:avLst/>
          </a:prstGeom>
          <a:solidFill>
            <a:srgbClr val="FFB300">
              <a:alpha val="12000"/>
            </a:srgbClr>
          </a:solidFill>
          <a:ln/>
        </p:spPr>
      </p:sp>
      <p:sp>
        <p:nvSpPr>
          <p:cNvPr id="35" name="Shape 33"/>
          <p:cNvSpPr/>
          <p:nvPr/>
        </p:nvSpPr>
        <p:spPr>
          <a:xfrm>
            <a:off x="876635" y="4598243"/>
            <a:ext cx="93817" cy="93817"/>
          </a:xfrm>
          <a:prstGeom prst="ellipse">
            <a:avLst/>
          </a:prstGeom>
          <a:solidFill>
            <a:srgbClr val="FFB300">
              <a:alpha val="28000"/>
            </a:srgbClr>
          </a:solidFill>
          <a:ln/>
        </p:spPr>
      </p:sp>
      <p:sp>
        <p:nvSpPr>
          <p:cNvPr id="36" name="Shape 34"/>
          <p:cNvSpPr/>
          <p:nvPr/>
        </p:nvSpPr>
        <p:spPr>
          <a:xfrm>
            <a:off x="888797" y="4610405"/>
            <a:ext cx="69494" cy="69494"/>
          </a:xfrm>
          <a:prstGeom prst="ellipse">
            <a:avLst/>
          </a:prstGeom>
          <a:solidFill>
            <a:srgbClr val="FFB300"/>
          </a:solidFill>
          <a:ln/>
        </p:spPr>
      </p:sp>
      <p:sp>
        <p:nvSpPr>
          <p:cNvPr id="37" name="Text 35"/>
          <p:cNvSpPr/>
          <p:nvPr/>
        </p:nvSpPr>
        <p:spPr>
          <a:xfrm>
            <a:off x="1088136" y="4489704"/>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Public-address speaker</a:t>
            </a:r>
            <a:endParaRPr lang="en-US" sz="1100" dirty="0"/>
          </a:p>
        </p:txBody>
      </p:sp>
      <p:sp>
        <p:nvSpPr>
          <p:cNvPr id="38" name="Shape 36"/>
          <p:cNvSpPr/>
          <p:nvPr/>
        </p:nvSpPr>
        <p:spPr>
          <a:xfrm>
            <a:off x="3372124" y="4579132"/>
            <a:ext cx="132039" cy="132039"/>
          </a:xfrm>
          <a:prstGeom prst="ellipse">
            <a:avLst/>
          </a:prstGeom>
          <a:solidFill>
            <a:srgbClr val="FFB300">
              <a:alpha val="12000"/>
            </a:srgbClr>
          </a:solidFill>
          <a:ln/>
        </p:spPr>
      </p:sp>
      <p:sp>
        <p:nvSpPr>
          <p:cNvPr id="39" name="Shape 37"/>
          <p:cNvSpPr/>
          <p:nvPr/>
        </p:nvSpPr>
        <p:spPr>
          <a:xfrm>
            <a:off x="3391235" y="4598243"/>
            <a:ext cx="93817" cy="93817"/>
          </a:xfrm>
          <a:prstGeom prst="ellipse">
            <a:avLst/>
          </a:prstGeom>
          <a:solidFill>
            <a:srgbClr val="FFB300">
              <a:alpha val="28000"/>
            </a:srgbClr>
          </a:solidFill>
          <a:ln/>
        </p:spPr>
      </p:sp>
      <p:sp>
        <p:nvSpPr>
          <p:cNvPr id="40" name="Shape 38"/>
          <p:cNvSpPr/>
          <p:nvPr/>
        </p:nvSpPr>
        <p:spPr>
          <a:xfrm>
            <a:off x="3403397" y="4610405"/>
            <a:ext cx="69494" cy="69494"/>
          </a:xfrm>
          <a:prstGeom prst="ellipse">
            <a:avLst/>
          </a:prstGeom>
          <a:solidFill>
            <a:srgbClr val="FFB300"/>
          </a:solidFill>
          <a:ln/>
        </p:spPr>
      </p:sp>
      <p:sp>
        <p:nvSpPr>
          <p:cNvPr id="41" name="Text 39"/>
          <p:cNvSpPr/>
          <p:nvPr/>
        </p:nvSpPr>
        <p:spPr>
          <a:xfrm>
            <a:off x="3602736" y="4489704"/>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Edge AI processor (Jetson-class)</a:t>
            </a:r>
            <a:endParaRPr lang="en-US" sz="1100" dirty="0"/>
          </a:p>
        </p:txBody>
      </p:sp>
      <p:sp>
        <p:nvSpPr>
          <p:cNvPr id="42" name="Shape 40"/>
          <p:cNvSpPr/>
          <p:nvPr/>
        </p:nvSpPr>
        <p:spPr>
          <a:xfrm>
            <a:off x="857524" y="5328940"/>
            <a:ext cx="132039" cy="132039"/>
          </a:xfrm>
          <a:prstGeom prst="ellipse">
            <a:avLst/>
          </a:prstGeom>
          <a:solidFill>
            <a:srgbClr val="FFB300">
              <a:alpha val="12000"/>
            </a:srgbClr>
          </a:solidFill>
          <a:ln/>
        </p:spPr>
      </p:sp>
      <p:sp>
        <p:nvSpPr>
          <p:cNvPr id="43" name="Shape 41"/>
          <p:cNvSpPr/>
          <p:nvPr/>
        </p:nvSpPr>
        <p:spPr>
          <a:xfrm>
            <a:off x="876635" y="5348051"/>
            <a:ext cx="93817" cy="93817"/>
          </a:xfrm>
          <a:prstGeom prst="ellipse">
            <a:avLst/>
          </a:prstGeom>
          <a:solidFill>
            <a:srgbClr val="FFB300">
              <a:alpha val="28000"/>
            </a:srgbClr>
          </a:solidFill>
          <a:ln/>
        </p:spPr>
      </p:sp>
      <p:sp>
        <p:nvSpPr>
          <p:cNvPr id="44" name="Shape 42"/>
          <p:cNvSpPr/>
          <p:nvPr/>
        </p:nvSpPr>
        <p:spPr>
          <a:xfrm>
            <a:off x="888797" y="5360213"/>
            <a:ext cx="69494" cy="69494"/>
          </a:xfrm>
          <a:prstGeom prst="ellipse">
            <a:avLst/>
          </a:prstGeom>
          <a:solidFill>
            <a:srgbClr val="FFB300"/>
          </a:solidFill>
          <a:ln/>
        </p:spPr>
      </p:sp>
      <p:sp>
        <p:nvSpPr>
          <p:cNvPr id="45" name="Text 43"/>
          <p:cNvSpPr/>
          <p:nvPr/>
        </p:nvSpPr>
        <p:spPr>
          <a:xfrm>
            <a:off x="1088136" y="5239512"/>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IoT mesh radio (LoRa / NB-IoT)</a:t>
            </a:r>
            <a:endParaRPr lang="en-US" sz="1100" dirty="0"/>
          </a:p>
        </p:txBody>
      </p:sp>
      <p:sp>
        <p:nvSpPr>
          <p:cNvPr id="46" name="Shape 44"/>
          <p:cNvSpPr/>
          <p:nvPr/>
        </p:nvSpPr>
        <p:spPr>
          <a:xfrm>
            <a:off x="3372124" y="5328940"/>
            <a:ext cx="132039" cy="132039"/>
          </a:xfrm>
          <a:prstGeom prst="ellipse">
            <a:avLst/>
          </a:prstGeom>
          <a:solidFill>
            <a:srgbClr val="FFB300">
              <a:alpha val="12000"/>
            </a:srgbClr>
          </a:solidFill>
          <a:ln/>
        </p:spPr>
      </p:sp>
      <p:sp>
        <p:nvSpPr>
          <p:cNvPr id="47" name="Shape 45"/>
          <p:cNvSpPr/>
          <p:nvPr/>
        </p:nvSpPr>
        <p:spPr>
          <a:xfrm>
            <a:off x="3391235" y="5348051"/>
            <a:ext cx="93817" cy="93817"/>
          </a:xfrm>
          <a:prstGeom prst="ellipse">
            <a:avLst/>
          </a:prstGeom>
          <a:solidFill>
            <a:srgbClr val="FFB300">
              <a:alpha val="28000"/>
            </a:srgbClr>
          </a:solidFill>
          <a:ln/>
        </p:spPr>
      </p:sp>
      <p:sp>
        <p:nvSpPr>
          <p:cNvPr id="48" name="Shape 46"/>
          <p:cNvSpPr/>
          <p:nvPr/>
        </p:nvSpPr>
        <p:spPr>
          <a:xfrm>
            <a:off x="3403397" y="5360213"/>
            <a:ext cx="69494" cy="69494"/>
          </a:xfrm>
          <a:prstGeom prst="ellipse">
            <a:avLst/>
          </a:prstGeom>
          <a:solidFill>
            <a:srgbClr val="FFB300"/>
          </a:solidFill>
          <a:ln/>
        </p:spPr>
      </p:sp>
      <p:sp>
        <p:nvSpPr>
          <p:cNvPr id="49" name="Text 47"/>
          <p:cNvSpPr/>
          <p:nvPr/>
        </p:nvSpPr>
        <p:spPr>
          <a:xfrm>
            <a:off x="3602736" y="5239512"/>
            <a:ext cx="2286000" cy="6858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Backup battery (8+ hr)</a:t>
            </a:r>
            <a:endParaRPr lang="en-US" sz="1100" dirty="0"/>
          </a:p>
        </p:txBody>
      </p:sp>
      <p:sp>
        <p:nvSpPr>
          <p:cNvPr id="50" name="Shape 48"/>
          <p:cNvSpPr/>
          <p:nvPr/>
        </p:nvSpPr>
        <p:spPr>
          <a:xfrm>
            <a:off x="6172200" y="1600200"/>
            <a:ext cx="5468112" cy="4663440"/>
          </a:xfrm>
          <a:prstGeom prst="roundRect">
            <a:avLst>
              <a:gd name="adj" fmla="val 1569"/>
            </a:avLst>
          </a:prstGeom>
          <a:solidFill>
            <a:srgbClr val="16294A"/>
          </a:solidFill>
          <a:ln/>
        </p:spPr>
      </p:sp>
      <p:sp>
        <p:nvSpPr>
          <p:cNvPr id="51" name="Text 49"/>
          <p:cNvSpPr/>
          <p:nvPr/>
        </p:nvSpPr>
        <p:spPr>
          <a:xfrm>
            <a:off x="6492240" y="1828800"/>
            <a:ext cx="4846320" cy="292608"/>
          </a:xfrm>
          <a:prstGeom prst="rect">
            <a:avLst/>
          </a:prstGeom>
          <a:noFill/>
          <a:ln/>
        </p:spPr>
        <p:txBody>
          <a:bodyPr wrap="square" lIns="0" tIns="0" rIns="0" bIns="0" rtlCol="0" anchor="ctr"/>
          <a:lstStyle/>
          <a:p>
            <a:pPr indent="0" marL="0">
              <a:buNone/>
            </a:pPr>
            <a:r>
              <a:rPr lang="en-US" sz="1300" b="1" spc="200" kern="0" dirty="0">
                <a:solidFill>
                  <a:srgbClr val="FFB300"/>
                </a:solidFill>
                <a:latin typeface="Calibri" pitchFamily="34" charset="0"/>
                <a:ea typeface="Calibri" pitchFamily="34" charset="-122"/>
                <a:cs typeface="Calibri" pitchFamily="34" charset="-120"/>
              </a:rPr>
              <a:t>SOFTWARE &amp; AI</a:t>
            </a:r>
            <a:endParaRPr lang="en-US" sz="1300" dirty="0"/>
          </a:p>
        </p:txBody>
      </p:sp>
      <p:sp>
        <p:nvSpPr>
          <p:cNvPr id="52" name="Text 50"/>
          <p:cNvSpPr/>
          <p:nvPr/>
        </p:nvSpPr>
        <p:spPr>
          <a:xfrm>
            <a:off x="6492240" y="2286000"/>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 Vision</a:t>
            </a:r>
            <a:pPr indent="0" marL="0">
              <a:buNone/>
            </a:pPr>
            <a:r>
              <a:rPr lang="en-US" sz="1150" dirty="0">
                <a:solidFill>
                  <a:srgbClr val="A8C6E8"/>
                </a:solidFill>
                <a:latin typeface="Calibri" pitchFamily="34" charset="0"/>
                <a:ea typeface="Calibri" pitchFamily="34" charset="-122"/>
                <a:cs typeface="Calibri" pitchFamily="34" charset="-120"/>
              </a:rPr>
              <a:t>   YOLO, OpenCV, TensorFlow, Edge Impulse (TinyML)</a:t>
            </a:r>
            <a:endParaRPr lang="en-US" sz="1150" dirty="0"/>
          </a:p>
        </p:txBody>
      </p:sp>
      <p:sp>
        <p:nvSpPr>
          <p:cNvPr id="53" name="Text 51"/>
          <p:cNvSpPr/>
          <p:nvPr/>
        </p:nvSpPr>
        <p:spPr>
          <a:xfrm>
            <a:off x="6492240" y="2770632"/>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Edge runtime</a:t>
            </a:r>
            <a:pPr indent="0" marL="0">
              <a:buNone/>
            </a:pPr>
            <a:r>
              <a:rPr lang="en-US" sz="1150" dirty="0">
                <a:solidFill>
                  <a:srgbClr val="A8C6E8"/>
                </a:solidFill>
                <a:latin typeface="Calibri" pitchFamily="34" charset="0"/>
                <a:ea typeface="Calibri" pitchFamily="34" charset="-122"/>
                <a:cs typeface="Calibri" pitchFamily="34" charset="-120"/>
              </a:rPr>
              <a:t>   On-device inference; event-only cloud sync</a:t>
            </a:r>
            <a:endParaRPr lang="en-US" sz="1150" dirty="0"/>
          </a:p>
        </p:txBody>
      </p:sp>
      <p:sp>
        <p:nvSpPr>
          <p:cNvPr id="54" name="Text 52"/>
          <p:cNvSpPr/>
          <p:nvPr/>
        </p:nvSpPr>
        <p:spPr>
          <a:xfrm>
            <a:off x="6492240" y="3255264"/>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Backend</a:t>
            </a:r>
            <a:pPr indent="0" marL="0">
              <a:buNone/>
            </a:pPr>
            <a:r>
              <a:rPr lang="en-US" sz="1150" dirty="0">
                <a:solidFill>
                  <a:srgbClr val="A8C6E8"/>
                </a:solidFill>
                <a:latin typeface="Calibri" pitchFamily="34" charset="0"/>
                <a:ea typeface="Calibri" pitchFamily="34" charset="-122"/>
                <a:cs typeface="Calibri" pitchFamily="34" charset="-120"/>
              </a:rPr>
              <a:t>   Node.js + Express REST APIs</a:t>
            </a:r>
            <a:endParaRPr lang="en-US" sz="1150" dirty="0"/>
          </a:p>
        </p:txBody>
      </p:sp>
      <p:sp>
        <p:nvSpPr>
          <p:cNvPr id="55" name="Text 53"/>
          <p:cNvSpPr/>
          <p:nvPr/>
        </p:nvSpPr>
        <p:spPr>
          <a:xfrm>
            <a:off x="6492240" y="3739896"/>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Database</a:t>
            </a:r>
            <a:pPr indent="0" marL="0">
              <a:buNone/>
            </a:pPr>
            <a:r>
              <a:rPr lang="en-US" sz="1150" dirty="0">
                <a:solidFill>
                  <a:srgbClr val="A8C6E8"/>
                </a:solidFill>
                <a:latin typeface="Calibri" pitchFamily="34" charset="0"/>
                <a:ea typeface="Calibri" pitchFamily="34" charset="-122"/>
                <a:cs typeface="Calibri" pitchFamily="34" charset="-120"/>
              </a:rPr>
              <a:t>   MongoDB (events, nodes, analytics)</a:t>
            </a:r>
            <a:endParaRPr lang="en-US" sz="1150" dirty="0"/>
          </a:p>
        </p:txBody>
      </p:sp>
      <p:sp>
        <p:nvSpPr>
          <p:cNvPr id="56" name="Text 54"/>
          <p:cNvSpPr/>
          <p:nvPr/>
        </p:nvSpPr>
        <p:spPr>
          <a:xfrm>
            <a:off x="6492240" y="4224528"/>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Dashboard</a:t>
            </a:r>
            <a:pPr indent="0" marL="0">
              <a:buNone/>
            </a:pPr>
            <a:r>
              <a:rPr lang="en-US" sz="1150" dirty="0">
                <a:solidFill>
                  <a:srgbClr val="A8C6E8"/>
                </a:solidFill>
                <a:latin typeface="Calibri" pitchFamily="34" charset="0"/>
                <a:ea typeface="Calibri" pitchFamily="34" charset="-122"/>
                <a:cs typeface="Calibri" pitchFamily="34" charset="-120"/>
              </a:rPr>
              <a:t>   React + Tailwind CSS control room</a:t>
            </a:r>
            <a:endParaRPr lang="en-US" sz="1150" dirty="0"/>
          </a:p>
        </p:txBody>
      </p:sp>
      <p:sp>
        <p:nvSpPr>
          <p:cNvPr id="57" name="Text 55"/>
          <p:cNvSpPr/>
          <p:nvPr/>
        </p:nvSpPr>
        <p:spPr>
          <a:xfrm>
            <a:off x="6492240" y="4709160"/>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Cloud</a:t>
            </a:r>
            <a:pPr indent="0" marL="0">
              <a:buNone/>
            </a:pPr>
            <a:r>
              <a:rPr lang="en-US" sz="1150" dirty="0">
                <a:solidFill>
                  <a:srgbClr val="A8C6E8"/>
                </a:solidFill>
                <a:latin typeface="Calibri" pitchFamily="34" charset="0"/>
                <a:ea typeface="Calibri" pitchFamily="34" charset="-122"/>
                <a:cs typeface="Calibri" pitchFamily="34" charset="-120"/>
              </a:rPr>
              <a:t>   AWS (IoT Core, S3 evidence vault)</a:t>
            </a:r>
            <a:endParaRPr lang="en-US" sz="1150" dirty="0"/>
          </a:p>
        </p:txBody>
      </p:sp>
      <p:sp>
        <p:nvSpPr>
          <p:cNvPr id="58" name="Text 56"/>
          <p:cNvSpPr/>
          <p:nvPr/>
        </p:nvSpPr>
        <p:spPr>
          <a:xfrm>
            <a:off x="6492240" y="5193792"/>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Alerts</a:t>
            </a:r>
            <a:pPr indent="0" marL="0">
              <a:buNone/>
            </a:pPr>
            <a:r>
              <a:rPr lang="en-US" sz="1150" dirty="0">
                <a:solidFill>
                  <a:srgbClr val="A8C6E8"/>
                </a:solidFill>
                <a:latin typeface="Calibri" pitchFamily="34" charset="0"/>
                <a:ea typeface="Calibri" pitchFamily="34" charset="-122"/>
                <a:cs typeface="Calibri" pitchFamily="34" charset="-120"/>
              </a:rPr>
              <a:t>   Firebase push + SMS gateway to 112/108</a:t>
            </a:r>
            <a:endParaRPr lang="en-US" sz="1150" dirty="0"/>
          </a:p>
        </p:txBody>
      </p:sp>
      <p:sp>
        <p:nvSpPr>
          <p:cNvPr id="59" name="Text 57"/>
          <p:cNvSpPr/>
          <p:nvPr/>
        </p:nvSpPr>
        <p:spPr>
          <a:xfrm>
            <a:off x="6492240" y="5678424"/>
            <a:ext cx="4892040" cy="45720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Mapping</a:t>
            </a:r>
            <a:pPr indent="0" marL="0">
              <a:buNone/>
            </a:pPr>
            <a:r>
              <a:rPr lang="en-US" sz="1150" dirty="0">
                <a:solidFill>
                  <a:srgbClr val="A8C6E8"/>
                </a:solidFill>
                <a:latin typeface="Calibri" pitchFamily="34" charset="0"/>
                <a:ea typeface="Calibri" pitchFamily="34" charset="-122"/>
                <a:cs typeface="Calibri" pitchFamily="34" charset="-120"/>
              </a:rPr>
              <a:t>   Google Maps — live node + incident map</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INNOVATION</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Records vs. responds</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07</a:t>
            </a:r>
            <a:endParaRPr lang="en-US" sz="1100" dirty="0"/>
          </a:p>
        </p:txBody>
      </p:sp>
      <p:sp>
        <p:nvSpPr>
          <p:cNvPr id="8" name="Text 6"/>
          <p:cNvSpPr/>
          <p:nvPr/>
        </p:nvSpPr>
        <p:spPr>
          <a:xfrm>
            <a:off x="685800" y="1600200"/>
            <a:ext cx="4480560" cy="566928"/>
          </a:xfrm>
          <a:prstGeom prst="rect">
            <a:avLst/>
          </a:prstGeom>
          <a:noFill/>
          <a:ln/>
        </p:spPr>
        <p:txBody>
          <a:bodyPr wrap="square" lIns="0" tIns="0" rIns="0" bIns="0" rtlCol="0" anchor="ctr"/>
          <a:lstStyle/>
          <a:p>
            <a:pPr algn="l" indent="0" marL="0">
              <a:buNone/>
            </a:pPr>
            <a:endParaRPr lang="en-US" sz="1300" dirty="0"/>
          </a:p>
        </p:txBody>
      </p:sp>
      <p:sp>
        <p:nvSpPr>
          <p:cNvPr id="9" name="Text 7"/>
          <p:cNvSpPr/>
          <p:nvPr/>
        </p:nvSpPr>
        <p:spPr>
          <a:xfrm>
            <a:off x="5120640" y="1600200"/>
            <a:ext cx="1325880" cy="566928"/>
          </a:xfrm>
          <a:prstGeom prst="rect">
            <a:avLst/>
          </a:prstGeom>
          <a:noFill/>
          <a:ln/>
        </p:spPr>
        <p:txBody>
          <a:bodyPr wrap="square" lIns="0" tIns="0" rIns="0" bIns="0" rtlCol="0" anchor="ctr"/>
          <a:lstStyle/>
          <a:p>
            <a:pPr algn="ctr" indent="0" marL="0">
              <a:buNone/>
            </a:pPr>
            <a:r>
              <a:rPr lang="en-US" sz="1300" b="1" dirty="0">
                <a:solidFill>
                  <a:srgbClr val="A8C6E8"/>
                </a:solidFill>
                <a:latin typeface="Calibri" pitchFamily="34" charset="0"/>
                <a:ea typeface="Calibri" pitchFamily="34" charset="-122"/>
                <a:cs typeface="Calibri" pitchFamily="34" charset="-120"/>
              </a:rPr>
              <a:t>CCTV</a:t>
            </a:r>
            <a:endParaRPr lang="en-US" sz="1300" dirty="0"/>
          </a:p>
        </p:txBody>
      </p:sp>
      <p:sp>
        <p:nvSpPr>
          <p:cNvPr id="10" name="Text 8"/>
          <p:cNvSpPr/>
          <p:nvPr/>
        </p:nvSpPr>
        <p:spPr>
          <a:xfrm>
            <a:off x="6537960" y="1600200"/>
            <a:ext cx="1325880" cy="566928"/>
          </a:xfrm>
          <a:prstGeom prst="rect">
            <a:avLst/>
          </a:prstGeom>
          <a:noFill/>
          <a:ln/>
        </p:spPr>
        <p:txBody>
          <a:bodyPr wrap="square" lIns="0" tIns="0" rIns="0" bIns="0" rtlCol="0" anchor="ctr"/>
          <a:lstStyle/>
          <a:p>
            <a:pPr algn="ctr" indent="0" marL="0">
              <a:buNone/>
            </a:pPr>
            <a:r>
              <a:rPr lang="en-US" sz="1300" b="1" dirty="0">
                <a:solidFill>
                  <a:srgbClr val="A8C6E8"/>
                </a:solidFill>
                <a:latin typeface="Calibri" pitchFamily="34" charset="0"/>
                <a:ea typeface="Calibri" pitchFamily="34" charset="-122"/>
                <a:cs typeface="Calibri" pitchFamily="34" charset="-120"/>
              </a:rPr>
              <a:t>SOS Apps</a:t>
            </a:r>
            <a:endParaRPr lang="en-US" sz="1300" dirty="0"/>
          </a:p>
        </p:txBody>
      </p:sp>
      <p:sp>
        <p:nvSpPr>
          <p:cNvPr id="11" name="Text 9"/>
          <p:cNvSpPr/>
          <p:nvPr/>
        </p:nvSpPr>
        <p:spPr>
          <a:xfrm>
            <a:off x="7955280" y="1600200"/>
            <a:ext cx="1463040" cy="566928"/>
          </a:xfrm>
          <a:prstGeom prst="rect">
            <a:avLst/>
          </a:prstGeom>
          <a:noFill/>
          <a:ln/>
        </p:spPr>
        <p:txBody>
          <a:bodyPr wrap="square" lIns="0" tIns="0" rIns="0" bIns="0" rtlCol="0" anchor="ctr"/>
          <a:lstStyle/>
          <a:p>
            <a:pPr algn="ctr" indent="0" marL="0">
              <a:buNone/>
            </a:pPr>
            <a:r>
              <a:rPr lang="en-US" sz="1300" b="1" dirty="0">
                <a:solidFill>
                  <a:srgbClr val="FFB300"/>
                </a:solidFill>
                <a:latin typeface="Calibri" pitchFamily="34" charset="0"/>
                <a:ea typeface="Calibri" pitchFamily="34" charset="-122"/>
                <a:cs typeface="Calibri" pitchFamily="34" charset="-120"/>
              </a:rPr>
              <a:t>SentinelAI</a:t>
            </a:r>
            <a:endParaRPr lang="en-US" sz="1300" dirty="0"/>
          </a:p>
        </p:txBody>
      </p:sp>
      <p:sp>
        <p:nvSpPr>
          <p:cNvPr id="12" name="Shape 10"/>
          <p:cNvSpPr/>
          <p:nvPr/>
        </p:nvSpPr>
        <p:spPr>
          <a:xfrm>
            <a:off x="548640" y="2167128"/>
            <a:ext cx="8869680" cy="566928"/>
          </a:xfrm>
          <a:prstGeom prst="rect">
            <a:avLst/>
          </a:prstGeom>
          <a:solidFill>
            <a:srgbClr val="16294A">
              <a:alpha val="60000"/>
            </a:srgbClr>
          </a:solidFill>
          <a:ln/>
        </p:spPr>
      </p:sp>
      <p:sp>
        <p:nvSpPr>
          <p:cNvPr id="13" name="Text 11"/>
          <p:cNvSpPr/>
          <p:nvPr/>
        </p:nvSpPr>
        <p:spPr>
          <a:xfrm>
            <a:off x="685800" y="2167128"/>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Detects incidents automatically</a:t>
            </a:r>
            <a:endParaRPr lang="en-US" sz="1250" dirty="0"/>
          </a:p>
        </p:txBody>
      </p:sp>
      <p:sp>
        <p:nvSpPr>
          <p:cNvPr id="14" name="Text 12"/>
          <p:cNvSpPr/>
          <p:nvPr/>
        </p:nvSpPr>
        <p:spPr>
          <a:xfrm>
            <a:off x="5120640" y="2167128"/>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15" name="Text 13"/>
          <p:cNvSpPr/>
          <p:nvPr/>
        </p:nvSpPr>
        <p:spPr>
          <a:xfrm>
            <a:off x="6537960" y="2167128"/>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16" name="Text 14"/>
          <p:cNvSpPr/>
          <p:nvPr/>
        </p:nvSpPr>
        <p:spPr>
          <a:xfrm>
            <a:off x="7955280" y="2167128"/>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685800" y="2734056"/>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Works when victim is unconscious</a:t>
            </a:r>
            <a:endParaRPr lang="en-US" sz="1250" dirty="0"/>
          </a:p>
        </p:txBody>
      </p:sp>
      <p:sp>
        <p:nvSpPr>
          <p:cNvPr id="18" name="Text 16"/>
          <p:cNvSpPr/>
          <p:nvPr/>
        </p:nvSpPr>
        <p:spPr>
          <a:xfrm>
            <a:off x="5120640" y="2734056"/>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19" name="Text 17"/>
          <p:cNvSpPr/>
          <p:nvPr/>
        </p:nvSpPr>
        <p:spPr>
          <a:xfrm>
            <a:off x="6537960" y="2734056"/>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20" name="Text 18"/>
          <p:cNvSpPr/>
          <p:nvPr/>
        </p:nvSpPr>
        <p:spPr>
          <a:xfrm>
            <a:off x="7955280" y="2734056"/>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21" name="Shape 19"/>
          <p:cNvSpPr/>
          <p:nvPr/>
        </p:nvSpPr>
        <p:spPr>
          <a:xfrm>
            <a:off x="548640" y="3300984"/>
            <a:ext cx="8869680" cy="566928"/>
          </a:xfrm>
          <a:prstGeom prst="rect">
            <a:avLst/>
          </a:prstGeom>
          <a:solidFill>
            <a:srgbClr val="16294A">
              <a:alpha val="60000"/>
            </a:srgbClr>
          </a:solidFill>
          <a:ln/>
        </p:spPr>
      </p:sp>
      <p:sp>
        <p:nvSpPr>
          <p:cNvPr id="22" name="Text 20"/>
          <p:cNvSpPr/>
          <p:nvPr/>
        </p:nvSpPr>
        <p:spPr>
          <a:xfrm>
            <a:off x="685800" y="3300984"/>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Verifies before alerting (low false alarms)</a:t>
            </a:r>
            <a:endParaRPr lang="en-US" sz="1250" dirty="0"/>
          </a:p>
        </p:txBody>
      </p:sp>
      <p:sp>
        <p:nvSpPr>
          <p:cNvPr id="23" name="Text 21"/>
          <p:cNvSpPr/>
          <p:nvPr/>
        </p:nvSpPr>
        <p:spPr>
          <a:xfrm>
            <a:off x="5120640" y="3300984"/>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6537960" y="3300984"/>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25" name="Text 23"/>
          <p:cNvSpPr/>
          <p:nvPr/>
        </p:nvSpPr>
        <p:spPr>
          <a:xfrm>
            <a:off x="7955280" y="3300984"/>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26" name="Text 24"/>
          <p:cNvSpPr/>
          <p:nvPr/>
        </p:nvSpPr>
        <p:spPr>
          <a:xfrm>
            <a:off x="685800" y="3867912"/>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Coordinates across locations (mesh)</a:t>
            </a:r>
            <a:endParaRPr lang="en-US" sz="1250" dirty="0"/>
          </a:p>
        </p:txBody>
      </p:sp>
      <p:sp>
        <p:nvSpPr>
          <p:cNvPr id="27" name="Text 25"/>
          <p:cNvSpPr/>
          <p:nvPr/>
        </p:nvSpPr>
        <p:spPr>
          <a:xfrm>
            <a:off x="5120640" y="3867912"/>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28" name="Text 26"/>
          <p:cNvSpPr/>
          <p:nvPr/>
        </p:nvSpPr>
        <p:spPr>
          <a:xfrm>
            <a:off x="6537960" y="3867912"/>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29" name="Text 27"/>
          <p:cNvSpPr/>
          <p:nvPr/>
        </p:nvSpPr>
        <p:spPr>
          <a:xfrm>
            <a:off x="7955280" y="3867912"/>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30" name="Shape 28"/>
          <p:cNvSpPr/>
          <p:nvPr/>
        </p:nvSpPr>
        <p:spPr>
          <a:xfrm>
            <a:off x="548640" y="4434840"/>
            <a:ext cx="8869680" cy="566928"/>
          </a:xfrm>
          <a:prstGeom prst="rect">
            <a:avLst/>
          </a:prstGeom>
          <a:solidFill>
            <a:srgbClr val="16294A">
              <a:alpha val="60000"/>
            </a:srgbClr>
          </a:solidFill>
          <a:ln/>
        </p:spPr>
      </p:sp>
      <p:sp>
        <p:nvSpPr>
          <p:cNvPr id="31" name="Text 29"/>
          <p:cNvSpPr/>
          <p:nvPr/>
        </p:nvSpPr>
        <p:spPr>
          <a:xfrm>
            <a:off x="685800" y="4434840"/>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Active deterrence (light + speaker)</a:t>
            </a:r>
            <a:endParaRPr lang="en-US" sz="1250" dirty="0"/>
          </a:p>
        </p:txBody>
      </p:sp>
      <p:sp>
        <p:nvSpPr>
          <p:cNvPr id="32" name="Text 30"/>
          <p:cNvSpPr/>
          <p:nvPr/>
        </p:nvSpPr>
        <p:spPr>
          <a:xfrm>
            <a:off x="5120640" y="4434840"/>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33" name="Text 31"/>
          <p:cNvSpPr/>
          <p:nvPr/>
        </p:nvSpPr>
        <p:spPr>
          <a:xfrm>
            <a:off x="6537960" y="4434840"/>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34" name="Text 32"/>
          <p:cNvSpPr/>
          <p:nvPr/>
        </p:nvSpPr>
        <p:spPr>
          <a:xfrm>
            <a:off x="7955280" y="4434840"/>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35" name="Text 33"/>
          <p:cNvSpPr/>
          <p:nvPr/>
        </p:nvSpPr>
        <p:spPr>
          <a:xfrm>
            <a:off x="685800" y="5001768"/>
            <a:ext cx="4480560" cy="566928"/>
          </a:xfrm>
          <a:prstGeom prst="rect">
            <a:avLst/>
          </a:prstGeom>
          <a:noFill/>
          <a:ln/>
        </p:spPr>
        <p:txBody>
          <a:bodyPr wrap="square" lIns="0" tIns="0" rIns="0" bIns="0" rtlCol="0" anchor="ctr"/>
          <a:lstStyle/>
          <a:p>
            <a:pPr algn="l" indent="0" marL="0">
              <a:buNone/>
            </a:pPr>
            <a:r>
              <a:rPr lang="en-US" sz="1250" dirty="0">
                <a:solidFill>
                  <a:srgbClr val="FFFFFF"/>
                </a:solidFill>
                <a:latin typeface="Calibri" pitchFamily="34" charset="0"/>
                <a:ea typeface="Calibri" pitchFamily="34" charset="-122"/>
                <a:cs typeface="Calibri" pitchFamily="34" charset="-120"/>
              </a:rPr>
              <a:t>Evidence capture</a:t>
            </a:r>
            <a:endParaRPr lang="en-US" sz="1250" dirty="0"/>
          </a:p>
        </p:txBody>
      </p:sp>
      <p:sp>
        <p:nvSpPr>
          <p:cNvPr id="36" name="Text 34"/>
          <p:cNvSpPr/>
          <p:nvPr/>
        </p:nvSpPr>
        <p:spPr>
          <a:xfrm>
            <a:off x="5120640" y="5001768"/>
            <a:ext cx="1325880" cy="566928"/>
          </a:xfrm>
          <a:prstGeom prst="rect">
            <a:avLst/>
          </a:prstGeom>
          <a:noFill/>
          <a:ln/>
        </p:spPr>
        <p:txBody>
          <a:bodyPr wrap="square" lIns="0" tIns="0" rIns="0" bIns="0" rtlCol="0" anchor="ctr"/>
          <a:lstStyle/>
          <a:p>
            <a:pPr algn="ctr" indent="0" marL="0">
              <a:buNone/>
            </a:pPr>
            <a:r>
              <a:rPr lang="en-US" sz="1250" dirty="0">
                <a:solidFill>
                  <a:srgbClr val="6BCB77"/>
                </a:solidFill>
                <a:latin typeface="Calibri" pitchFamily="34" charset="0"/>
                <a:ea typeface="Calibri" pitchFamily="34" charset="-122"/>
                <a:cs typeface="Calibri" pitchFamily="34" charset="-120"/>
              </a:rPr>
              <a:t>✓</a:t>
            </a:r>
            <a:endParaRPr lang="en-US" sz="1250" dirty="0"/>
          </a:p>
        </p:txBody>
      </p:sp>
      <p:sp>
        <p:nvSpPr>
          <p:cNvPr id="37" name="Text 35"/>
          <p:cNvSpPr/>
          <p:nvPr/>
        </p:nvSpPr>
        <p:spPr>
          <a:xfrm>
            <a:off x="6537960" y="5001768"/>
            <a:ext cx="1325880" cy="566928"/>
          </a:xfrm>
          <a:prstGeom prst="rect">
            <a:avLst/>
          </a:prstGeom>
          <a:noFill/>
          <a:ln/>
        </p:spPr>
        <p:txBody>
          <a:bodyPr wrap="square" lIns="0" tIns="0" rIns="0" bIns="0" rtlCol="0" anchor="ctr"/>
          <a:lstStyle/>
          <a:p>
            <a:pPr algn="ctr" indent="0" marL="0">
              <a:buNone/>
            </a:pPr>
            <a:r>
              <a:rPr lang="en-US" sz="1250" dirty="0">
                <a:solidFill>
                  <a:srgbClr val="FF6B6B"/>
                </a:solidFill>
                <a:latin typeface="Calibri" pitchFamily="34" charset="0"/>
                <a:ea typeface="Calibri" pitchFamily="34" charset="-122"/>
                <a:cs typeface="Calibri" pitchFamily="34" charset="-120"/>
              </a:rPr>
              <a:t>✗</a:t>
            </a:r>
            <a:endParaRPr lang="en-US" sz="1250" dirty="0"/>
          </a:p>
        </p:txBody>
      </p:sp>
      <p:sp>
        <p:nvSpPr>
          <p:cNvPr id="38" name="Text 36"/>
          <p:cNvSpPr/>
          <p:nvPr/>
        </p:nvSpPr>
        <p:spPr>
          <a:xfrm>
            <a:off x="7955280" y="5001768"/>
            <a:ext cx="1463040" cy="566928"/>
          </a:xfrm>
          <a:prstGeom prst="rect">
            <a:avLst/>
          </a:prstGeom>
          <a:noFill/>
          <a:ln/>
        </p:spPr>
        <p:txBody>
          <a:bodyPr wrap="square" lIns="0" tIns="0" rIns="0" bIns="0" rtlCol="0" anchor="ctr"/>
          <a:lstStyle/>
          <a:p>
            <a:pPr algn="ctr" indent="0" marL="0">
              <a:buNone/>
            </a:pPr>
            <a:r>
              <a:rPr lang="en-US" sz="1250" b="1" dirty="0">
                <a:solidFill>
                  <a:srgbClr val="6BCB77"/>
                </a:solidFill>
                <a:latin typeface="Calibri" pitchFamily="34" charset="0"/>
                <a:ea typeface="Calibri" pitchFamily="34" charset="-122"/>
                <a:cs typeface="Calibri" pitchFamily="34" charset="-120"/>
              </a:rPr>
              <a:t>✓</a:t>
            </a:r>
            <a:endParaRPr lang="en-US" sz="1250" dirty="0"/>
          </a:p>
        </p:txBody>
      </p:sp>
      <p:sp>
        <p:nvSpPr>
          <p:cNvPr id="39" name="Shape 37"/>
          <p:cNvSpPr/>
          <p:nvPr/>
        </p:nvSpPr>
        <p:spPr>
          <a:xfrm>
            <a:off x="7955280" y="1600200"/>
            <a:ext cx="1463040" cy="3968496"/>
          </a:xfrm>
          <a:prstGeom prst="rect">
            <a:avLst/>
          </a:prstGeom>
          <a:solidFill>
            <a:srgbClr val="FFB300">
              <a:alpha val="10000"/>
            </a:srgbClr>
          </a:solidFill>
          <a:ln w="12700">
            <a:solidFill>
              <a:srgbClr val="FFB300"/>
            </a:solidFill>
            <a:prstDash val="solid"/>
          </a:ln>
        </p:spPr>
      </p:sp>
      <p:sp>
        <p:nvSpPr>
          <p:cNvPr id="40" name="Shape 38"/>
          <p:cNvSpPr/>
          <p:nvPr/>
        </p:nvSpPr>
        <p:spPr>
          <a:xfrm>
            <a:off x="9692640" y="1600200"/>
            <a:ext cx="1947672" cy="3968496"/>
          </a:xfrm>
          <a:prstGeom prst="roundRect">
            <a:avLst>
              <a:gd name="adj" fmla="val 3756"/>
            </a:avLst>
          </a:prstGeom>
          <a:solidFill>
            <a:srgbClr val="1B3155"/>
          </a:solidFill>
          <a:ln/>
        </p:spPr>
      </p:sp>
      <p:sp>
        <p:nvSpPr>
          <p:cNvPr id="41" name="Text 39"/>
          <p:cNvSpPr/>
          <p:nvPr/>
        </p:nvSpPr>
        <p:spPr>
          <a:xfrm>
            <a:off x="9921240" y="1828800"/>
            <a:ext cx="1554480" cy="502920"/>
          </a:xfrm>
          <a:prstGeom prst="rect">
            <a:avLst/>
          </a:prstGeom>
          <a:noFill/>
          <a:ln/>
        </p:spPr>
        <p:txBody>
          <a:bodyPr wrap="square" lIns="0" tIns="0" rIns="0" bIns="0" rtlCol="0" anchor="ctr"/>
          <a:lstStyle/>
          <a:p>
            <a:pPr indent="0" marL="0">
              <a:buNone/>
            </a:pPr>
            <a:r>
              <a:rPr lang="en-US" sz="1200" b="1" spc="100" kern="0" dirty="0">
                <a:solidFill>
                  <a:srgbClr val="FFB300"/>
                </a:solidFill>
                <a:latin typeface="Calibri" pitchFamily="34" charset="0"/>
                <a:ea typeface="Calibri" pitchFamily="34" charset="-122"/>
                <a:cs typeface="Calibri" pitchFamily="34" charset="-120"/>
              </a:rPr>
              <a:t>CANDIDATE IP AREAS</a:t>
            </a:r>
            <a:endParaRPr lang="en-US" sz="1200" dirty="0"/>
          </a:p>
        </p:txBody>
      </p:sp>
      <p:sp>
        <p:nvSpPr>
          <p:cNvPr id="42" name="Text 40"/>
          <p:cNvSpPr/>
          <p:nvPr/>
        </p:nvSpPr>
        <p:spPr>
          <a:xfrm>
            <a:off x="9921240" y="2331720"/>
            <a:ext cx="1572768" cy="310896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Multi-sensor emergency validation algorithm</a:t>
            </a:r>
            <a:endParaRPr lang="en-US" sz="1050" dirty="0"/>
          </a:p>
          <a:p>
            <a:pPr marL="127000" indent="-1270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Distributed pole-to-pole AI coordination</a:t>
            </a:r>
            <a:endParaRPr lang="en-US" sz="1050" dirty="0"/>
          </a:p>
          <a:p>
            <a:pPr marL="127000" indent="-1270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AI-driven Safe Corridor activation</a:t>
            </a:r>
            <a:endParaRPr lang="en-US" sz="1050" dirty="0"/>
          </a:p>
          <a:p>
            <a:pPr marL="127000" indent="-1270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Edge-based emergency detection framework</a:t>
            </a:r>
            <a:endParaRPr lang="en-US" sz="1050" dirty="0"/>
          </a:p>
        </p:txBody>
      </p:sp>
      <p:sp>
        <p:nvSpPr>
          <p:cNvPr id="43" name="Text 41"/>
          <p:cNvSpPr/>
          <p:nvPr/>
        </p:nvSpPr>
        <p:spPr>
          <a:xfrm>
            <a:off x="548640" y="5806440"/>
            <a:ext cx="8869680" cy="32004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Candidate areas only — no prior-art search has been run yet; that search is a Phase 1 deliverable. The SentinelAI column describes the designed system, not a built one.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EXECUTION PLAN</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Concept to prototype in 8 months — then scale</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08</a:t>
            </a:r>
            <a:endParaRPr lang="en-US" sz="1100" dirty="0"/>
          </a:p>
        </p:txBody>
      </p:sp>
      <p:sp>
        <p:nvSpPr>
          <p:cNvPr id="8" name="Shape 6"/>
          <p:cNvSpPr/>
          <p:nvPr/>
        </p:nvSpPr>
        <p:spPr>
          <a:xfrm>
            <a:off x="822960" y="2148840"/>
            <a:ext cx="10515600" cy="0"/>
          </a:xfrm>
          <a:prstGeom prst="line">
            <a:avLst/>
          </a:prstGeom>
          <a:noFill/>
          <a:ln w="31750">
            <a:solidFill>
              <a:srgbClr val="2C4468"/>
            </a:solidFill>
            <a:prstDash val="solid"/>
          </a:ln>
        </p:spPr>
      </p:sp>
      <p:sp>
        <p:nvSpPr>
          <p:cNvPr id="9" name="Shape 7"/>
          <p:cNvSpPr/>
          <p:nvPr/>
        </p:nvSpPr>
        <p:spPr>
          <a:xfrm>
            <a:off x="1481328" y="1975104"/>
            <a:ext cx="347472" cy="347472"/>
          </a:xfrm>
          <a:prstGeom prst="ellipse">
            <a:avLst/>
          </a:prstGeom>
          <a:solidFill>
            <a:srgbClr val="FFB300"/>
          </a:solidFill>
          <a:ln w="25400">
            <a:solidFill>
              <a:srgbClr val="0B1626"/>
            </a:solidFill>
            <a:prstDash val="solid"/>
          </a:ln>
        </p:spPr>
      </p:sp>
      <p:sp>
        <p:nvSpPr>
          <p:cNvPr id="10" name="Text 8"/>
          <p:cNvSpPr/>
          <p:nvPr/>
        </p:nvSpPr>
        <p:spPr>
          <a:xfrm>
            <a:off x="1481328" y="1975104"/>
            <a:ext cx="347472" cy="347472"/>
          </a:xfrm>
          <a:prstGeom prst="rect">
            <a:avLst/>
          </a:prstGeom>
          <a:noFill/>
          <a:ln/>
        </p:spPr>
        <p:txBody>
          <a:bodyPr wrap="square" rtlCol="0" anchor="ctr"/>
          <a:lstStyle/>
          <a:p>
            <a:pPr algn="ctr" indent="0" marL="0">
              <a:buNone/>
            </a:pPr>
            <a:r>
              <a:rPr lang="en-US" sz="1300" b="1" dirty="0">
                <a:solidFill>
                  <a:srgbClr val="0B1626"/>
                </a:solidFill>
                <a:latin typeface="Calibri" pitchFamily="34" charset="0"/>
                <a:ea typeface="Calibri" pitchFamily="34" charset="-122"/>
                <a:cs typeface="Calibri" pitchFamily="34" charset="-120"/>
              </a:rPr>
              <a:t>1</a:t>
            </a:r>
            <a:endParaRPr lang="en-US" sz="1300" dirty="0"/>
          </a:p>
        </p:txBody>
      </p:sp>
      <p:sp>
        <p:nvSpPr>
          <p:cNvPr id="11" name="Shape 9"/>
          <p:cNvSpPr/>
          <p:nvPr/>
        </p:nvSpPr>
        <p:spPr>
          <a:xfrm>
            <a:off x="548640" y="2560320"/>
            <a:ext cx="2121408" cy="3246120"/>
          </a:xfrm>
          <a:prstGeom prst="roundRect">
            <a:avLst>
              <a:gd name="adj" fmla="val 3448"/>
            </a:avLst>
          </a:prstGeom>
          <a:solidFill>
            <a:srgbClr val="1B3155"/>
          </a:solidFill>
          <a:ln/>
        </p:spPr>
      </p:sp>
      <p:sp>
        <p:nvSpPr>
          <p:cNvPr id="12" name="Text 10"/>
          <p:cNvSpPr/>
          <p:nvPr/>
        </p:nvSpPr>
        <p:spPr>
          <a:xfrm>
            <a:off x="713232" y="2724912"/>
            <a:ext cx="1828800" cy="566928"/>
          </a:xfrm>
          <a:prstGeom prst="rect">
            <a:avLst/>
          </a:prstGeom>
          <a:noFill/>
          <a:ln/>
        </p:spPr>
        <p:txBody>
          <a:bodyPr wrap="square" lIns="0" tIns="0" rIns="0" bIns="0"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RESEARCH &amp; VALIDATION</a:t>
            </a:r>
            <a:endParaRPr lang="en-US" sz="1200" dirty="0"/>
          </a:p>
        </p:txBody>
      </p:sp>
      <p:sp>
        <p:nvSpPr>
          <p:cNvPr id="13" name="Text 11"/>
          <p:cNvSpPr/>
          <p:nvPr/>
        </p:nvSpPr>
        <p:spPr>
          <a:xfrm>
            <a:off x="713232" y="3255264"/>
            <a:ext cx="1828800" cy="256032"/>
          </a:xfrm>
          <a:prstGeom prst="rect">
            <a:avLst/>
          </a:prstGeom>
          <a:noFill/>
          <a:ln/>
        </p:spPr>
        <p:txBody>
          <a:bodyPr wrap="square" lIns="0" tIns="0" rIns="0" bIns="0" rtlCol="0" anchor="ctr"/>
          <a:lstStyle/>
          <a:p>
            <a:pPr indent="0" marL="0">
              <a:buNone/>
            </a:pPr>
            <a:r>
              <a:rPr lang="en-US" sz="1050" b="1" dirty="0">
                <a:solidFill>
                  <a:srgbClr val="7E97B8"/>
                </a:solidFill>
                <a:latin typeface="Calibri" pitchFamily="34" charset="0"/>
                <a:ea typeface="Calibri" pitchFamily="34" charset="-122"/>
                <a:cs typeface="Calibri" pitchFamily="34" charset="-120"/>
              </a:rPr>
              <a:t>Months 1–2</a:t>
            </a:r>
            <a:endParaRPr lang="en-US" sz="1050" dirty="0"/>
          </a:p>
        </p:txBody>
      </p:sp>
      <p:sp>
        <p:nvSpPr>
          <p:cNvPr id="14" name="Text 12"/>
          <p:cNvSpPr/>
          <p:nvPr/>
        </p:nvSpPr>
        <p:spPr>
          <a:xfrm>
            <a:off x="713232" y="3584448"/>
            <a:ext cx="1828800" cy="2103120"/>
          </a:xfrm>
          <a:prstGeom prst="rect">
            <a:avLst/>
          </a:prstGeom>
          <a:noFill/>
          <a:ln/>
        </p:spPr>
        <p:txBody>
          <a:bodyPr wrap="square" lIns="0" tIns="0" rIns="0" bIns="0" rtlCol="0" anchor="t"/>
          <a:lstStyle/>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Interviews: police, 108 operators, municipal officials, 50+ commuters</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Freeze requirements + success metrics</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Prior-art search on 4 IP areas</a:t>
            </a:r>
            <a:endParaRPr lang="en-US" sz="980" dirty="0"/>
          </a:p>
        </p:txBody>
      </p:sp>
      <p:sp>
        <p:nvSpPr>
          <p:cNvPr id="15" name="Shape 13"/>
          <p:cNvSpPr/>
          <p:nvPr/>
        </p:nvSpPr>
        <p:spPr>
          <a:xfrm>
            <a:off x="3739896" y="1975104"/>
            <a:ext cx="347472" cy="347472"/>
          </a:xfrm>
          <a:prstGeom prst="ellipse">
            <a:avLst/>
          </a:prstGeom>
          <a:solidFill>
            <a:srgbClr val="FFB300"/>
          </a:solidFill>
          <a:ln w="25400">
            <a:solidFill>
              <a:srgbClr val="0B1626"/>
            </a:solidFill>
            <a:prstDash val="solid"/>
          </a:ln>
        </p:spPr>
      </p:sp>
      <p:sp>
        <p:nvSpPr>
          <p:cNvPr id="16" name="Text 14"/>
          <p:cNvSpPr/>
          <p:nvPr/>
        </p:nvSpPr>
        <p:spPr>
          <a:xfrm>
            <a:off x="3739896" y="1975104"/>
            <a:ext cx="347472" cy="347472"/>
          </a:xfrm>
          <a:prstGeom prst="rect">
            <a:avLst/>
          </a:prstGeom>
          <a:noFill/>
          <a:ln/>
        </p:spPr>
        <p:txBody>
          <a:bodyPr wrap="square" rtlCol="0" anchor="ctr"/>
          <a:lstStyle/>
          <a:p>
            <a:pPr algn="ctr" indent="0" marL="0">
              <a:buNone/>
            </a:pPr>
            <a:r>
              <a:rPr lang="en-US" sz="1300" b="1" dirty="0">
                <a:solidFill>
                  <a:srgbClr val="0B1626"/>
                </a:solidFill>
                <a:latin typeface="Calibri" pitchFamily="34" charset="0"/>
                <a:ea typeface="Calibri" pitchFamily="34" charset="-122"/>
                <a:cs typeface="Calibri" pitchFamily="34" charset="-120"/>
              </a:rPr>
              <a:t>2</a:t>
            </a:r>
            <a:endParaRPr lang="en-US" sz="1300" dirty="0"/>
          </a:p>
        </p:txBody>
      </p:sp>
      <p:sp>
        <p:nvSpPr>
          <p:cNvPr id="17" name="Shape 15"/>
          <p:cNvSpPr/>
          <p:nvPr/>
        </p:nvSpPr>
        <p:spPr>
          <a:xfrm>
            <a:off x="2807208" y="2560320"/>
            <a:ext cx="2121408" cy="3246120"/>
          </a:xfrm>
          <a:prstGeom prst="roundRect">
            <a:avLst>
              <a:gd name="adj" fmla="val 3448"/>
            </a:avLst>
          </a:prstGeom>
          <a:solidFill>
            <a:srgbClr val="1B3155"/>
          </a:solidFill>
          <a:ln/>
        </p:spPr>
      </p:sp>
      <p:sp>
        <p:nvSpPr>
          <p:cNvPr id="18" name="Text 16"/>
          <p:cNvSpPr/>
          <p:nvPr/>
        </p:nvSpPr>
        <p:spPr>
          <a:xfrm>
            <a:off x="2971800" y="2724912"/>
            <a:ext cx="1828800" cy="566928"/>
          </a:xfrm>
          <a:prstGeom prst="rect">
            <a:avLst/>
          </a:prstGeom>
          <a:noFill/>
          <a:ln/>
        </p:spPr>
        <p:txBody>
          <a:bodyPr wrap="square" lIns="0" tIns="0" rIns="0" bIns="0"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PROTOTYPE BUILD</a:t>
            </a:r>
            <a:endParaRPr lang="en-US" sz="1200" dirty="0"/>
          </a:p>
        </p:txBody>
      </p:sp>
      <p:sp>
        <p:nvSpPr>
          <p:cNvPr id="19" name="Text 17"/>
          <p:cNvSpPr/>
          <p:nvPr/>
        </p:nvSpPr>
        <p:spPr>
          <a:xfrm>
            <a:off x="2971800" y="3255264"/>
            <a:ext cx="1828800" cy="256032"/>
          </a:xfrm>
          <a:prstGeom prst="rect">
            <a:avLst/>
          </a:prstGeom>
          <a:noFill/>
          <a:ln/>
        </p:spPr>
        <p:txBody>
          <a:bodyPr wrap="square" lIns="0" tIns="0" rIns="0" bIns="0" rtlCol="0" anchor="ctr"/>
          <a:lstStyle/>
          <a:p>
            <a:pPr indent="0" marL="0">
              <a:buNone/>
            </a:pPr>
            <a:r>
              <a:rPr lang="en-US" sz="1050" b="1" dirty="0">
                <a:solidFill>
                  <a:srgbClr val="7E97B8"/>
                </a:solidFill>
                <a:latin typeface="Calibri" pitchFamily="34" charset="0"/>
                <a:ea typeface="Calibri" pitchFamily="34" charset="-122"/>
                <a:cs typeface="Calibri" pitchFamily="34" charset="-120"/>
              </a:rPr>
              <a:t>Months 3–5</a:t>
            </a:r>
            <a:endParaRPr lang="en-US" sz="1050" dirty="0"/>
          </a:p>
        </p:txBody>
      </p:sp>
      <p:sp>
        <p:nvSpPr>
          <p:cNvPr id="20" name="Text 18"/>
          <p:cNvSpPr/>
          <p:nvPr/>
        </p:nvSpPr>
        <p:spPr>
          <a:xfrm>
            <a:off x="2971800" y="3584448"/>
            <a:ext cx="1828800" cy="2103120"/>
          </a:xfrm>
          <a:prstGeom prst="rect">
            <a:avLst/>
          </a:prstGeom>
          <a:noFill/>
          <a:ln/>
        </p:spPr>
        <p:txBody>
          <a:bodyPr wrap="square" lIns="0" tIns="0" rIns="0" bIns="0" rtlCol="0" anchor="t"/>
          <a:lstStyle/>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Single working node: sensor fusion + edge AI on Jetson</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Crash / scream / SOS detection models trained</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Dashboard MVP + SMS-alert loop</a:t>
            </a:r>
            <a:endParaRPr lang="en-US" sz="980" dirty="0"/>
          </a:p>
        </p:txBody>
      </p:sp>
      <p:sp>
        <p:nvSpPr>
          <p:cNvPr id="21" name="Shape 19"/>
          <p:cNvSpPr/>
          <p:nvPr/>
        </p:nvSpPr>
        <p:spPr>
          <a:xfrm>
            <a:off x="5998464" y="1975104"/>
            <a:ext cx="347472" cy="347472"/>
          </a:xfrm>
          <a:prstGeom prst="ellipse">
            <a:avLst/>
          </a:prstGeom>
          <a:solidFill>
            <a:srgbClr val="FFB300"/>
          </a:solidFill>
          <a:ln w="25400">
            <a:solidFill>
              <a:srgbClr val="0B1626"/>
            </a:solidFill>
            <a:prstDash val="solid"/>
          </a:ln>
        </p:spPr>
      </p:sp>
      <p:sp>
        <p:nvSpPr>
          <p:cNvPr id="22" name="Text 20"/>
          <p:cNvSpPr/>
          <p:nvPr/>
        </p:nvSpPr>
        <p:spPr>
          <a:xfrm>
            <a:off x="5998464" y="1975104"/>
            <a:ext cx="347472" cy="347472"/>
          </a:xfrm>
          <a:prstGeom prst="rect">
            <a:avLst/>
          </a:prstGeom>
          <a:noFill/>
          <a:ln/>
        </p:spPr>
        <p:txBody>
          <a:bodyPr wrap="square" rtlCol="0" anchor="ctr"/>
          <a:lstStyle/>
          <a:p>
            <a:pPr algn="ctr" indent="0" marL="0">
              <a:buNone/>
            </a:pPr>
            <a:r>
              <a:rPr lang="en-US" sz="1300" b="1" dirty="0">
                <a:solidFill>
                  <a:srgbClr val="0B1626"/>
                </a:solidFill>
                <a:latin typeface="Calibri" pitchFamily="34" charset="0"/>
                <a:ea typeface="Calibri" pitchFamily="34" charset="-122"/>
                <a:cs typeface="Calibri" pitchFamily="34" charset="-120"/>
              </a:rPr>
              <a:t>3</a:t>
            </a:r>
            <a:endParaRPr lang="en-US" sz="1300" dirty="0"/>
          </a:p>
        </p:txBody>
      </p:sp>
      <p:sp>
        <p:nvSpPr>
          <p:cNvPr id="23" name="Shape 21"/>
          <p:cNvSpPr/>
          <p:nvPr/>
        </p:nvSpPr>
        <p:spPr>
          <a:xfrm>
            <a:off x="5065776" y="2560320"/>
            <a:ext cx="2121408" cy="3246120"/>
          </a:xfrm>
          <a:prstGeom prst="roundRect">
            <a:avLst>
              <a:gd name="adj" fmla="val 3448"/>
            </a:avLst>
          </a:prstGeom>
          <a:solidFill>
            <a:srgbClr val="1B3155"/>
          </a:solidFill>
          <a:ln/>
        </p:spPr>
      </p:sp>
      <p:sp>
        <p:nvSpPr>
          <p:cNvPr id="24" name="Text 22"/>
          <p:cNvSpPr/>
          <p:nvPr/>
        </p:nvSpPr>
        <p:spPr>
          <a:xfrm>
            <a:off x="5230368" y="2724912"/>
            <a:ext cx="1828800" cy="566928"/>
          </a:xfrm>
          <a:prstGeom prst="rect">
            <a:avLst/>
          </a:prstGeom>
          <a:noFill/>
          <a:ln/>
        </p:spPr>
        <p:txBody>
          <a:bodyPr wrap="square" lIns="0" tIns="0" rIns="0" bIns="0"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CAMPUS PILOT</a:t>
            </a:r>
            <a:endParaRPr lang="en-US" sz="1200" dirty="0"/>
          </a:p>
        </p:txBody>
      </p:sp>
      <p:sp>
        <p:nvSpPr>
          <p:cNvPr id="25" name="Text 23"/>
          <p:cNvSpPr/>
          <p:nvPr/>
        </p:nvSpPr>
        <p:spPr>
          <a:xfrm>
            <a:off x="5230368" y="3255264"/>
            <a:ext cx="1828800" cy="256032"/>
          </a:xfrm>
          <a:prstGeom prst="rect">
            <a:avLst/>
          </a:prstGeom>
          <a:noFill/>
          <a:ln/>
        </p:spPr>
        <p:txBody>
          <a:bodyPr wrap="square" lIns="0" tIns="0" rIns="0" bIns="0" rtlCol="0" anchor="ctr"/>
          <a:lstStyle/>
          <a:p>
            <a:pPr indent="0" marL="0">
              <a:buNone/>
            </a:pPr>
            <a:r>
              <a:rPr lang="en-US" sz="1050" b="1" dirty="0">
                <a:solidFill>
                  <a:srgbClr val="7E97B8"/>
                </a:solidFill>
                <a:latin typeface="Calibri" pitchFamily="34" charset="0"/>
                <a:ea typeface="Calibri" pitchFamily="34" charset="-122"/>
                <a:cs typeface="Calibri" pitchFamily="34" charset="-120"/>
              </a:rPr>
              <a:t>Months 6–8</a:t>
            </a:r>
            <a:endParaRPr lang="en-US" sz="1050" dirty="0"/>
          </a:p>
        </p:txBody>
      </p:sp>
      <p:sp>
        <p:nvSpPr>
          <p:cNvPr id="26" name="Text 24"/>
          <p:cNvSpPr/>
          <p:nvPr/>
        </p:nvSpPr>
        <p:spPr>
          <a:xfrm>
            <a:off x="5230368" y="3584448"/>
            <a:ext cx="1828800" cy="2103120"/>
          </a:xfrm>
          <a:prstGeom prst="rect">
            <a:avLst/>
          </a:prstGeom>
          <a:noFill/>
          <a:ln/>
        </p:spPr>
        <p:txBody>
          <a:bodyPr wrap="square" lIns="0" tIns="0" rIns="0" bIns="0" rtlCol="0" anchor="t"/>
          <a:lstStyle/>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5-node mesh on campus roads</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Safe Corridor live demo</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False-alarm rate tuned &lt; 5%</a:t>
            </a:r>
            <a:endParaRPr lang="en-US" sz="980" dirty="0"/>
          </a:p>
        </p:txBody>
      </p:sp>
      <p:sp>
        <p:nvSpPr>
          <p:cNvPr id="27" name="Shape 25"/>
          <p:cNvSpPr/>
          <p:nvPr/>
        </p:nvSpPr>
        <p:spPr>
          <a:xfrm>
            <a:off x="8257032" y="1975104"/>
            <a:ext cx="347472" cy="347472"/>
          </a:xfrm>
          <a:prstGeom prst="ellipse">
            <a:avLst/>
          </a:prstGeom>
          <a:solidFill>
            <a:srgbClr val="2C4468"/>
          </a:solidFill>
          <a:ln w="25400">
            <a:solidFill>
              <a:srgbClr val="0B1626"/>
            </a:solidFill>
            <a:prstDash val="solid"/>
          </a:ln>
        </p:spPr>
      </p:sp>
      <p:sp>
        <p:nvSpPr>
          <p:cNvPr id="28" name="Text 26"/>
          <p:cNvSpPr/>
          <p:nvPr/>
        </p:nvSpPr>
        <p:spPr>
          <a:xfrm>
            <a:off x="8257032" y="1975104"/>
            <a:ext cx="347472" cy="347472"/>
          </a:xfrm>
          <a:prstGeom prst="rect">
            <a:avLst/>
          </a:prstGeom>
          <a:noFill/>
          <a:ln/>
        </p:spPr>
        <p:txBody>
          <a:bodyPr wrap="square" rtlCol="0" anchor="ctr"/>
          <a:lstStyle/>
          <a:p>
            <a:pPr algn="ctr" indent="0" marL="0">
              <a:buNone/>
            </a:pPr>
            <a:r>
              <a:rPr lang="en-US" sz="1300" b="1" dirty="0">
                <a:solidFill>
                  <a:srgbClr val="A8C6E8"/>
                </a:solidFill>
                <a:latin typeface="Calibri" pitchFamily="34" charset="0"/>
                <a:ea typeface="Calibri" pitchFamily="34" charset="-122"/>
                <a:cs typeface="Calibri" pitchFamily="34" charset="-120"/>
              </a:rPr>
              <a:t>4</a:t>
            </a:r>
            <a:endParaRPr lang="en-US" sz="1300" dirty="0"/>
          </a:p>
        </p:txBody>
      </p:sp>
      <p:sp>
        <p:nvSpPr>
          <p:cNvPr id="29" name="Shape 27"/>
          <p:cNvSpPr/>
          <p:nvPr/>
        </p:nvSpPr>
        <p:spPr>
          <a:xfrm>
            <a:off x="7324344" y="2560320"/>
            <a:ext cx="2121408" cy="3246120"/>
          </a:xfrm>
          <a:prstGeom prst="roundRect">
            <a:avLst>
              <a:gd name="adj" fmla="val 3448"/>
            </a:avLst>
          </a:prstGeom>
          <a:solidFill>
            <a:srgbClr val="16294A"/>
          </a:solidFill>
          <a:ln/>
        </p:spPr>
      </p:sp>
      <p:sp>
        <p:nvSpPr>
          <p:cNvPr id="30" name="Text 28"/>
          <p:cNvSpPr/>
          <p:nvPr/>
        </p:nvSpPr>
        <p:spPr>
          <a:xfrm>
            <a:off x="7488936" y="2724912"/>
            <a:ext cx="1828800" cy="56692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CITY PILOT</a:t>
            </a:r>
            <a:endParaRPr lang="en-US" sz="1200" dirty="0"/>
          </a:p>
        </p:txBody>
      </p:sp>
      <p:sp>
        <p:nvSpPr>
          <p:cNvPr id="31" name="Text 29"/>
          <p:cNvSpPr/>
          <p:nvPr/>
        </p:nvSpPr>
        <p:spPr>
          <a:xfrm>
            <a:off x="7488936" y="3255264"/>
            <a:ext cx="1828800" cy="256032"/>
          </a:xfrm>
          <a:prstGeom prst="rect">
            <a:avLst/>
          </a:prstGeom>
          <a:noFill/>
          <a:ln/>
        </p:spPr>
        <p:txBody>
          <a:bodyPr wrap="square" lIns="0" tIns="0" rIns="0" bIns="0" rtlCol="0" anchor="ctr"/>
          <a:lstStyle/>
          <a:p>
            <a:pPr indent="0" marL="0">
              <a:buNone/>
            </a:pPr>
            <a:r>
              <a:rPr lang="en-US" sz="1050" b="1" dirty="0">
                <a:solidFill>
                  <a:srgbClr val="7E97B8"/>
                </a:solidFill>
                <a:latin typeface="Calibri" pitchFamily="34" charset="0"/>
                <a:ea typeface="Calibri" pitchFamily="34" charset="-122"/>
                <a:cs typeface="Calibri" pitchFamily="34" charset="-120"/>
              </a:rPr>
              <a:t>Months 9–14</a:t>
            </a:r>
            <a:endParaRPr lang="en-US" sz="1050" dirty="0"/>
          </a:p>
        </p:txBody>
      </p:sp>
      <p:sp>
        <p:nvSpPr>
          <p:cNvPr id="32" name="Text 30"/>
          <p:cNvSpPr/>
          <p:nvPr/>
        </p:nvSpPr>
        <p:spPr>
          <a:xfrm>
            <a:off x="7488936" y="3584448"/>
            <a:ext cx="1828800" cy="2103120"/>
          </a:xfrm>
          <a:prstGeom prst="rect">
            <a:avLst/>
          </a:prstGeom>
          <a:noFill/>
          <a:ln/>
        </p:spPr>
        <p:txBody>
          <a:bodyPr wrap="square" lIns="0" tIns="0" rIns="0" bIns="0" rtlCol="0" anchor="t"/>
          <a:lstStyle/>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25–50 nodes with municipal partner</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Police control-room integration</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Reliability + weather hardening</a:t>
            </a:r>
            <a:endParaRPr lang="en-US" sz="980" dirty="0"/>
          </a:p>
        </p:txBody>
      </p:sp>
      <p:sp>
        <p:nvSpPr>
          <p:cNvPr id="33" name="Shape 31"/>
          <p:cNvSpPr/>
          <p:nvPr/>
        </p:nvSpPr>
        <p:spPr>
          <a:xfrm>
            <a:off x="10515600" y="1975104"/>
            <a:ext cx="347472" cy="347472"/>
          </a:xfrm>
          <a:prstGeom prst="ellipse">
            <a:avLst/>
          </a:prstGeom>
          <a:solidFill>
            <a:srgbClr val="2C4468"/>
          </a:solidFill>
          <a:ln w="25400">
            <a:solidFill>
              <a:srgbClr val="0B1626"/>
            </a:solidFill>
            <a:prstDash val="solid"/>
          </a:ln>
        </p:spPr>
      </p:sp>
      <p:sp>
        <p:nvSpPr>
          <p:cNvPr id="34" name="Text 32"/>
          <p:cNvSpPr/>
          <p:nvPr/>
        </p:nvSpPr>
        <p:spPr>
          <a:xfrm>
            <a:off x="10515600" y="1975104"/>
            <a:ext cx="347472" cy="347472"/>
          </a:xfrm>
          <a:prstGeom prst="rect">
            <a:avLst/>
          </a:prstGeom>
          <a:noFill/>
          <a:ln/>
        </p:spPr>
        <p:txBody>
          <a:bodyPr wrap="square" rtlCol="0" anchor="ctr"/>
          <a:lstStyle/>
          <a:p>
            <a:pPr algn="ctr" indent="0" marL="0">
              <a:buNone/>
            </a:pPr>
            <a:r>
              <a:rPr lang="en-US" sz="1300" b="1" dirty="0">
                <a:solidFill>
                  <a:srgbClr val="A8C6E8"/>
                </a:solidFill>
                <a:latin typeface="Calibri" pitchFamily="34" charset="0"/>
                <a:ea typeface="Calibri" pitchFamily="34" charset="-122"/>
                <a:cs typeface="Calibri" pitchFamily="34" charset="-120"/>
              </a:rPr>
              <a:t>5</a:t>
            </a:r>
            <a:endParaRPr lang="en-US" sz="1300" dirty="0"/>
          </a:p>
        </p:txBody>
      </p:sp>
      <p:sp>
        <p:nvSpPr>
          <p:cNvPr id="35" name="Shape 33"/>
          <p:cNvSpPr/>
          <p:nvPr/>
        </p:nvSpPr>
        <p:spPr>
          <a:xfrm>
            <a:off x="9582912" y="2560320"/>
            <a:ext cx="2121408" cy="3246120"/>
          </a:xfrm>
          <a:prstGeom prst="roundRect">
            <a:avLst>
              <a:gd name="adj" fmla="val 3448"/>
            </a:avLst>
          </a:prstGeom>
          <a:solidFill>
            <a:srgbClr val="16294A"/>
          </a:solidFill>
          <a:ln/>
        </p:spPr>
      </p:sp>
      <p:sp>
        <p:nvSpPr>
          <p:cNvPr id="36" name="Text 34"/>
          <p:cNvSpPr/>
          <p:nvPr/>
        </p:nvSpPr>
        <p:spPr>
          <a:xfrm>
            <a:off x="9747504" y="2724912"/>
            <a:ext cx="1828800" cy="56692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COMMERCIAL</a:t>
            </a:r>
            <a:endParaRPr lang="en-US" sz="1200" dirty="0"/>
          </a:p>
        </p:txBody>
      </p:sp>
      <p:sp>
        <p:nvSpPr>
          <p:cNvPr id="37" name="Text 35"/>
          <p:cNvSpPr/>
          <p:nvPr/>
        </p:nvSpPr>
        <p:spPr>
          <a:xfrm>
            <a:off x="9747504" y="3255264"/>
            <a:ext cx="1828800" cy="256032"/>
          </a:xfrm>
          <a:prstGeom prst="rect">
            <a:avLst/>
          </a:prstGeom>
          <a:noFill/>
          <a:ln/>
        </p:spPr>
        <p:txBody>
          <a:bodyPr wrap="square" lIns="0" tIns="0" rIns="0" bIns="0" rtlCol="0" anchor="ctr"/>
          <a:lstStyle/>
          <a:p>
            <a:pPr indent="0" marL="0">
              <a:buNone/>
            </a:pPr>
            <a:r>
              <a:rPr lang="en-US" sz="1050" b="1" dirty="0">
                <a:solidFill>
                  <a:srgbClr val="7E97B8"/>
                </a:solidFill>
                <a:latin typeface="Calibri" pitchFamily="34" charset="0"/>
                <a:ea typeface="Calibri" pitchFamily="34" charset="-122"/>
                <a:cs typeface="Calibri" pitchFamily="34" charset="-120"/>
              </a:rPr>
              <a:t>Month 15+</a:t>
            </a:r>
            <a:endParaRPr lang="en-US" sz="1050" dirty="0"/>
          </a:p>
        </p:txBody>
      </p:sp>
      <p:sp>
        <p:nvSpPr>
          <p:cNvPr id="38" name="Text 36"/>
          <p:cNvSpPr/>
          <p:nvPr/>
        </p:nvSpPr>
        <p:spPr>
          <a:xfrm>
            <a:off x="9747504" y="3584448"/>
            <a:ext cx="1828800" cy="2103120"/>
          </a:xfrm>
          <a:prstGeom prst="rect">
            <a:avLst/>
          </a:prstGeom>
          <a:noFill/>
          <a:ln/>
        </p:spPr>
        <p:txBody>
          <a:bodyPr wrap="square" lIns="0" tIns="0" rIns="0" bIns="0" rtlCol="0" anchor="t"/>
          <a:lstStyle/>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Smart City tenders + NHAI corridors</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SaaS dashboard subscriptions</a:t>
            </a:r>
            <a:endParaRPr lang="en-US" sz="980" dirty="0"/>
          </a:p>
          <a:p>
            <a:pPr marL="101600" indent="-101600">
              <a:spcAft>
                <a:spcPts val="600"/>
              </a:spcAft>
              <a:buSzPct val="100000"/>
              <a:buChar char="•"/>
            </a:pPr>
            <a:r>
              <a:rPr lang="en-US" sz="980" dirty="0">
                <a:solidFill>
                  <a:srgbClr val="A8C6E8"/>
                </a:solidFill>
                <a:latin typeface="Calibri" pitchFamily="34" charset="0"/>
                <a:ea typeface="Calibri" pitchFamily="34" charset="-122"/>
                <a:cs typeface="Calibri" pitchFamily="34" charset="-120"/>
              </a:rPr>
              <a:t>Manufacturing partnerships</a:t>
            </a:r>
            <a:endParaRPr lang="en-US" sz="980" dirty="0"/>
          </a:p>
        </p:txBody>
      </p:sp>
      <p:sp>
        <p:nvSpPr>
          <p:cNvPr id="39" name="Shape 37"/>
          <p:cNvSpPr/>
          <p:nvPr/>
        </p:nvSpPr>
        <p:spPr>
          <a:xfrm>
            <a:off x="548640" y="5989320"/>
            <a:ext cx="6684264" cy="457200"/>
          </a:xfrm>
          <a:prstGeom prst="rect">
            <a:avLst/>
          </a:prstGeom>
          <a:solidFill>
            <a:srgbClr val="FFB300">
              <a:alpha val="12000"/>
            </a:srgbClr>
          </a:solidFill>
          <a:ln/>
        </p:spPr>
      </p:sp>
      <p:sp>
        <p:nvSpPr>
          <p:cNvPr id="40" name="Text 38"/>
          <p:cNvSpPr/>
          <p:nvPr/>
        </p:nvSpPr>
        <p:spPr>
          <a:xfrm>
            <a:off x="548640" y="5989320"/>
            <a:ext cx="6684264" cy="457200"/>
          </a:xfrm>
          <a:prstGeom prst="rect">
            <a:avLst/>
          </a:prstGeom>
          <a:noFill/>
          <a:ln/>
        </p:spPr>
        <p:txBody>
          <a:bodyPr wrap="square" rtlCol="0" anchor="ctr"/>
          <a:lstStyle/>
          <a:p>
            <a:pPr algn="ctr" indent="0" marL="0">
              <a:buNone/>
            </a:pPr>
            <a:r>
              <a:rPr lang="en-US" sz="1150" b="1" spc="100" kern="0" dirty="0">
                <a:solidFill>
                  <a:srgbClr val="FFB300"/>
                </a:solidFill>
                <a:latin typeface="Calibri" pitchFamily="34" charset="0"/>
                <a:ea typeface="Calibri" pitchFamily="34" charset="-122"/>
                <a:cs typeface="Calibri" pitchFamily="34" charset="-120"/>
              </a:rPr>
              <a:t>THIS SUBMISSION FUNDS PHASES 1–3: WORKING MESH PROTOTYPE IN 8 MONTHS</a:t>
            </a:r>
            <a:endParaRPr lang="en-US" sz="1150" dirty="0"/>
          </a:p>
        </p:txBody>
      </p:sp>
      <p:sp>
        <p:nvSpPr>
          <p:cNvPr id="41" name="Text 39"/>
          <p:cNvSpPr/>
          <p:nvPr/>
        </p:nvSpPr>
        <p:spPr>
          <a:xfrm>
            <a:off x="7498080" y="5989320"/>
            <a:ext cx="4114800" cy="45720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Gate to next phase: each phase ends with a demo + metric review</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PROTOTYPE BUDGET</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₹19 lakh to a working 5-node mesh</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09</a:t>
            </a:r>
            <a:endParaRPr lang="en-US" sz="1100" dirty="0"/>
          </a:p>
        </p:txBody>
      </p:sp>
      <p:graphicFrame>
        <p:nvGraphicFramePr>
          <p:cNvPr id="8" name="Chart 0" descr=""/>
          <p:cNvGraphicFramePr/>
          <p:nvPr/>
        </p:nvGraphicFramePr>
        <p:xfrm>
          <a:off x="548640" y="164592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863840" y="1645920"/>
            <a:ext cx="3776472" cy="1920240"/>
          </a:xfrm>
          <a:prstGeom prst="roundRect">
            <a:avLst>
              <a:gd name="adj" fmla="val 3810"/>
            </a:avLst>
          </a:prstGeom>
          <a:solidFill>
            <a:srgbClr val="1B3155"/>
          </a:solidFill>
          <a:ln/>
        </p:spPr>
      </p:sp>
      <p:sp>
        <p:nvSpPr>
          <p:cNvPr id="10" name="Text 7"/>
          <p:cNvSpPr/>
          <p:nvPr/>
        </p:nvSpPr>
        <p:spPr>
          <a:xfrm>
            <a:off x="8138160" y="1874520"/>
            <a:ext cx="3291840" cy="274320"/>
          </a:xfrm>
          <a:prstGeom prst="rect">
            <a:avLst/>
          </a:prstGeom>
          <a:noFill/>
          <a:ln/>
        </p:spPr>
        <p:txBody>
          <a:bodyPr wrap="square" lIns="0" tIns="0" rIns="0" bIns="0" rtlCol="0" anchor="ctr"/>
          <a:lstStyle/>
          <a:p>
            <a:pPr indent="0" marL="0">
              <a:buNone/>
            </a:pPr>
            <a:r>
              <a:rPr lang="en-US" sz="1100" b="1" spc="200" kern="0" dirty="0">
                <a:solidFill>
                  <a:srgbClr val="7E97B8"/>
                </a:solidFill>
                <a:latin typeface="Calibri" pitchFamily="34" charset="0"/>
                <a:ea typeface="Calibri" pitchFamily="34" charset="-122"/>
                <a:cs typeface="Calibri" pitchFamily="34" charset="-120"/>
              </a:rPr>
              <a:t>TOTAL PROTOTYPE ESTIMATE</a:t>
            </a:r>
            <a:endParaRPr lang="en-US" sz="1100" dirty="0"/>
          </a:p>
        </p:txBody>
      </p:sp>
      <p:sp>
        <p:nvSpPr>
          <p:cNvPr id="11" name="Text 8"/>
          <p:cNvSpPr/>
          <p:nvPr/>
        </p:nvSpPr>
        <p:spPr>
          <a:xfrm>
            <a:off x="8138160" y="2148840"/>
            <a:ext cx="3291840" cy="822960"/>
          </a:xfrm>
          <a:prstGeom prst="rect">
            <a:avLst/>
          </a:prstGeom>
          <a:noFill/>
          <a:ln/>
        </p:spPr>
        <p:txBody>
          <a:bodyPr wrap="square" lIns="0" tIns="0" rIns="0" bIns="0" rtlCol="0" anchor="ctr"/>
          <a:lstStyle/>
          <a:p>
            <a:pPr indent="0" marL="0">
              <a:buNone/>
            </a:pPr>
            <a:r>
              <a:rPr lang="en-US" sz="4800" b="1" dirty="0">
                <a:solidFill>
                  <a:srgbClr val="FFB300"/>
                </a:solidFill>
                <a:latin typeface="Calibri" pitchFamily="34" charset="0"/>
                <a:ea typeface="Calibri" pitchFamily="34" charset="-122"/>
                <a:cs typeface="Calibri" pitchFamily="34" charset="-120"/>
              </a:rPr>
              <a:t>₹18–20 L</a:t>
            </a:r>
            <a:endParaRPr lang="en-US" sz="4800" dirty="0"/>
          </a:p>
        </p:txBody>
      </p:sp>
      <p:sp>
        <p:nvSpPr>
          <p:cNvPr id="12" name="Text 9"/>
          <p:cNvSpPr/>
          <p:nvPr/>
        </p:nvSpPr>
        <p:spPr>
          <a:xfrm>
            <a:off x="8138160" y="3017520"/>
            <a:ext cx="3291840" cy="365760"/>
          </a:xfrm>
          <a:prstGeom prst="rect">
            <a:avLst/>
          </a:prstGeom>
          <a:noFill/>
          <a:ln/>
        </p:spPr>
        <p:txBody>
          <a:bodyPr wrap="square" lIns="0" tIns="0" rIns="0" bIns="0" rtlCol="0" anchor="ctr"/>
          <a:lstStyle/>
          <a:p>
            <a:pPr indent="0" marL="0">
              <a:buNone/>
            </a:pPr>
            <a:r>
              <a:rPr lang="en-US" sz="1150" dirty="0">
                <a:solidFill>
                  <a:srgbClr val="A8C6E8"/>
                </a:solidFill>
                <a:latin typeface="Calibri" pitchFamily="34" charset="0"/>
                <a:ea typeface="Calibri" pitchFamily="34" charset="-122"/>
                <a:cs typeface="Calibri" pitchFamily="34" charset="-120"/>
              </a:rPr>
              <a:t>Phases 1–3 · 8 months · 5-node campus mesh</a:t>
            </a:r>
            <a:endParaRPr lang="en-US" sz="1150" dirty="0"/>
          </a:p>
        </p:txBody>
      </p:sp>
      <p:sp>
        <p:nvSpPr>
          <p:cNvPr id="13" name="Shape 10"/>
          <p:cNvSpPr/>
          <p:nvPr/>
        </p:nvSpPr>
        <p:spPr>
          <a:xfrm>
            <a:off x="7863840" y="3794760"/>
            <a:ext cx="3776472" cy="2331720"/>
          </a:xfrm>
          <a:prstGeom prst="roundRect">
            <a:avLst>
              <a:gd name="adj" fmla="val 3137"/>
            </a:avLst>
          </a:prstGeom>
          <a:solidFill>
            <a:srgbClr val="16294A"/>
          </a:solidFill>
          <a:ln/>
        </p:spPr>
      </p:sp>
      <p:sp>
        <p:nvSpPr>
          <p:cNvPr id="14" name="Text 11"/>
          <p:cNvSpPr/>
          <p:nvPr/>
        </p:nvSpPr>
        <p:spPr>
          <a:xfrm>
            <a:off x="8138160" y="4005072"/>
            <a:ext cx="3291840" cy="274320"/>
          </a:xfrm>
          <a:prstGeom prst="rect">
            <a:avLst/>
          </a:prstGeom>
          <a:noFill/>
          <a:ln/>
        </p:spPr>
        <p:txBody>
          <a:bodyPr wrap="square" lIns="0" tIns="0" rIns="0" bIns="0" rtlCol="0" anchor="ctr"/>
          <a:lstStyle/>
          <a:p>
            <a:pPr indent="0" marL="0">
              <a:buNone/>
            </a:pPr>
            <a:r>
              <a:rPr lang="en-US" sz="1100" b="1" spc="200" kern="0" dirty="0">
                <a:solidFill>
                  <a:srgbClr val="7E97B8"/>
                </a:solidFill>
                <a:latin typeface="Calibri" pitchFamily="34" charset="0"/>
                <a:ea typeface="Calibri" pitchFamily="34" charset="-122"/>
                <a:cs typeface="Calibri" pitchFamily="34" charset="-120"/>
              </a:rPr>
              <a:t>COST DISCIPLINE</a:t>
            </a:r>
            <a:endParaRPr lang="en-US" sz="1100" dirty="0"/>
          </a:p>
        </p:txBody>
      </p:sp>
      <p:sp>
        <p:nvSpPr>
          <p:cNvPr id="15" name="Text 12"/>
          <p:cNvSpPr/>
          <p:nvPr/>
        </p:nvSpPr>
        <p:spPr>
          <a:xfrm>
            <a:off x="8138160" y="4315968"/>
            <a:ext cx="3291840" cy="1737360"/>
          </a:xfrm>
          <a:prstGeom prst="rect">
            <a:avLst/>
          </a:prstGeom>
          <a:noFill/>
          <a:ln/>
        </p:spPr>
        <p:txBody>
          <a:bodyPr wrap="square" lIns="0" tIns="0" rIns="0" bIns="0" rtlCol="0" anchor="t"/>
          <a:lstStyle/>
          <a:p>
            <a:pPr marL="127000" indent="-127000">
              <a:spcAft>
                <a:spcPts val="800"/>
              </a:spcAft>
              <a:buSzPct val="100000"/>
              <a:buChar char="•"/>
            </a:pPr>
            <a:r>
              <a:rPr lang="en-US" sz="1150" dirty="0">
                <a:solidFill>
                  <a:srgbClr val="FFFFFF"/>
                </a:solidFill>
                <a:latin typeface="Calibri" pitchFamily="34" charset="0"/>
                <a:ea typeface="Calibri" pitchFamily="34" charset="-122"/>
                <a:cs typeface="Calibri" pitchFamily="34" charset="-120"/>
              </a:rPr>
              <a:t>Commodity hardware only — no custom silicon</a:t>
            </a:r>
            <a:endParaRPr lang="en-US" sz="1150" dirty="0"/>
          </a:p>
          <a:p>
            <a:pPr marL="127000" indent="-127000">
              <a:spcAft>
                <a:spcPts val="800"/>
              </a:spcAft>
              <a:buSzPct val="100000"/>
              <a:buChar char="•"/>
            </a:pPr>
            <a:r>
              <a:rPr lang="en-US" sz="1150" dirty="0">
                <a:solidFill>
                  <a:srgbClr val="FFFFFF"/>
                </a:solidFill>
                <a:latin typeface="Calibri" pitchFamily="34" charset="0"/>
                <a:ea typeface="Calibri" pitchFamily="34" charset="-122"/>
                <a:cs typeface="Calibri" pitchFamily="34" charset="-120"/>
              </a:rPr>
              <a:t>Retrofit existing poles: zero civil-works cost</a:t>
            </a:r>
            <a:endParaRPr lang="en-US" sz="1150" dirty="0"/>
          </a:p>
          <a:p>
            <a:pPr marL="127000" indent="-127000">
              <a:spcAft>
                <a:spcPts val="800"/>
              </a:spcAft>
              <a:buSzPct val="100000"/>
              <a:buChar char="•"/>
            </a:pPr>
            <a:r>
              <a:rPr lang="en-US" sz="1150" dirty="0">
                <a:solidFill>
                  <a:srgbClr val="FFFFFF"/>
                </a:solidFill>
                <a:latin typeface="Calibri" pitchFamily="34" charset="0"/>
                <a:ea typeface="Calibri" pitchFamily="34" charset="-122"/>
                <a:cs typeface="Calibri" pitchFamily="34" charset="-120"/>
              </a:rPr>
              <a:t>Open-source AI stack (YOLO, OpenCV, TF)</a:t>
            </a:r>
            <a:endParaRPr lang="en-US" sz="1150" dirty="0"/>
          </a:p>
          <a:p>
            <a:pPr marL="127000" indent="-127000">
              <a:spcAft>
                <a:spcPts val="800"/>
              </a:spcAft>
              <a:buSzPct val="100000"/>
              <a:buChar char="•"/>
            </a:pPr>
            <a:r>
              <a:rPr lang="en-US" sz="1150" dirty="0">
                <a:solidFill>
                  <a:srgbClr val="FFFFFF"/>
                </a:solidFill>
                <a:latin typeface="Calibri" pitchFamily="34" charset="0"/>
                <a:ea typeface="Calibri" pitchFamily="34" charset="-122"/>
                <a:cs typeface="Calibri" pitchFamily="34" charset="-120"/>
              </a:rPr>
              <a:t>Campus pilot before any city spend</a:t>
            </a:r>
            <a:endParaRPr lang="en-US" sz="1150" dirty="0"/>
          </a:p>
        </p:txBody>
      </p:sp>
      <p:sp>
        <p:nvSpPr>
          <p:cNvPr id="16" name="Text 13"/>
          <p:cNvSpPr/>
          <p:nvPr/>
        </p:nvSpPr>
        <p:spPr>
          <a:xfrm>
            <a:off x="548640" y="6263640"/>
            <a:ext cx="11091672" cy="365760"/>
          </a:xfrm>
          <a:prstGeom prst="rect">
            <a:avLst/>
          </a:prstGeom>
          <a:noFill/>
          <a:ln/>
        </p:spPr>
        <p:txBody>
          <a:bodyPr wrap="square" lIns="0" tIns="0" rIns="0" bIns="0" rtlCol="0" anchor="ctr"/>
          <a:lstStyle/>
          <a:p>
            <a:pPr indent="0" marL="0">
              <a:buNone/>
            </a:pPr>
            <a:r>
              <a:rPr lang="en-US" sz="1000" i="1" dirty="0">
                <a:solidFill>
                  <a:srgbClr val="7E97B8"/>
                </a:solidFill>
                <a:latin typeface="Calibri" pitchFamily="34" charset="0"/>
                <a:ea typeface="Calibri" pitchFamily="34" charset="-122"/>
                <a:cs typeface="Calibri" pitchFamily="34" charset="-120"/>
              </a:rPr>
              <a:t>Hardware lines (₹9.5 L) cover ~11 node-builds at the ₹82 k per-node BOM on the next slide — 5 deployed, plus a lab reference unit, two build iterations and spare cameras/processors.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UNIT ECONOMICS — INDICATIVE</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What one node costs, and what it earns</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10</a:t>
            </a:r>
            <a:endParaRPr lang="en-US" sz="1100" dirty="0"/>
          </a:p>
        </p:txBody>
      </p:sp>
      <p:sp>
        <p:nvSpPr>
          <p:cNvPr id="8" name="Shape 6"/>
          <p:cNvSpPr/>
          <p:nvPr/>
        </p:nvSpPr>
        <p:spPr>
          <a:xfrm>
            <a:off x="548640" y="1600200"/>
            <a:ext cx="5852160" cy="4160520"/>
          </a:xfrm>
          <a:prstGeom prst="roundRect">
            <a:avLst>
              <a:gd name="adj" fmla="val 1758"/>
            </a:avLst>
          </a:prstGeom>
          <a:solidFill>
            <a:srgbClr val="16294A"/>
          </a:solidFill>
          <a:ln/>
        </p:spPr>
      </p:sp>
      <p:sp>
        <p:nvSpPr>
          <p:cNvPr id="9" name="Text 7"/>
          <p:cNvSpPr/>
          <p:nvPr/>
        </p:nvSpPr>
        <p:spPr>
          <a:xfrm>
            <a:off x="868680" y="1828800"/>
            <a:ext cx="5212080" cy="292608"/>
          </a:xfrm>
          <a:prstGeom prst="rect">
            <a:avLst/>
          </a:prstGeom>
          <a:noFill/>
          <a:ln/>
        </p:spPr>
        <p:txBody>
          <a:bodyPr wrap="square" lIns="0" tIns="0" rIns="0" bIns="0" rtlCol="0" anchor="ctr"/>
          <a:lstStyle/>
          <a:p>
            <a:pPr indent="0" marL="0">
              <a:buNone/>
            </a:pPr>
            <a:r>
              <a:rPr lang="en-US" sz="1250" b="1" spc="200" kern="0" dirty="0">
                <a:solidFill>
                  <a:srgbClr val="FFB300"/>
                </a:solidFill>
                <a:latin typeface="Calibri" pitchFamily="34" charset="0"/>
                <a:ea typeface="Calibri" pitchFamily="34" charset="-122"/>
                <a:cs typeface="Calibri" pitchFamily="34" charset="-120"/>
              </a:rPr>
              <a:t>PER-NODE BILL OF MATERIALS (PROTOTYPE)</a:t>
            </a:r>
            <a:endParaRPr lang="en-US" sz="1250" dirty="0"/>
          </a:p>
        </p:txBody>
      </p:sp>
      <p:sp>
        <p:nvSpPr>
          <p:cNvPr id="10" name="Shape 8"/>
          <p:cNvSpPr/>
          <p:nvPr/>
        </p:nvSpPr>
        <p:spPr>
          <a:xfrm>
            <a:off x="777240" y="2240280"/>
            <a:ext cx="5394960" cy="384048"/>
          </a:xfrm>
          <a:prstGeom prst="rect">
            <a:avLst/>
          </a:prstGeom>
          <a:solidFill>
            <a:srgbClr val="1B3155">
              <a:alpha val="55000"/>
            </a:srgbClr>
          </a:solidFill>
          <a:ln/>
        </p:spPr>
      </p:sp>
      <p:sp>
        <p:nvSpPr>
          <p:cNvPr id="11" name="Text 9"/>
          <p:cNvSpPr/>
          <p:nvPr/>
        </p:nvSpPr>
        <p:spPr>
          <a:xfrm>
            <a:off x="896112" y="2267712"/>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AI camera (night-capable)</a:t>
            </a:r>
            <a:endParaRPr lang="en-US" sz="1150" dirty="0"/>
          </a:p>
        </p:txBody>
      </p:sp>
      <p:sp>
        <p:nvSpPr>
          <p:cNvPr id="12" name="Text 10"/>
          <p:cNvSpPr/>
          <p:nvPr/>
        </p:nvSpPr>
        <p:spPr>
          <a:xfrm>
            <a:off x="4846320" y="2267712"/>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8,000</a:t>
            </a:r>
            <a:endParaRPr lang="en-US" sz="1150" dirty="0"/>
          </a:p>
        </p:txBody>
      </p:sp>
      <p:sp>
        <p:nvSpPr>
          <p:cNvPr id="13" name="Text 11"/>
          <p:cNvSpPr/>
          <p:nvPr/>
        </p:nvSpPr>
        <p:spPr>
          <a:xfrm>
            <a:off x="896112" y="2670048"/>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Edge AI processor (Jetson-class)</a:t>
            </a:r>
            <a:endParaRPr lang="en-US" sz="1150" dirty="0"/>
          </a:p>
        </p:txBody>
      </p:sp>
      <p:sp>
        <p:nvSpPr>
          <p:cNvPr id="14" name="Text 12"/>
          <p:cNvSpPr/>
          <p:nvPr/>
        </p:nvSpPr>
        <p:spPr>
          <a:xfrm>
            <a:off x="4846320" y="2670048"/>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35,000</a:t>
            </a:r>
            <a:endParaRPr lang="en-US" sz="1150" dirty="0"/>
          </a:p>
        </p:txBody>
      </p:sp>
      <p:sp>
        <p:nvSpPr>
          <p:cNvPr id="15" name="Shape 13"/>
          <p:cNvSpPr/>
          <p:nvPr/>
        </p:nvSpPr>
        <p:spPr>
          <a:xfrm>
            <a:off x="777240" y="3044952"/>
            <a:ext cx="5394960" cy="384048"/>
          </a:xfrm>
          <a:prstGeom prst="rect">
            <a:avLst/>
          </a:prstGeom>
          <a:solidFill>
            <a:srgbClr val="1B3155">
              <a:alpha val="55000"/>
            </a:srgbClr>
          </a:solidFill>
          <a:ln/>
        </p:spPr>
      </p:sp>
      <p:sp>
        <p:nvSpPr>
          <p:cNvPr id="16" name="Text 14"/>
          <p:cNvSpPr/>
          <p:nvPr/>
        </p:nvSpPr>
        <p:spPr>
          <a:xfrm>
            <a:off x="896112" y="3072384"/>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Mic array + vibration + GPS sensors</a:t>
            </a:r>
            <a:endParaRPr lang="en-US" sz="1150" dirty="0"/>
          </a:p>
        </p:txBody>
      </p:sp>
      <p:sp>
        <p:nvSpPr>
          <p:cNvPr id="17" name="Text 15"/>
          <p:cNvSpPr/>
          <p:nvPr/>
        </p:nvSpPr>
        <p:spPr>
          <a:xfrm>
            <a:off x="4846320" y="3072384"/>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6,000</a:t>
            </a:r>
            <a:endParaRPr lang="en-US" sz="1150" dirty="0"/>
          </a:p>
        </p:txBody>
      </p:sp>
      <p:sp>
        <p:nvSpPr>
          <p:cNvPr id="18" name="Text 16"/>
          <p:cNvSpPr/>
          <p:nvPr/>
        </p:nvSpPr>
        <p:spPr>
          <a:xfrm>
            <a:off x="896112" y="3474720"/>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LoRa / NB-IoT radio module</a:t>
            </a:r>
            <a:endParaRPr lang="en-US" sz="1150" dirty="0"/>
          </a:p>
        </p:txBody>
      </p:sp>
      <p:sp>
        <p:nvSpPr>
          <p:cNvPr id="19" name="Text 17"/>
          <p:cNvSpPr/>
          <p:nvPr/>
        </p:nvSpPr>
        <p:spPr>
          <a:xfrm>
            <a:off x="4846320" y="3474720"/>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3,000</a:t>
            </a:r>
            <a:endParaRPr lang="en-US" sz="1150" dirty="0"/>
          </a:p>
        </p:txBody>
      </p:sp>
      <p:sp>
        <p:nvSpPr>
          <p:cNvPr id="20" name="Shape 18"/>
          <p:cNvSpPr/>
          <p:nvPr/>
        </p:nvSpPr>
        <p:spPr>
          <a:xfrm>
            <a:off x="777240" y="3849624"/>
            <a:ext cx="5394960" cy="384048"/>
          </a:xfrm>
          <a:prstGeom prst="rect">
            <a:avLst/>
          </a:prstGeom>
          <a:solidFill>
            <a:srgbClr val="1B3155">
              <a:alpha val="55000"/>
            </a:srgbClr>
          </a:solidFill>
          <a:ln/>
        </p:spPr>
      </p:sp>
      <p:sp>
        <p:nvSpPr>
          <p:cNvPr id="21" name="Text 19"/>
          <p:cNvSpPr/>
          <p:nvPr/>
        </p:nvSpPr>
        <p:spPr>
          <a:xfrm>
            <a:off x="896112" y="3877056"/>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Backup battery + power driver</a:t>
            </a:r>
            <a:endParaRPr lang="en-US" sz="1150" dirty="0"/>
          </a:p>
        </p:txBody>
      </p:sp>
      <p:sp>
        <p:nvSpPr>
          <p:cNvPr id="22" name="Text 20"/>
          <p:cNvSpPr/>
          <p:nvPr/>
        </p:nvSpPr>
        <p:spPr>
          <a:xfrm>
            <a:off x="4846320" y="3877056"/>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7,000</a:t>
            </a:r>
            <a:endParaRPr lang="en-US" sz="1150" dirty="0"/>
          </a:p>
        </p:txBody>
      </p:sp>
      <p:sp>
        <p:nvSpPr>
          <p:cNvPr id="23" name="Text 21"/>
          <p:cNvSpPr/>
          <p:nvPr/>
        </p:nvSpPr>
        <p:spPr>
          <a:xfrm>
            <a:off x="896112" y="4279392"/>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IP66 enclosure, LED floodlight, speaker, mount</a:t>
            </a:r>
            <a:endParaRPr lang="en-US" sz="1150" dirty="0"/>
          </a:p>
        </p:txBody>
      </p:sp>
      <p:sp>
        <p:nvSpPr>
          <p:cNvPr id="24" name="Text 22"/>
          <p:cNvSpPr/>
          <p:nvPr/>
        </p:nvSpPr>
        <p:spPr>
          <a:xfrm>
            <a:off x="4846320" y="4279392"/>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14,000</a:t>
            </a:r>
            <a:endParaRPr lang="en-US" sz="1150" dirty="0"/>
          </a:p>
        </p:txBody>
      </p:sp>
      <p:sp>
        <p:nvSpPr>
          <p:cNvPr id="25" name="Shape 23"/>
          <p:cNvSpPr/>
          <p:nvPr/>
        </p:nvSpPr>
        <p:spPr>
          <a:xfrm>
            <a:off x="777240" y="4654296"/>
            <a:ext cx="5394960" cy="384048"/>
          </a:xfrm>
          <a:prstGeom prst="rect">
            <a:avLst/>
          </a:prstGeom>
          <a:solidFill>
            <a:srgbClr val="1B3155">
              <a:alpha val="55000"/>
            </a:srgbClr>
          </a:solidFill>
          <a:ln/>
        </p:spPr>
      </p:sp>
      <p:sp>
        <p:nvSpPr>
          <p:cNvPr id="26" name="Text 24"/>
          <p:cNvSpPr/>
          <p:nvPr/>
        </p:nvSpPr>
        <p:spPr>
          <a:xfrm>
            <a:off x="896112" y="4681728"/>
            <a:ext cx="3931920" cy="34747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Assembly, wiring &amp; bench test</a:t>
            </a:r>
            <a:endParaRPr lang="en-US" sz="1150" dirty="0"/>
          </a:p>
        </p:txBody>
      </p:sp>
      <p:sp>
        <p:nvSpPr>
          <p:cNvPr id="27" name="Text 25"/>
          <p:cNvSpPr/>
          <p:nvPr/>
        </p:nvSpPr>
        <p:spPr>
          <a:xfrm>
            <a:off x="4846320" y="4681728"/>
            <a:ext cx="1234440" cy="347472"/>
          </a:xfrm>
          <a:prstGeom prst="rect">
            <a:avLst/>
          </a:prstGeom>
          <a:noFill/>
          <a:ln/>
        </p:spPr>
        <p:txBody>
          <a:bodyPr wrap="square" lIns="0" tIns="0" rIns="0" bIns="0" rtlCol="0" anchor="ctr"/>
          <a:lstStyle/>
          <a:p>
            <a:pPr algn="r" indent="0" marL="0">
              <a:buNone/>
            </a:pPr>
            <a:r>
              <a:rPr lang="en-US" sz="1150" dirty="0">
                <a:solidFill>
                  <a:srgbClr val="A8C6E8"/>
                </a:solidFill>
                <a:latin typeface="Calibri" pitchFamily="34" charset="0"/>
                <a:ea typeface="Calibri" pitchFamily="34" charset="-122"/>
                <a:cs typeface="Calibri" pitchFamily="34" charset="-120"/>
              </a:rPr>
              <a:t>₹ 9,000</a:t>
            </a:r>
            <a:endParaRPr lang="en-US" sz="1150" dirty="0"/>
          </a:p>
        </p:txBody>
      </p:sp>
      <p:sp>
        <p:nvSpPr>
          <p:cNvPr id="28" name="Shape 26"/>
          <p:cNvSpPr/>
          <p:nvPr/>
        </p:nvSpPr>
        <p:spPr>
          <a:xfrm>
            <a:off x="868680" y="5138928"/>
            <a:ext cx="5212080" cy="0"/>
          </a:xfrm>
          <a:prstGeom prst="line">
            <a:avLst/>
          </a:prstGeom>
          <a:noFill/>
          <a:ln w="12700">
            <a:solidFill>
              <a:srgbClr val="C98A00"/>
            </a:solidFill>
            <a:prstDash val="solid"/>
          </a:ln>
        </p:spPr>
      </p:sp>
      <p:sp>
        <p:nvSpPr>
          <p:cNvPr id="29" name="Text 27"/>
          <p:cNvSpPr/>
          <p:nvPr/>
        </p:nvSpPr>
        <p:spPr>
          <a:xfrm>
            <a:off x="896112" y="5230368"/>
            <a:ext cx="393192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TOTAL PARTS COST / NODE</a:t>
            </a:r>
            <a:endParaRPr lang="en-US" sz="1200" dirty="0"/>
          </a:p>
        </p:txBody>
      </p:sp>
      <p:sp>
        <p:nvSpPr>
          <p:cNvPr id="30" name="Text 28"/>
          <p:cNvSpPr/>
          <p:nvPr/>
        </p:nvSpPr>
        <p:spPr>
          <a:xfrm>
            <a:off x="4297680" y="5230368"/>
            <a:ext cx="1783080" cy="365760"/>
          </a:xfrm>
          <a:prstGeom prst="rect">
            <a:avLst/>
          </a:prstGeom>
          <a:noFill/>
          <a:ln/>
        </p:spPr>
        <p:txBody>
          <a:bodyPr wrap="square" lIns="0" tIns="0" rIns="0" bIns="0" rtlCol="0" anchor="ctr"/>
          <a:lstStyle/>
          <a:p>
            <a:pPr algn="r" indent="0" marL="0">
              <a:buNone/>
            </a:pPr>
            <a:r>
              <a:rPr lang="en-US" sz="1500" b="1" dirty="0">
                <a:solidFill>
                  <a:srgbClr val="FFB300"/>
                </a:solidFill>
                <a:latin typeface="Calibri" pitchFamily="34" charset="0"/>
                <a:ea typeface="Calibri" pitchFamily="34" charset="-122"/>
                <a:cs typeface="Calibri" pitchFamily="34" charset="-120"/>
              </a:rPr>
              <a:t>≈ ₹ 82,000</a:t>
            </a:r>
            <a:endParaRPr lang="en-US" sz="1500" dirty="0"/>
          </a:p>
        </p:txBody>
      </p:sp>
      <p:sp>
        <p:nvSpPr>
          <p:cNvPr id="31" name="Shape 29"/>
          <p:cNvSpPr/>
          <p:nvPr/>
        </p:nvSpPr>
        <p:spPr>
          <a:xfrm>
            <a:off x="6720840" y="1600200"/>
            <a:ext cx="4919472" cy="1783080"/>
          </a:xfrm>
          <a:prstGeom prst="roundRect">
            <a:avLst>
              <a:gd name="adj" fmla="val 4103"/>
            </a:avLst>
          </a:prstGeom>
          <a:solidFill>
            <a:srgbClr val="1B3155"/>
          </a:solidFill>
          <a:ln/>
        </p:spPr>
      </p:sp>
      <p:sp>
        <p:nvSpPr>
          <p:cNvPr id="32" name="Text 30"/>
          <p:cNvSpPr/>
          <p:nvPr/>
        </p:nvSpPr>
        <p:spPr>
          <a:xfrm>
            <a:off x="7040880" y="1810512"/>
            <a:ext cx="4297680" cy="274320"/>
          </a:xfrm>
          <a:prstGeom prst="rect">
            <a:avLst/>
          </a:prstGeom>
          <a:noFill/>
          <a:ln/>
        </p:spPr>
        <p:txBody>
          <a:bodyPr wrap="square" lIns="0" tIns="0" rIns="0" bIns="0" rtlCol="0" anchor="ctr"/>
          <a:lstStyle/>
          <a:p>
            <a:pPr indent="0" marL="0">
              <a:buNone/>
            </a:pPr>
            <a:r>
              <a:rPr lang="en-US" sz="1100" b="1" spc="200" kern="0" dirty="0">
                <a:solidFill>
                  <a:srgbClr val="7E97B8"/>
                </a:solidFill>
                <a:latin typeface="Calibri" pitchFamily="34" charset="0"/>
                <a:ea typeface="Calibri" pitchFamily="34" charset="-122"/>
                <a:cs typeface="Calibri" pitchFamily="34" charset="-120"/>
              </a:rPr>
              <a:t>AT VOLUME (1,000+ NODES)</a:t>
            </a:r>
            <a:endParaRPr lang="en-US" sz="1100" dirty="0"/>
          </a:p>
        </p:txBody>
      </p:sp>
      <p:sp>
        <p:nvSpPr>
          <p:cNvPr id="33" name="Text 31"/>
          <p:cNvSpPr/>
          <p:nvPr/>
        </p:nvSpPr>
        <p:spPr>
          <a:xfrm>
            <a:off x="7040880" y="2084832"/>
            <a:ext cx="4297680" cy="685800"/>
          </a:xfrm>
          <a:prstGeom prst="rect">
            <a:avLst/>
          </a:prstGeom>
          <a:noFill/>
          <a:ln/>
        </p:spPr>
        <p:txBody>
          <a:bodyPr wrap="square" lIns="0" tIns="0" rIns="0" bIns="0" rtlCol="0" anchor="ctr"/>
          <a:lstStyle/>
          <a:p>
            <a:pPr indent="0" marL="0">
              <a:buNone/>
            </a:pPr>
            <a:r>
              <a:rPr lang="en-US" sz="3800" b="1" dirty="0">
                <a:solidFill>
                  <a:srgbClr val="FFB300"/>
                </a:solidFill>
                <a:latin typeface="Calibri" pitchFamily="34" charset="0"/>
                <a:ea typeface="Calibri" pitchFamily="34" charset="-122"/>
                <a:cs typeface="Calibri" pitchFamily="34" charset="-120"/>
              </a:rPr>
              <a:t>₹ 48–55 k</a:t>
            </a:r>
            <a:endParaRPr lang="en-US" sz="3800" dirty="0"/>
          </a:p>
        </p:txBody>
      </p:sp>
      <p:sp>
        <p:nvSpPr>
          <p:cNvPr id="34" name="Text 32"/>
          <p:cNvSpPr/>
          <p:nvPr/>
        </p:nvSpPr>
        <p:spPr>
          <a:xfrm>
            <a:off x="7040880" y="2816352"/>
            <a:ext cx="4297680" cy="50292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Integrated carrier board replaces dev-kit; 35–40% volume pricing on sensors and enclosure</a:t>
            </a:r>
            <a:endParaRPr lang="en-US" sz="1050" dirty="0"/>
          </a:p>
        </p:txBody>
      </p:sp>
      <p:sp>
        <p:nvSpPr>
          <p:cNvPr id="35" name="Shape 33"/>
          <p:cNvSpPr/>
          <p:nvPr/>
        </p:nvSpPr>
        <p:spPr>
          <a:xfrm>
            <a:off x="6720840" y="3611880"/>
            <a:ext cx="4919472" cy="2148840"/>
          </a:xfrm>
          <a:prstGeom prst="roundRect">
            <a:avLst>
              <a:gd name="adj" fmla="val 3404"/>
            </a:avLst>
          </a:prstGeom>
          <a:solidFill>
            <a:srgbClr val="16294A"/>
          </a:solidFill>
          <a:ln/>
        </p:spPr>
      </p:sp>
      <p:sp>
        <p:nvSpPr>
          <p:cNvPr id="36" name="Text 34"/>
          <p:cNvSpPr/>
          <p:nvPr/>
        </p:nvSpPr>
        <p:spPr>
          <a:xfrm>
            <a:off x="7040880" y="3822192"/>
            <a:ext cx="4297680" cy="274320"/>
          </a:xfrm>
          <a:prstGeom prst="rect">
            <a:avLst/>
          </a:prstGeom>
          <a:noFill/>
          <a:ln/>
        </p:spPr>
        <p:txBody>
          <a:bodyPr wrap="square" lIns="0" tIns="0" rIns="0" bIns="0" rtlCol="0" anchor="ctr"/>
          <a:lstStyle/>
          <a:p>
            <a:pPr indent="0" marL="0">
              <a:buNone/>
            </a:pPr>
            <a:r>
              <a:rPr lang="en-US" sz="1100" b="1" spc="200" kern="0" dirty="0">
                <a:solidFill>
                  <a:srgbClr val="7E97B8"/>
                </a:solidFill>
                <a:latin typeface="Calibri" pitchFamily="34" charset="0"/>
                <a:ea typeface="Calibri" pitchFamily="34" charset="-122"/>
                <a:cs typeface="Calibri" pitchFamily="34" charset="-120"/>
              </a:rPr>
              <a:t>INDICATIVE PRICING PER NODE</a:t>
            </a:r>
            <a:endParaRPr lang="en-US" sz="1100" dirty="0"/>
          </a:p>
        </p:txBody>
      </p:sp>
      <p:sp>
        <p:nvSpPr>
          <p:cNvPr id="37" name="Shape 35"/>
          <p:cNvSpPr/>
          <p:nvPr/>
        </p:nvSpPr>
        <p:spPr>
          <a:xfrm>
            <a:off x="7081114" y="4237330"/>
            <a:ext cx="138989" cy="138989"/>
          </a:xfrm>
          <a:prstGeom prst="ellipse">
            <a:avLst/>
          </a:prstGeom>
          <a:solidFill>
            <a:srgbClr val="FFB300">
              <a:alpha val="12000"/>
            </a:srgbClr>
          </a:solidFill>
          <a:ln/>
        </p:spPr>
      </p:sp>
      <p:sp>
        <p:nvSpPr>
          <p:cNvPr id="38" name="Shape 36"/>
          <p:cNvSpPr/>
          <p:nvPr/>
        </p:nvSpPr>
        <p:spPr>
          <a:xfrm>
            <a:off x="7101230" y="4257446"/>
            <a:ext cx="98755" cy="98755"/>
          </a:xfrm>
          <a:prstGeom prst="ellipse">
            <a:avLst/>
          </a:prstGeom>
          <a:solidFill>
            <a:srgbClr val="FFB300">
              <a:alpha val="28000"/>
            </a:srgbClr>
          </a:solidFill>
          <a:ln/>
        </p:spPr>
      </p:sp>
      <p:sp>
        <p:nvSpPr>
          <p:cNvPr id="39" name="Shape 37"/>
          <p:cNvSpPr/>
          <p:nvPr/>
        </p:nvSpPr>
        <p:spPr>
          <a:xfrm>
            <a:off x="7114032" y="4270248"/>
            <a:ext cx="73152" cy="73152"/>
          </a:xfrm>
          <a:prstGeom prst="ellipse">
            <a:avLst/>
          </a:prstGeom>
          <a:solidFill>
            <a:srgbClr val="FFB300"/>
          </a:solidFill>
          <a:ln/>
        </p:spPr>
      </p:sp>
      <p:sp>
        <p:nvSpPr>
          <p:cNvPr id="40" name="Text 38"/>
          <p:cNvSpPr/>
          <p:nvPr/>
        </p:nvSpPr>
        <p:spPr>
          <a:xfrm>
            <a:off x="7360920" y="4160520"/>
            <a:ext cx="411480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Hardware + installation   </a:t>
            </a:r>
            <a:pPr indent="0" marL="0">
              <a:buNone/>
            </a:pPr>
            <a:r>
              <a:rPr lang="en-US" sz="1150" dirty="0">
                <a:solidFill>
                  <a:srgbClr val="A8C6E8"/>
                </a:solidFill>
                <a:latin typeface="Calibri" pitchFamily="34" charset="0"/>
                <a:ea typeface="Calibri" pitchFamily="34" charset="-122"/>
                <a:cs typeface="Calibri" pitchFamily="34" charset="-120"/>
              </a:rPr>
              <a:t>₹ 95 k – 1.2 L one-time</a:t>
            </a:r>
            <a:endParaRPr lang="en-US" sz="1150" dirty="0"/>
          </a:p>
        </p:txBody>
      </p:sp>
      <p:sp>
        <p:nvSpPr>
          <p:cNvPr id="41" name="Shape 39"/>
          <p:cNvSpPr/>
          <p:nvPr/>
        </p:nvSpPr>
        <p:spPr>
          <a:xfrm>
            <a:off x="7081114" y="4712818"/>
            <a:ext cx="138989" cy="138989"/>
          </a:xfrm>
          <a:prstGeom prst="ellipse">
            <a:avLst/>
          </a:prstGeom>
          <a:solidFill>
            <a:srgbClr val="FFB300">
              <a:alpha val="12000"/>
            </a:srgbClr>
          </a:solidFill>
          <a:ln/>
        </p:spPr>
      </p:sp>
      <p:sp>
        <p:nvSpPr>
          <p:cNvPr id="42" name="Shape 40"/>
          <p:cNvSpPr/>
          <p:nvPr/>
        </p:nvSpPr>
        <p:spPr>
          <a:xfrm>
            <a:off x="7101230" y="4732934"/>
            <a:ext cx="98755" cy="98755"/>
          </a:xfrm>
          <a:prstGeom prst="ellipse">
            <a:avLst/>
          </a:prstGeom>
          <a:solidFill>
            <a:srgbClr val="FFB300">
              <a:alpha val="28000"/>
            </a:srgbClr>
          </a:solidFill>
          <a:ln/>
        </p:spPr>
      </p:sp>
      <p:sp>
        <p:nvSpPr>
          <p:cNvPr id="43" name="Shape 41"/>
          <p:cNvSpPr/>
          <p:nvPr/>
        </p:nvSpPr>
        <p:spPr>
          <a:xfrm>
            <a:off x="7114032" y="4745736"/>
            <a:ext cx="73152" cy="73152"/>
          </a:xfrm>
          <a:prstGeom prst="ellipse">
            <a:avLst/>
          </a:prstGeom>
          <a:solidFill>
            <a:srgbClr val="FFB300"/>
          </a:solidFill>
          <a:ln/>
        </p:spPr>
      </p:sp>
      <p:sp>
        <p:nvSpPr>
          <p:cNvPr id="44" name="Text 42"/>
          <p:cNvSpPr/>
          <p:nvPr/>
        </p:nvSpPr>
        <p:spPr>
          <a:xfrm>
            <a:off x="7360920" y="4636008"/>
            <a:ext cx="411480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Maintenance (AMC)   </a:t>
            </a:r>
            <a:pPr indent="0" marL="0">
              <a:buNone/>
            </a:pPr>
            <a:r>
              <a:rPr lang="en-US" sz="1150" dirty="0">
                <a:solidFill>
                  <a:srgbClr val="A8C6E8"/>
                </a:solidFill>
                <a:latin typeface="Calibri" pitchFamily="34" charset="0"/>
                <a:ea typeface="Calibri" pitchFamily="34" charset="-122"/>
                <a:cs typeface="Calibri" pitchFamily="34" charset="-120"/>
              </a:rPr>
              <a:t>₹ 8–10 k / node / year</a:t>
            </a:r>
            <a:endParaRPr lang="en-US" sz="1150" dirty="0"/>
          </a:p>
        </p:txBody>
      </p:sp>
      <p:sp>
        <p:nvSpPr>
          <p:cNvPr id="45" name="Shape 43"/>
          <p:cNvSpPr/>
          <p:nvPr/>
        </p:nvSpPr>
        <p:spPr>
          <a:xfrm>
            <a:off x="7081114" y="5188306"/>
            <a:ext cx="138989" cy="138989"/>
          </a:xfrm>
          <a:prstGeom prst="ellipse">
            <a:avLst/>
          </a:prstGeom>
          <a:solidFill>
            <a:srgbClr val="FFB300">
              <a:alpha val="12000"/>
            </a:srgbClr>
          </a:solidFill>
          <a:ln/>
        </p:spPr>
      </p:sp>
      <p:sp>
        <p:nvSpPr>
          <p:cNvPr id="46" name="Shape 44"/>
          <p:cNvSpPr/>
          <p:nvPr/>
        </p:nvSpPr>
        <p:spPr>
          <a:xfrm>
            <a:off x="7101230" y="5208422"/>
            <a:ext cx="98755" cy="98755"/>
          </a:xfrm>
          <a:prstGeom prst="ellipse">
            <a:avLst/>
          </a:prstGeom>
          <a:solidFill>
            <a:srgbClr val="FFB300">
              <a:alpha val="28000"/>
            </a:srgbClr>
          </a:solidFill>
          <a:ln/>
        </p:spPr>
      </p:sp>
      <p:sp>
        <p:nvSpPr>
          <p:cNvPr id="47" name="Shape 45"/>
          <p:cNvSpPr/>
          <p:nvPr/>
        </p:nvSpPr>
        <p:spPr>
          <a:xfrm>
            <a:off x="7114032" y="5221224"/>
            <a:ext cx="73152" cy="73152"/>
          </a:xfrm>
          <a:prstGeom prst="ellipse">
            <a:avLst/>
          </a:prstGeom>
          <a:solidFill>
            <a:srgbClr val="FFB300"/>
          </a:solidFill>
          <a:ln/>
        </p:spPr>
      </p:sp>
      <p:sp>
        <p:nvSpPr>
          <p:cNvPr id="48" name="Text 46"/>
          <p:cNvSpPr/>
          <p:nvPr/>
        </p:nvSpPr>
        <p:spPr>
          <a:xfrm>
            <a:off x="7360920" y="5111496"/>
            <a:ext cx="411480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SaaS dashboard + analytics   </a:t>
            </a:r>
            <a:pPr indent="0" marL="0">
              <a:buNone/>
            </a:pPr>
            <a:r>
              <a:rPr lang="en-US" sz="1150" dirty="0">
                <a:solidFill>
                  <a:srgbClr val="A8C6E8"/>
                </a:solidFill>
                <a:latin typeface="Calibri" pitchFamily="34" charset="0"/>
                <a:ea typeface="Calibri" pitchFamily="34" charset="-122"/>
                <a:cs typeface="Calibri" pitchFamily="34" charset="-120"/>
              </a:rPr>
              <a:t>per city / campus licence</a:t>
            </a:r>
            <a:endParaRPr lang="en-US" sz="1150" dirty="0"/>
          </a:p>
        </p:txBody>
      </p:sp>
      <p:sp>
        <p:nvSpPr>
          <p:cNvPr id="49" name="Text 47"/>
          <p:cNvSpPr/>
          <p:nvPr/>
        </p:nvSpPr>
        <p:spPr>
          <a:xfrm>
            <a:off x="548640" y="5989320"/>
            <a:ext cx="11091672" cy="50292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Component prices are indicative (public market pricing, July 2026) — replaced with vendor quotes in Phase 1. Hardware margins at volume fund the recurring SaaS + AMC engine.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MARKET &amp; BUSINESS MODEL</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Built for India's municipal safety infrastructure</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11</a:t>
            </a:r>
            <a:endParaRPr lang="en-US" sz="1100" dirty="0"/>
          </a:p>
        </p:txBody>
      </p:sp>
      <p:sp>
        <p:nvSpPr>
          <p:cNvPr id="8" name="Shape 6"/>
          <p:cNvSpPr/>
          <p:nvPr/>
        </p:nvSpPr>
        <p:spPr>
          <a:xfrm>
            <a:off x="548640" y="1600200"/>
            <a:ext cx="5468112" cy="4572000"/>
          </a:xfrm>
          <a:prstGeom prst="roundRect">
            <a:avLst>
              <a:gd name="adj" fmla="val 1600"/>
            </a:avLst>
          </a:prstGeom>
          <a:solidFill>
            <a:srgbClr val="16294A"/>
          </a:solidFill>
          <a:ln/>
        </p:spPr>
      </p:sp>
      <p:sp>
        <p:nvSpPr>
          <p:cNvPr id="9" name="Text 7"/>
          <p:cNvSpPr/>
          <p:nvPr/>
        </p:nvSpPr>
        <p:spPr>
          <a:xfrm>
            <a:off x="868680" y="1828800"/>
            <a:ext cx="4846320" cy="292608"/>
          </a:xfrm>
          <a:prstGeom prst="rect">
            <a:avLst/>
          </a:prstGeom>
          <a:noFill/>
          <a:ln/>
        </p:spPr>
        <p:txBody>
          <a:bodyPr wrap="square" lIns="0" tIns="0" rIns="0" bIns="0" rtlCol="0" anchor="ctr"/>
          <a:lstStyle/>
          <a:p>
            <a:pPr indent="0" marL="0">
              <a:buNone/>
            </a:pPr>
            <a:r>
              <a:rPr lang="en-US" sz="1300" b="1" spc="200" kern="0" dirty="0">
                <a:solidFill>
                  <a:srgbClr val="FFB300"/>
                </a:solidFill>
                <a:latin typeface="Calibri" pitchFamily="34" charset="0"/>
                <a:ea typeface="Calibri" pitchFamily="34" charset="-122"/>
                <a:cs typeface="Calibri" pitchFamily="34" charset="-120"/>
              </a:rPr>
              <a:t>WHO BUYS</a:t>
            </a:r>
            <a:endParaRPr lang="en-US" sz="1300" dirty="0"/>
          </a:p>
        </p:txBody>
      </p:sp>
      <p:sp>
        <p:nvSpPr>
          <p:cNvPr id="10" name="Shape 8"/>
          <p:cNvSpPr/>
          <p:nvPr/>
        </p:nvSpPr>
        <p:spPr>
          <a:xfrm>
            <a:off x="918972" y="2327148"/>
            <a:ext cx="173736" cy="173736"/>
          </a:xfrm>
          <a:prstGeom prst="ellipse">
            <a:avLst/>
          </a:prstGeom>
          <a:solidFill>
            <a:srgbClr val="FFB300">
              <a:alpha val="12000"/>
            </a:srgbClr>
          </a:solidFill>
          <a:ln/>
        </p:spPr>
      </p:sp>
      <p:sp>
        <p:nvSpPr>
          <p:cNvPr id="11" name="Shape 9"/>
          <p:cNvSpPr/>
          <p:nvPr/>
        </p:nvSpPr>
        <p:spPr>
          <a:xfrm>
            <a:off x="944118" y="2352294"/>
            <a:ext cx="123444" cy="123444"/>
          </a:xfrm>
          <a:prstGeom prst="ellipse">
            <a:avLst/>
          </a:prstGeom>
          <a:solidFill>
            <a:srgbClr val="FFB300">
              <a:alpha val="28000"/>
            </a:srgbClr>
          </a:solidFill>
          <a:ln/>
        </p:spPr>
      </p:sp>
      <p:sp>
        <p:nvSpPr>
          <p:cNvPr id="12" name="Shape 10"/>
          <p:cNvSpPr/>
          <p:nvPr/>
        </p:nvSpPr>
        <p:spPr>
          <a:xfrm>
            <a:off x="960120" y="2368296"/>
            <a:ext cx="91440" cy="91440"/>
          </a:xfrm>
          <a:prstGeom prst="ellipse">
            <a:avLst/>
          </a:prstGeom>
          <a:solidFill>
            <a:srgbClr val="FFB300"/>
          </a:solidFill>
          <a:ln/>
        </p:spPr>
      </p:sp>
      <p:sp>
        <p:nvSpPr>
          <p:cNvPr id="13" name="Text 11"/>
          <p:cNvSpPr/>
          <p:nvPr/>
        </p:nvSpPr>
        <p:spPr>
          <a:xfrm>
            <a:off x="1234440" y="2240280"/>
            <a:ext cx="4572000" cy="8686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Smart City SPVs &amp; municipal corporations
</a:t>
            </a:r>
            <a:pPr indent="0" marL="0">
              <a:buNone/>
            </a:pPr>
            <a:r>
              <a:rPr lang="en-US" sz="1050" dirty="0">
                <a:solidFill>
                  <a:srgbClr val="7E97B8"/>
                </a:solidFill>
                <a:latin typeface="Calibri" pitchFamily="34" charset="0"/>
                <a:ea typeface="Calibri" pitchFamily="34" charset="-122"/>
                <a:cs typeface="Calibri" pitchFamily="34" charset="-120"/>
              </a:rPr>
              <a:t>100 cities were selected under the Smart Cities Mission</a:t>
            </a:r>
            <a:endParaRPr lang="en-US" sz="1250" dirty="0"/>
          </a:p>
        </p:txBody>
      </p:sp>
      <p:sp>
        <p:nvSpPr>
          <p:cNvPr id="14" name="Shape 12"/>
          <p:cNvSpPr/>
          <p:nvPr/>
        </p:nvSpPr>
        <p:spPr>
          <a:xfrm>
            <a:off x="918972" y="3259836"/>
            <a:ext cx="173736" cy="173736"/>
          </a:xfrm>
          <a:prstGeom prst="ellipse">
            <a:avLst/>
          </a:prstGeom>
          <a:solidFill>
            <a:srgbClr val="FFB300">
              <a:alpha val="12000"/>
            </a:srgbClr>
          </a:solidFill>
          <a:ln/>
        </p:spPr>
      </p:sp>
      <p:sp>
        <p:nvSpPr>
          <p:cNvPr id="15" name="Shape 13"/>
          <p:cNvSpPr/>
          <p:nvPr/>
        </p:nvSpPr>
        <p:spPr>
          <a:xfrm>
            <a:off x="944118" y="3284982"/>
            <a:ext cx="123444" cy="123444"/>
          </a:xfrm>
          <a:prstGeom prst="ellipse">
            <a:avLst/>
          </a:prstGeom>
          <a:solidFill>
            <a:srgbClr val="FFB300">
              <a:alpha val="28000"/>
            </a:srgbClr>
          </a:solidFill>
          <a:ln/>
        </p:spPr>
      </p:sp>
      <p:sp>
        <p:nvSpPr>
          <p:cNvPr id="16" name="Shape 14"/>
          <p:cNvSpPr/>
          <p:nvPr/>
        </p:nvSpPr>
        <p:spPr>
          <a:xfrm>
            <a:off x="960120" y="3300984"/>
            <a:ext cx="91440" cy="91440"/>
          </a:xfrm>
          <a:prstGeom prst="ellipse">
            <a:avLst/>
          </a:prstGeom>
          <a:solidFill>
            <a:srgbClr val="FFB300"/>
          </a:solidFill>
          <a:ln/>
        </p:spPr>
      </p:sp>
      <p:sp>
        <p:nvSpPr>
          <p:cNvPr id="17" name="Text 15"/>
          <p:cNvSpPr/>
          <p:nvPr/>
        </p:nvSpPr>
        <p:spPr>
          <a:xfrm>
            <a:off x="1234440" y="3172968"/>
            <a:ext cx="4572000" cy="8686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NHAI &amp; state highway authorities
</a:t>
            </a:r>
            <a:pPr indent="0" marL="0">
              <a:buNone/>
            </a:pPr>
            <a:r>
              <a:rPr lang="en-US" sz="1050" dirty="0">
                <a:solidFill>
                  <a:srgbClr val="7E97B8"/>
                </a:solidFill>
                <a:latin typeface="Calibri" pitchFamily="34" charset="0"/>
                <a:ea typeface="Calibri" pitchFamily="34" charset="-122"/>
                <a:cs typeface="Calibri" pitchFamily="34" charset="-120"/>
              </a:rPr>
              <a:t>black-spot corridors, toll plazas</a:t>
            </a:r>
            <a:endParaRPr lang="en-US" sz="1250" dirty="0"/>
          </a:p>
        </p:txBody>
      </p:sp>
      <p:sp>
        <p:nvSpPr>
          <p:cNvPr id="18" name="Shape 16"/>
          <p:cNvSpPr/>
          <p:nvPr/>
        </p:nvSpPr>
        <p:spPr>
          <a:xfrm>
            <a:off x="918972" y="4192524"/>
            <a:ext cx="173736" cy="173736"/>
          </a:xfrm>
          <a:prstGeom prst="ellipse">
            <a:avLst/>
          </a:prstGeom>
          <a:solidFill>
            <a:srgbClr val="FFB300">
              <a:alpha val="12000"/>
            </a:srgbClr>
          </a:solidFill>
          <a:ln/>
        </p:spPr>
      </p:sp>
      <p:sp>
        <p:nvSpPr>
          <p:cNvPr id="19" name="Shape 17"/>
          <p:cNvSpPr/>
          <p:nvPr/>
        </p:nvSpPr>
        <p:spPr>
          <a:xfrm>
            <a:off x="944118" y="4217670"/>
            <a:ext cx="123444" cy="123444"/>
          </a:xfrm>
          <a:prstGeom prst="ellipse">
            <a:avLst/>
          </a:prstGeom>
          <a:solidFill>
            <a:srgbClr val="FFB300">
              <a:alpha val="28000"/>
            </a:srgbClr>
          </a:solidFill>
          <a:ln/>
        </p:spPr>
      </p:sp>
      <p:sp>
        <p:nvSpPr>
          <p:cNvPr id="20" name="Shape 18"/>
          <p:cNvSpPr/>
          <p:nvPr/>
        </p:nvSpPr>
        <p:spPr>
          <a:xfrm>
            <a:off x="960120" y="4233672"/>
            <a:ext cx="91440" cy="91440"/>
          </a:xfrm>
          <a:prstGeom prst="ellipse">
            <a:avLst/>
          </a:prstGeom>
          <a:solidFill>
            <a:srgbClr val="FFB300"/>
          </a:solidFill>
          <a:ln/>
        </p:spPr>
      </p:sp>
      <p:sp>
        <p:nvSpPr>
          <p:cNvPr id="21" name="Text 19"/>
          <p:cNvSpPr/>
          <p:nvPr/>
        </p:nvSpPr>
        <p:spPr>
          <a:xfrm>
            <a:off x="1234440" y="4105656"/>
            <a:ext cx="4572000" cy="8686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Metro rail, airports &amp; universities
</a:t>
            </a:r>
            <a:pPr indent="0" marL="0">
              <a:buNone/>
            </a:pPr>
            <a:r>
              <a:rPr lang="en-US" sz="1050" dirty="0">
                <a:solidFill>
                  <a:srgbClr val="7E97B8"/>
                </a:solidFill>
                <a:latin typeface="Calibri" pitchFamily="34" charset="0"/>
                <a:ea typeface="Calibri" pitchFamily="34" charset="-122"/>
                <a:cs typeface="Calibri" pitchFamily="34" charset="-120"/>
              </a:rPr>
              <a:t>campuses with existing pole infrastructure</a:t>
            </a:r>
            <a:endParaRPr lang="en-US" sz="1250" dirty="0"/>
          </a:p>
        </p:txBody>
      </p:sp>
      <p:sp>
        <p:nvSpPr>
          <p:cNvPr id="22" name="Shape 20"/>
          <p:cNvSpPr/>
          <p:nvPr/>
        </p:nvSpPr>
        <p:spPr>
          <a:xfrm>
            <a:off x="918972" y="5125212"/>
            <a:ext cx="173736" cy="173736"/>
          </a:xfrm>
          <a:prstGeom prst="ellipse">
            <a:avLst/>
          </a:prstGeom>
          <a:solidFill>
            <a:srgbClr val="FFB300">
              <a:alpha val="12000"/>
            </a:srgbClr>
          </a:solidFill>
          <a:ln/>
        </p:spPr>
      </p:sp>
      <p:sp>
        <p:nvSpPr>
          <p:cNvPr id="23" name="Shape 21"/>
          <p:cNvSpPr/>
          <p:nvPr/>
        </p:nvSpPr>
        <p:spPr>
          <a:xfrm>
            <a:off x="944118" y="5150358"/>
            <a:ext cx="123444" cy="123444"/>
          </a:xfrm>
          <a:prstGeom prst="ellipse">
            <a:avLst/>
          </a:prstGeom>
          <a:solidFill>
            <a:srgbClr val="FFB300">
              <a:alpha val="28000"/>
            </a:srgbClr>
          </a:solidFill>
          <a:ln/>
        </p:spPr>
      </p:sp>
      <p:sp>
        <p:nvSpPr>
          <p:cNvPr id="24" name="Shape 22"/>
          <p:cNvSpPr/>
          <p:nvPr/>
        </p:nvSpPr>
        <p:spPr>
          <a:xfrm>
            <a:off x="960120" y="5166360"/>
            <a:ext cx="91440" cy="91440"/>
          </a:xfrm>
          <a:prstGeom prst="ellipse">
            <a:avLst/>
          </a:prstGeom>
          <a:solidFill>
            <a:srgbClr val="FFB300"/>
          </a:solidFill>
          <a:ln/>
        </p:spPr>
      </p:sp>
      <p:sp>
        <p:nvSpPr>
          <p:cNvPr id="25" name="Text 23"/>
          <p:cNvSpPr/>
          <p:nvPr/>
        </p:nvSpPr>
        <p:spPr>
          <a:xfrm>
            <a:off x="1234440" y="5038344"/>
            <a:ext cx="4572000" cy="8686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Private townships &amp; industrial parks
</a:t>
            </a:r>
            <a:pPr indent="0" marL="0">
              <a:buNone/>
            </a:pPr>
            <a:r>
              <a:rPr lang="en-US" sz="1050" dirty="0">
                <a:solidFill>
                  <a:srgbClr val="7E97B8"/>
                </a:solidFill>
                <a:latin typeface="Calibri" pitchFamily="34" charset="0"/>
                <a:ea typeface="Calibri" pitchFamily="34" charset="-122"/>
                <a:cs typeface="Calibri" pitchFamily="34" charset="-120"/>
              </a:rPr>
              <a:t>safety as a premium amenity</a:t>
            </a:r>
            <a:endParaRPr lang="en-US" sz="1250" dirty="0"/>
          </a:p>
        </p:txBody>
      </p:sp>
      <p:sp>
        <p:nvSpPr>
          <p:cNvPr id="26" name="Text 24"/>
          <p:cNvSpPr/>
          <p:nvPr/>
        </p:nvSpPr>
        <p:spPr>
          <a:xfrm>
            <a:off x="868680" y="5806440"/>
            <a:ext cx="4937760" cy="32004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Beneficiaries: women, senior citizens, students, daily commuters, highway travellers</a:t>
            </a:r>
            <a:endParaRPr lang="en-US" sz="1050" dirty="0"/>
          </a:p>
        </p:txBody>
      </p:sp>
      <p:sp>
        <p:nvSpPr>
          <p:cNvPr id="27" name="Shape 25"/>
          <p:cNvSpPr/>
          <p:nvPr/>
        </p:nvSpPr>
        <p:spPr>
          <a:xfrm>
            <a:off x="6172200" y="1600200"/>
            <a:ext cx="5468112" cy="4572000"/>
          </a:xfrm>
          <a:prstGeom prst="roundRect">
            <a:avLst>
              <a:gd name="adj" fmla="val 1600"/>
            </a:avLst>
          </a:prstGeom>
          <a:solidFill>
            <a:srgbClr val="16294A"/>
          </a:solidFill>
          <a:ln/>
        </p:spPr>
      </p:sp>
      <p:sp>
        <p:nvSpPr>
          <p:cNvPr id="28" name="Text 26"/>
          <p:cNvSpPr/>
          <p:nvPr/>
        </p:nvSpPr>
        <p:spPr>
          <a:xfrm>
            <a:off x="6492240" y="1828800"/>
            <a:ext cx="4846320" cy="292608"/>
          </a:xfrm>
          <a:prstGeom prst="rect">
            <a:avLst/>
          </a:prstGeom>
          <a:noFill/>
          <a:ln/>
        </p:spPr>
        <p:txBody>
          <a:bodyPr wrap="square" lIns="0" tIns="0" rIns="0" bIns="0" rtlCol="0" anchor="ctr"/>
          <a:lstStyle/>
          <a:p>
            <a:pPr indent="0" marL="0">
              <a:buNone/>
            </a:pPr>
            <a:r>
              <a:rPr lang="en-US" sz="1300" b="1" spc="200" kern="0" dirty="0">
                <a:solidFill>
                  <a:srgbClr val="FFB300"/>
                </a:solidFill>
                <a:latin typeface="Calibri" pitchFamily="34" charset="0"/>
                <a:ea typeface="Calibri" pitchFamily="34" charset="-122"/>
                <a:cs typeface="Calibri" pitchFamily="34" charset="-120"/>
              </a:rPr>
              <a:t>HOW WE EARN</a:t>
            </a:r>
            <a:endParaRPr lang="en-US" sz="1300" dirty="0"/>
          </a:p>
        </p:txBody>
      </p:sp>
      <p:sp>
        <p:nvSpPr>
          <p:cNvPr id="29" name="Shape 27"/>
          <p:cNvSpPr/>
          <p:nvPr/>
        </p:nvSpPr>
        <p:spPr>
          <a:xfrm>
            <a:off x="6492240" y="2286000"/>
            <a:ext cx="2377440" cy="548640"/>
          </a:xfrm>
          <a:prstGeom prst="roundRect">
            <a:avLst>
              <a:gd name="adj" fmla="val 10000"/>
            </a:avLst>
          </a:prstGeom>
          <a:solidFill>
            <a:srgbClr val="1B3155"/>
          </a:solidFill>
          <a:ln/>
        </p:spPr>
      </p:sp>
      <p:sp>
        <p:nvSpPr>
          <p:cNvPr id="30" name="Text 28"/>
          <p:cNvSpPr/>
          <p:nvPr/>
        </p:nvSpPr>
        <p:spPr>
          <a:xfrm>
            <a:off x="6629400" y="2286000"/>
            <a:ext cx="2240280" cy="5486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Hardware + installation</a:t>
            </a:r>
            <a:endParaRPr lang="en-US" sz="1150" dirty="0"/>
          </a:p>
        </p:txBody>
      </p:sp>
      <p:sp>
        <p:nvSpPr>
          <p:cNvPr id="31" name="Text 29"/>
          <p:cNvSpPr/>
          <p:nvPr/>
        </p:nvSpPr>
        <p:spPr>
          <a:xfrm>
            <a:off x="9006840" y="2286000"/>
            <a:ext cx="2514600" cy="54864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one-time, per smart node</a:t>
            </a:r>
            <a:endParaRPr lang="en-US" sz="1050" dirty="0"/>
          </a:p>
        </p:txBody>
      </p:sp>
      <p:sp>
        <p:nvSpPr>
          <p:cNvPr id="32" name="Shape 30"/>
          <p:cNvSpPr/>
          <p:nvPr/>
        </p:nvSpPr>
        <p:spPr>
          <a:xfrm>
            <a:off x="6492240" y="2999232"/>
            <a:ext cx="2377440" cy="548640"/>
          </a:xfrm>
          <a:prstGeom prst="roundRect">
            <a:avLst>
              <a:gd name="adj" fmla="val 10000"/>
            </a:avLst>
          </a:prstGeom>
          <a:solidFill>
            <a:srgbClr val="1B3155"/>
          </a:solidFill>
          <a:ln/>
        </p:spPr>
      </p:sp>
      <p:sp>
        <p:nvSpPr>
          <p:cNvPr id="33" name="Text 31"/>
          <p:cNvSpPr/>
          <p:nvPr/>
        </p:nvSpPr>
        <p:spPr>
          <a:xfrm>
            <a:off x="6629400" y="2999232"/>
            <a:ext cx="2240280" cy="5486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SaaS dashboard</a:t>
            </a:r>
            <a:endParaRPr lang="en-US" sz="1150" dirty="0"/>
          </a:p>
        </p:txBody>
      </p:sp>
      <p:sp>
        <p:nvSpPr>
          <p:cNvPr id="34" name="Text 32"/>
          <p:cNvSpPr/>
          <p:nvPr/>
        </p:nvSpPr>
        <p:spPr>
          <a:xfrm>
            <a:off x="9006840" y="2999232"/>
            <a:ext cx="2514600" cy="54864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annual subscription per city / campus</a:t>
            </a:r>
            <a:endParaRPr lang="en-US" sz="1050" dirty="0"/>
          </a:p>
        </p:txBody>
      </p:sp>
      <p:sp>
        <p:nvSpPr>
          <p:cNvPr id="35" name="Shape 33"/>
          <p:cNvSpPr/>
          <p:nvPr/>
        </p:nvSpPr>
        <p:spPr>
          <a:xfrm>
            <a:off x="6492240" y="3712464"/>
            <a:ext cx="2377440" cy="548640"/>
          </a:xfrm>
          <a:prstGeom prst="roundRect">
            <a:avLst>
              <a:gd name="adj" fmla="val 10000"/>
            </a:avLst>
          </a:prstGeom>
          <a:solidFill>
            <a:srgbClr val="1B3155"/>
          </a:solidFill>
          <a:ln/>
        </p:spPr>
      </p:sp>
      <p:sp>
        <p:nvSpPr>
          <p:cNvPr id="36" name="Text 34"/>
          <p:cNvSpPr/>
          <p:nvPr/>
        </p:nvSpPr>
        <p:spPr>
          <a:xfrm>
            <a:off x="6629400" y="3712464"/>
            <a:ext cx="2240280" cy="5486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Maintenance (AMC)</a:t>
            </a:r>
            <a:endParaRPr lang="en-US" sz="1150" dirty="0"/>
          </a:p>
        </p:txBody>
      </p:sp>
      <p:sp>
        <p:nvSpPr>
          <p:cNvPr id="37" name="Text 35"/>
          <p:cNvSpPr/>
          <p:nvPr/>
        </p:nvSpPr>
        <p:spPr>
          <a:xfrm>
            <a:off x="9006840" y="3712464"/>
            <a:ext cx="2514600" cy="54864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recurring, per node per year</a:t>
            </a:r>
            <a:endParaRPr lang="en-US" sz="1050" dirty="0"/>
          </a:p>
        </p:txBody>
      </p:sp>
      <p:sp>
        <p:nvSpPr>
          <p:cNvPr id="38" name="Shape 36"/>
          <p:cNvSpPr/>
          <p:nvPr/>
        </p:nvSpPr>
        <p:spPr>
          <a:xfrm>
            <a:off x="6492240" y="4425696"/>
            <a:ext cx="2377440" cy="548640"/>
          </a:xfrm>
          <a:prstGeom prst="roundRect">
            <a:avLst>
              <a:gd name="adj" fmla="val 10000"/>
            </a:avLst>
          </a:prstGeom>
          <a:solidFill>
            <a:srgbClr val="1B3155"/>
          </a:solidFill>
          <a:ln/>
        </p:spPr>
      </p:sp>
      <p:sp>
        <p:nvSpPr>
          <p:cNvPr id="39" name="Text 37"/>
          <p:cNvSpPr/>
          <p:nvPr/>
        </p:nvSpPr>
        <p:spPr>
          <a:xfrm>
            <a:off x="6629400" y="4425696"/>
            <a:ext cx="2240280" cy="5486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analytics reports</a:t>
            </a:r>
            <a:endParaRPr lang="en-US" sz="1150" dirty="0"/>
          </a:p>
        </p:txBody>
      </p:sp>
      <p:sp>
        <p:nvSpPr>
          <p:cNvPr id="40" name="Text 38"/>
          <p:cNvSpPr/>
          <p:nvPr/>
        </p:nvSpPr>
        <p:spPr>
          <a:xfrm>
            <a:off x="9006840" y="4425696"/>
            <a:ext cx="2514600" cy="54864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monthly hotspot &amp; infrastructure insights</a:t>
            </a:r>
            <a:endParaRPr lang="en-US" sz="1050" dirty="0"/>
          </a:p>
        </p:txBody>
      </p:sp>
      <p:sp>
        <p:nvSpPr>
          <p:cNvPr id="41" name="Shape 39"/>
          <p:cNvSpPr/>
          <p:nvPr/>
        </p:nvSpPr>
        <p:spPr>
          <a:xfrm>
            <a:off x="6492240" y="5138928"/>
            <a:ext cx="2377440" cy="548640"/>
          </a:xfrm>
          <a:prstGeom prst="roundRect">
            <a:avLst>
              <a:gd name="adj" fmla="val 10000"/>
            </a:avLst>
          </a:prstGeom>
          <a:solidFill>
            <a:srgbClr val="1B3155"/>
          </a:solidFill>
          <a:ln/>
        </p:spPr>
      </p:sp>
      <p:sp>
        <p:nvSpPr>
          <p:cNvPr id="42" name="Text 40"/>
          <p:cNvSpPr/>
          <p:nvPr/>
        </p:nvSpPr>
        <p:spPr>
          <a:xfrm>
            <a:off x="6629400" y="5138928"/>
            <a:ext cx="2240280" cy="5486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API licensing</a:t>
            </a:r>
            <a:endParaRPr lang="en-US" sz="1150" dirty="0"/>
          </a:p>
        </p:txBody>
      </p:sp>
      <p:sp>
        <p:nvSpPr>
          <p:cNvPr id="43" name="Text 41"/>
          <p:cNvSpPr/>
          <p:nvPr/>
        </p:nvSpPr>
        <p:spPr>
          <a:xfrm>
            <a:off x="9006840" y="5138928"/>
            <a:ext cx="2514600" cy="54864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incident feed for maps, insurers, fleets</a:t>
            </a:r>
            <a:endParaRPr lang="en-US" sz="1050" dirty="0"/>
          </a:p>
        </p:txBody>
      </p:sp>
      <p:sp>
        <p:nvSpPr>
          <p:cNvPr id="44" name="Text 42"/>
          <p:cNvSpPr/>
          <p:nvPr/>
        </p:nvSpPr>
        <p:spPr>
          <a:xfrm>
            <a:off x="6492240" y="5806440"/>
            <a:ext cx="4937760" cy="32004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Future: Middle East, Southeast Asia, Europe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DEMONSTRATION EVIDENCE</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Interactive simulation of the mesh in action</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12</a:t>
            </a:r>
            <a:endParaRPr lang="en-US" sz="1100" dirty="0"/>
          </a:p>
        </p:txBody>
      </p:sp>
      <p:sp>
        <p:nvSpPr>
          <p:cNvPr id="8" name="Text 6"/>
          <p:cNvSpPr/>
          <p:nvPr/>
        </p:nvSpPr>
        <p:spPr>
          <a:xfrm>
            <a:off x="548640" y="1554480"/>
            <a:ext cx="6583680"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We built an interactive software simulation of a SentinelAI deployment — a live 3D city block of smart nodes that walks through the full incident flow: a scripted crash and SOS event, the multi-sensor validation gate, Safe Corridor activation and dispatch, end to end.</a:t>
            </a:r>
            <a:endParaRPr lang="en-US" sz="1450" dirty="0"/>
          </a:p>
        </p:txBody>
      </p:sp>
      <p:sp>
        <p:nvSpPr>
          <p:cNvPr id="9" name="Shape 7"/>
          <p:cNvSpPr/>
          <p:nvPr/>
        </p:nvSpPr>
        <p:spPr>
          <a:xfrm>
            <a:off x="548640" y="2788920"/>
            <a:ext cx="3200400" cy="1234440"/>
          </a:xfrm>
          <a:prstGeom prst="roundRect">
            <a:avLst>
              <a:gd name="adj" fmla="val 5926"/>
            </a:avLst>
          </a:prstGeom>
          <a:solidFill>
            <a:srgbClr val="16294A"/>
          </a:solidFill>
          <a:ln/>
        </p:spPr>
      </p:sp>
      <p:sp>
        <p:nvSpPr>
          <p:cNvPr id="10" name="Text 8"/>
          <p:cNvSpPr/>
          <p:nvPr/>
        </p:nvSpPr>
        <p:spPr>
          <a:xfrm>
            <a:off x="777240" y="2926080"/>
            <a:ext cx="2743200" cy="320040"/>
          </a:xfrm>
          <a:prstGeom prst="rect">
            <a:avLst/>
          </a:prstGeom>
          <a:noFill/>
          <a:ln/>
        </p:spPr>
        <p:txBody>
          <a:bodyPr wrap="square" lIns="0" tIns="0" rIns="0" bIns="0"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Live node mesh</a:t>
            </a:r>
            <a:endParaRPr lang="en-US" sz="1300" dirty="0"/>
          </a:p>
        </p:txBody>
      </p:sp>
      <p:sp>
        <p:nvSpPr>
          <p:cNvPr id="11" name="Text 9"/>
          <p:cNvSpPr/>
          <p:nvPr/>
        </p:nvSpPr>
        <p:spPr>
          <a:xfrm>
            <a:off x="777240" y="3264408"/>
            <a:ext cx="2788920" cy="68580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9 smart poles on a 3D city block, each streaming simulated sensor state</a:t>
            </a:r>
            <a:endParaRPr lang="en-US" sz="1050" dirty="0"/>
          </a:p>
        </p:txBody>
      </p:sp>
      <p:sp>
        <p:nvSpPr>
          <p:cNvPr id="12" name="Shape 10"/>
          <p:cNvSpPr/>
          <p:nvPr/>
        </p:nvSpPr>
        <p:spPr>
          <a:xfrm>
            <a:off x="3931920" y="2788920"/>
            <a:ext cx="3200400" cy="1234440"/>
          </a:xfrm>
          <a:prstGeom prst="roundRect">
            <a:avLst>
              <a:gd name="adj" fmla="val 5926"/>
            </a:avLst>
          </a:prstGeom>
          <a:solidFill>
            <a:srgbClr val="16294A"/>
          </a:solidFill>
          <a:ln/>
        </p:spPr>
      </p:sp>
      <p:sp>
        <p:nvSpPr>
          <p:cNvPr id="13" name="Text 11"/>
          <p:cNvSpPr/>
          <p:nvPr/>
        </p:nvSpPr>
        <p:spPr>
          <a:xfrm>
            <a:off x="4160520" y="2926080"/>
            <a:ext cx="2743200" cy="320040"/>
          </a:xfrm>
          <a:prstGeom prst="rect">
            <a:avLst/>
          </a:prstGeom>
          <a:noFill/>
          <a:ln/>
        </p:spPr>
        <p:txBody>
          <a:bodyPr wrap="square" lIns="0" tIns="0" rIns="0" bIns="0"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Incident walkthrough</a:t>
            </a:r>
            <a:endParaRPr lang="en-US" sz="1300" dirty="0"/>
          </a:p>
        </p:txBody>
      </p:sp>
      <p:sp>
        <p:nvSpPr>
          <p:cNvPr id="14" name="Text 12"/>
          <p:cNvSpPr/>
          <p:nvPr/>
        </p:nvSpPr>
        <p:spPr>
          <a:xfrm>
            <a:off x="4160520" y="3264408"/>
            <a:ext cx="2788920" cy="68580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crash + distress events step through the validation gate and IR camera view</a:t>
            </a:r>
            <a:endParaRPr lang="en-US" sz="1050" dirty="0"/>
          </a:p>
        </p:txBody>
      </p:sp>
      <p:sp>
        <p:nvSpPr>
          <p:cNvPr id="15" name="Shape 13"/>
          <p:cNvSpPr/>
          <p:nvPr/>
        </p:nvSpPr>
        <p:spPr>
          <a:xfrm>
            <a:off x="548640" y="4206240"/>
            <a:ext cx="3200400" cy="1234440"/>
          </a:xfrm>
          <a:prstGeom prst="roundRect">
            <a:avLst>
              <a:gd name="adj" fmla="val 5926"/>
            </a:avLst>
          </a:prstGeom>
          <a:solidFill>
            <a:srgbClr val="16294A"/>
          </a:solidFill>
          <a:ln/>
        </p:spPr>
      </p:sp>
      <p:sp>
        <p:nvSpPr>
          <p:cNvPr id="16" name="Text 14"/>
          <p:cNvSpPr/>
          <p:nvPr/>
        </p:nvSpPr>
        <p:spPr>
          <a:xfrm>
            <a:off x="777240" y="4343400"/>
            <a:ext cx="2743200" cy="320040"/>
          </a:xfrm>
          <a:prstGeom prst="rect">
            <a:avLst/>
          </a:prstGeom>
          <a:noFill/>
          <a:ln/>
        </p:spPr>
        <p:txBody>
          <a:bodyPr wrap="square" lIns="0" tIns="0" rIns="0" bIns="0"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Safe Corridor</a:t>
            </a:r>
            <a:endParaRPr lang="en-US" sz="1300" dirty="0"/>
          </a:p>
        </p:txBody>
      </p:sp>
      <p:sp>
        <p:nvSpPr>
          <p:cNvPr id="17" name="Text 15"/>
          <p:cNvSpPr/>
          <p:nvPr/>
        </p:nvSpPr>
        <p:spPr>
          <a:xfrm>
            <a:off x="777240" y="4681728"/>
            <a:ext cx="2788920" cy="68580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watch neighbouring poles brighten and hand off camera tracking</a:t>
            </a:r>
            <a:endParaRPr lang="en-US" sz="1050" dirty="0"/>
          </a:p>
        </p:txBody>
      </p:sp>
      <p:sp>
        <p:nvSpPr>
          <p:cNvPr id="18" name="Shape 16"/>
          <p:cNvSpPr/>
          <p:nvPr/>
        </p:nvSpPr>
        <p:spPr>
          <a:xfrm>
            <a:off x="3931920" y="4206240"/>
            <a:ext cx="3200400" cy="1234440"/>
          </a:xfrm>
          <a:prstGeom prst="roundRect">
            <a:avLst>
              <a:gd name="adj" fmla="val 5926"/>
            </a:avLst>
          </a:prstGeom>
          <a:solidFill>
            <a:srgbClr val="16294A"/>
          </a:solidFill>
          <a:ln/>
        </p:spPr>
      </p:sp>
      <p:sp>
        <p:nvSpPr>
          <p:cNvPr id="19" name="Text 17"/>
          <p:cNvSpPr/>
          <p:nvPr/>
        </p:nvSpPr>
        <p:spPr>
          <a:xfrm>
            <a:off x="4160520" y="4343400"/>
            <a:ext cx="2743200" cy="320040"/>
          </a:xfrm>
          <a:prstGeom prst="rect">
            <a:avLst/>
          </a:prstGeom>
          <a:noFill/>
          <a:ln/>
        </p:spPr>
        <p:txBody>
          <a:bodyPr wrap="square" lIns="0" tIns="0" rIns="0" bIns="0" rtlCol="0" anchor="ctr"/>
          <a:lstStyle/>
          <a:p>
            <a:pPr indent="0" marL="0">
              <a:buNone/>
            </a:pPr>
            <a:r>
              <a:rPr lang="en-US" sz="1300" b="1" dirty="0">
                <a:solidFill>
                  <a:srgbClr val="FFB300"/>
                </a:solidFill>
                <a:latin typeface="Calibri" pitchFamily="34" charset="0"/>
                <a:ea typeface="Calibri" pitchFamily="34" charset="-122"/>
                <a:cs typeface="Calibri" pitchFamily="34" charset="-120"/>
              </a:rPr>
              <a:t>Predictive layer</a:t>
            </a:r>
            <a:endParaRPr lang="en-US" sz="1300" dirty="0"/>
          </a:p>
        </p:txBody>
      </p:sp>
      <p:sp>
        <p:nvSpPr>
          <p:cNvPr id="20" name="Text 18"/>
          <p:cNvSpPr/>
          <p:nvPr/>
        </p:nvSpPr>
        <p:spPr>
          <a:xfrm>
            <a:off x="4160520" y="4681728"/>
            <a:ext cx="2788920" cy="685800"/>
          </a:xfrm>
          <a:prstGeom prst="rect">
            <a:avLst/>
          </a:prstGeom>
          <a:noFill/>
          <a:ln/>
        </p:spPr>
        <p:txBody>
          <a:bodyPr wrap="square" lIns="0" tIns="0" rIns="0" bIns="0" rtlCol="0" anchor="ctr"/>
          <a:lstStyle/>
          <a:p>
            <a:pPr indent="0" marL="0">
              <a:buNone/>
            </a:pPr>
            <a:r>
              <a:rPr lang="en-US" sz="1050" dirty="0">
                <a:solidFill>
                  <a:srgbClr val="A8C6E8"/>
                </a:solidFill>
                <a:latin typeface="Calibri" pitchFamily="34" charset="0"/>
                <a:ea typeface="Calibri" pitchFamily="34" charset="-122"/>
                <a:cs typeface="Calibri" pitchFamily="34" charset="-120"/>
              </a:rPr>
              <a:t>30-day risk-forecast heatmap built from mesh history</a:t>
            </a:r>
            <a:endParaRPr lang="en-US" sz="1050" dirty="0"/>
          </a:p>
        </p:txBody>
      </p:sp>
      <p:sp>
        <p:nvSpPr>
          <p:cNvPr id="21" name="Shape 19"/>
          <p:cNvSpPr/>
          <p:nvPr/>
        </p:nvSpPr>
        <p:spPr>
          <a:xfrm>
            <a:off x="7498080" y="1554480"/>
            <a:ext cx="4142232" cy="4480560"/>
          </a:xfrm>
          <a:prstGeom prst="roundRect">
            <a:avLst>
              <a:gd name="adj" fmla="val 1766"/>
            </a:avLst>
          </a:prstGeom>
          <a:solidFill>
            <a:srgbClr val="1B3155"/>
          </a:solidFill>
          <a:ln/>
        </p:spPr>
      </p:sp>
      <p:sp>
        <p:nvSpPr>
          <p:cNvPr id="22" name="Shape 20"/>
          <p:cNvSpPr/>
          <p:nvPr/>
        </p:nvSpPr>
        <p:spPr>
          <a:xfrm>
            <a:off x="9395460" y="2112264"/>
            <a:ext cx="347472" cy="347472"/>
          </a:xfrm>
          <a:prstGeom prst="ellipse">
            <a:avLst/>
          </a:prstGeom>
          <a:solidFill>
            <a:srgbClr val="FFB300">
              <a:alpha val="12000"/>
            </a:srgbClr>
          </a:solidFill>
          <a:ln/>
        </p:spPr>
      </p:sp>
      <p:sp>
        <p:nvSpPr>
          <p:cNvPr id="23" name="Shape 21"/>
          <p:cNvSpPr/>
          <p:nvPr/>
        </p:nvSpPr>
        <p:spPr>
          <a:xfrm>
            <a:off x="9445752" y="2162556"/>
            <a:ext cx="246888" cy="246888"/>
          </a:xfrm>
          <a:prstGeom prst="ellipse">
            <a:avLst/>
          </a:prstGeom>
          <a:solidFill>
            <a:srgbClr val="FFB300">
              <a:alpha val="28000"/>
            </a:srgbClr>
          </a:solidFill>
          <a:ln/>
        </p:spPr>
      </p:sp>
      <p:sp>
        <p:nvSpPr>
          <p:cNvPr id="24" name="Shape 22"/>
          <p:cNvSpPr/>
          <p:nvPr/>
        </p:nvSpPr>
        <p:spPr>
          <a:xfrm>
            <a:off x="9477756" y="2194560"/>
            <a:ext cx="182880" cy="182880"/>
          </a:xfrm>
          <a:prstGeom prst="ellipse">
            <a:avLst/>
          </a:prstGeom>
          <a:solidFill>
            <a:srgbClr val="FFB300"/>
          </a:solidFill>
          <a:ln/>
        </p:spPr>
      </p:sp>
      <p:sp>
        <p:nvSpPr>
          <p:cNvPr id="25" name="Text 23"/>
          <p:cNvSpPr/>
          <p:nvPr/>
        </p:nvSpPr>
        <p:spPr>
          <a:xfrm>
            <a:off x="7498080" y="2697480"/>
            <a:ext cx="4142232" cy="32004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Calibri" pitchFamily="34" charset="0"/>
                <a:ea typeface="Calibri" pitchFamily="34" charset="-122"/>
                <a:cs typeface="Calibri" pitchFamily="34" charset="-120"/>
              </a:rPr>
              <a:t>DEMO VIDEO</a:t>
            </a:r>
            <a:endParaRPr lang="en-US" sz="1400" dirty="0"/>
          </a:p>
        </p:txBody>
      </p:sp>
      <p:sp>
        <p:nvSpPr>
          <p:cNvPr id="26" name="Shape 24"/>
          <p:cNvSpPr/>
          <p:nvPr/>
        </p:nvSpPr>
        <p:spPr>
          <a:xfrm>
            <a:off x="7863840" y="3154680"/>
            <a:ext cx="3410712" cy="594360"/>
          </a:xfrm>
          <a:prstGeom prst="roundRect">
            <a:avLst>
              <a:gd name="adj" fmla="val 12308"/>
            </a:avLst>
          </a:prstGeom>
          <a:solidFill>
            <a:srgbClr val="0B1626"/>
          </a:solidFill>
          <a:ln w="12700">
            <a:solidFill>
              <a:srgbClr val="FFB300"/>
            </a:solidFill>
            <a:prstDash val="dash"/>
          </a:ln>
        </p:spPr>
      </p:sp>
      <p:sp>
        <p:nvSpPr>
          <p:cNvPr id="27" name="Text 25"/>
          <p:cNvSpPr/>
          <p:nvPr/>
        </p:nvSpPr>
        <p:spPr>
          <a:xfrm>
            <a:off x="7863840" y="3154680"/>
            <a:ext cx="3410712" cy="594360"/>
          </a:xfrm>
          <a:prstGeom prst="rect">
            <a:avLst/>
          </a:prstGeom>
          <a:noFill/>
          <a:ln/>
        </p:spPr>
        <p:txBody>
          <a:bodyPr wrap="square" rtlCol="0" anchor="ctr"/>
          <a:lstStyle/>
          <a:p>
            <a:pPr algn="ctr" indent="0" marL="0">
              <a:buNone/>
            </a:pPr>
            <a:r>
              <a:rPr lang="en-US" sz="1150" i="1" dirty="0">
                <a:solidFill>
                  <a:srgbClr val="7E97B8"/>
                </a:solidFill>
                <a:latin typeface="Calibri" pitchFamily="34" charset="0"/>
                <a:ea typeface="Calibri" pitchFamily="34" charset="-122"/>
                <a:cs typeface="Calibri" pitchFamily="34" charset="-120"/>
              </a:rPr>
              <a:t>[ paste demo video link here ]</a:t>
            </a:r>
            <a:endParaRPr lang="en-US" sz="1150" dirty="0"/>
          </a:p>
        </p:txBody>
      </p:sp>
      <p:sp>
        <p:nvSpPr>
          <p:cNvPr id="28" name="Text 26"/>
          <p:cNvSpPr/>
          <p:nvPr/>
        </p:nvSpPr>
        <p:spPr>
          <a:xfrm>
            <a:off x="7863840" y="3931920"/>
            <a:ext cx="3410712" cy="868680"/>
          </a:xfrm>
          <a:prstGeom prst="rect">
            <a:avLst/>
          </a:prstGeom>
          <a:noFill/>
          <a:ln/>
        </p:spPr>
        <p:txBody>
          <a:bodyPr wrap="square" lIns="0" tIns="0" rIns="0" bIns="0" rtlCol="0" anchor="ctr"/>
          <a:lstStyle/>
          <a:p>
            <a:pPr algn="ctr" indent="0" marL="0">
              <a:buNone/>
            </a:pPr>
            <a:r>
              <a:rPr lang="en-US" sz="1050" dirty="0">
                <a:solidFill>
                  <a:srgbClr val="A8C6E8"/>
                </a:solidFill>
                <a:latin typeface="Calibri" pitchFamily="34" charset="0"/>
                <a:ea typeface="Calibri" pitchFamily="34" charset="-122"/>
                <a:cs typeface="Calibri" pitchFamily="34" charset="-120"/>
              </a:rPr>
              <a:t>≈1-minute screen recording of the auto demo:</a:t>
            </a:r>
            <a:endParaRPr lang="en-US" sz="1050" dirty="0"/>
          </a:p>
          <a:p>
            <a:pPr algn="ctr" indent="0" marL="0">
              <a:buNone/>
            </a:pPr>
            <a:r>
              <a:rPr lang="en-US" sz="1050" dirty="0">
                <a:solidFill>
                  <a:srgbClr val="A8C6E8"/>
                </a:solidFill>
                <a:latin typeface="Calibri" pitchFamily="34" charset="0"/>
                <a:ea typeface="Calibri" pitchFamily="34" charset="-122"/>
                <a:cs typeface="Calibri" pitchFamily="34" charset="-120"/>
              </a:rPr>
              <a:t>crash flow, women's-safety SOS flow, then the 30-day predictive-risk heatmap.</a:t>
            </a:r>
            <a:endParaRPr lang="en-US" sz="1050" dirty="0"/>
          </a:p>
        </p:txBody>
      </p:sp>
      <p:sp>
        <p:nvSpPr>
          <p:cNvPr id="29" name="Text 27"/>
          <p:cNvSpPr/>
          <p:nvPr/>
        </p:nvSpPr>
        <p:spPr>
          <a:xfrm>
            <a:off x="7863840" y="5029200"/>
            <a:ext cx="3410712" cy="548640"/>
          </a:xfrm>
          <a:prstGeom prst="rect">
            <a:avLst/>
          </a:prstGeom>
          <a:noFill/>
          <a:ln/>
        </p:spPr>
        <p:txBody>
          <a:bodyPr wrap="square" lIns="0" tIns="0" rIns="0" bIns="0" rtlCol="0" anchor="ctr"/>
          <a:lstStyle/>
          <a:p>
            <a:pPr algn="ctr" indent="0" marL="0">
              <a:buNone/>
            </a:pPr>
            <a:r>
              <a:rPr lang="en-US" sz="1050" i="1" dirty="0">
                <a:solidFill>
                  <a:srgbClr val="7E97B8"/>
                </a:solidFill>
                <a:latin typeface="Calibri" pitchFamily="34" charset="0"/>
                <a:ea typeface="Calibri" pitchFamily="34" charset="-122"/>
                <a:cs typeface="Calibri" pitchFamily="34" charset="-120"/>
              </a:rPr>
              <a:t>Hardware node demo planned at end of Phase 2.</a:t>
            </a:r>
            <a:endParaRPr lang="en-US" sz="1050" dirty="0"/>
          </a:p>
        </p:txBody>
      </p:sp>
      <p:sp>
        <p:nvSpPr>
          <p:cNvPr id="30" name="Text 28"/>
          <p:cNvSpPr/>
          <p:nvPr/>
        </p:nvSpPr>
        <p:spPr>
          <a:xfrm>
            <a:off x="548640" y="5943600"/>
            <a:ext cx="6675120" cy="320040"/>
          </a:xfrm>
          <a:prstGeom prst="rect">
            <a:avLst/>
          </a:prstGeom>
          <a:noFill/>
          <a:ln/>
        </p:spPr>
        <p:txBody>
          <a:bodyPr wrap="square" lIns="0" tIns="0" rIns="0" bIns="0" rtlCol="0" anchor="ctr"/>
          <a:lstStyle/>
          <a:p>
            <a:pPr indent="0" marL="0">
              <a:buNone/>
            </a:pPr>
            <a:r>
              <a:rPr lang="en-US" sz="1050" i="1" dirty="0">
                <a:solidFill>
                  <a:srgbClr val="7E97B8"/>
                </a:solidFill>
                <a:latin typeface="Calibri" pitchFamily="34" charset="0"/>
                <a:ea typeface="Calibri" pitchFamily="34" charset="-122"/>
                <a:cs typeface="Calibri" pitchFamily="34" charset="-120"/>
              </a:rPr>
              <a:t>Scripted simulation — synthetic sensor values, no trained model or hardware yet. It demonstrates the intended flow and interface, not detection accuracy.</a:t>
            </a:r>
            <a:endParaRPr lang="en-US" sz="1050" dirty="0"/>
          </a:p>
        </p:txBody>
      </p:sp>
      <p:sp>
        <p:nvSpPr>
          <p:cNvPr id="31" name="Text 29"/>
          <p:cNvSpPr/>
          <p:nvPr/>
        </p:nvSpPr>
        <p:spPr>
          <a:xfrm>
            <a:off x="548640" y="6236208"/>
            <a:ext cx="6675120" cy="292608"/>
          </a:xfrm>
          <a:prstGeom prst="rect">
            <a:avLst/>
          </a:prstGeom>
          <a:noFill/>
          <a:ln/>
        </p:spPr>
        <p:txBody>
          <a:bodyPr wrap="square" lIns="0" tIns="0" rIns="0" bIns="0" rtlCol="0" anchor="ctr"/>
          <a:lstStyle/>
          <a:p>
            <a:pPr indent="0" marL="0">
              <a:buNone/>
            </a:pPr>
            <a:r>
              <a:rPr lang="en-US" sz="1000" i="1" dirty="0">
                <a:solidFill>
                  <a:srgbClr val="7E97B8"/>
                </a:solidFill>
                <a:latin typeface="Calibri" pitchFamily="34" charset="0"/>
                <a:ea typeface="Calibri" pitchFamily="34" charset="-122"/>
                <a:cs typeface="Calibri" pitchFamily="34" charset="-120"/>
              </a:rPr>
              <a:t>sentinelai/demo/index.html (live, any browser) · SentinelAI_Demo.mp4 (recorded)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TEAM</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Builders with shipped projects</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13</a:t>
            </a:r>
            <a:endParaRPr lang="en-US" sz="1100" dirty="0"/>
          </a:p>
        </p:txBody>
      </p:sp>
      <p:sp>
        <p:nvSpPr>
          <p:cNvPr id="8" name="Shape 6"/>
          <p:cNvSpPr/>
          <p:nvPr/>
        </p:nvSpPr>
        <p:spPr>
          <a:xfrm>
            <a:off x="548640" y="1600200"/>
            <a:ext cx="5468112" cy="3429000"/>
          </a:xfrm>
          <a:prstGeom prst="roundRect">
            <a:avLst>
              <a:gd name="adj" fmla="val 2133"/>
            </a:avLst>
          </a:prstGeom>
          <a:solidFill>
            <a:srgbClr val="16294A"/>
          </a:solidFill>
          <a:ln/>
        </p:spPr>
      </p:sp>
      <p:sp>
        <p:nvSpPr>
          <p:cNvPr id="9" name="Shape 7"/>
          <p:cNvSpPr/>
          <p:nvPr/>
        </p:nvSpPr>
        <p:spPr>
          <a:xfrm>
            <a:off x="868680" y="1920240"/>
            <a:ext cx="914400" cy="914400"/>
          </a:xfrm>
          <a:prstGeom prst="ellipse">
            <a:avLst/>
          </a:prstGeom>
          <a:solidFill>
            <a:srgbClr val="1B3155"/>
          </a:solidFill>
          <a:ln w="19050">
            <a:solidFill>
              <a:srgbClr val="FFB300"/>
            </a:solidFill>
            <a:prstDash val="solid"/>
          </a:ln>
        </p:spPr>
      </p:sp>
      <p:sp>
        <p:nvSpPr>
          <p:cNvPr id="10" name="Text 8"/>
          <p:cNvSpPr/>
          <p:nvPr/>
        </p:nvSpPr>
        <p:spPr>
          <a:xfrm>
            <a:off x="868680" y="1920240"/>
            <a:ext cx="914400" cy="914400"/>
          </a:xfrm>
          <a:prstGeom prst="rect">
            <a:avLst/>
          </a:prstGeom>
          <a:noFill/>
          <a:ln/>
        </p:spPr>
        <p:txBody>
          <a:bodyPr wrap="square" rtlCol="0" anchor="ctr"/>
          <a:lstStyle/>
          <a:p>
            <a:pPr algn="ctr" indent="0" marL="0">
              <a:buNone/>
            </a:pPr>
            <a:r>
              <a:rPr lang="en-US" sz="3000" b="1" dirty="0">
                <a:solidFill>
                  <a:srgbClr val="FFB300"/>
                </a:solidFill>
                <a:latin typeface="Calibri" pitchFamily="34" charset="0"/>
                <a:ea typeface="Calibri" pitchFamily="34" charset="-122"/>
                <a:cs typeface="Calibri" pitchFamily="34" charset="-120"/>
              </a:rPr>
              <a:t>S</a:t>
            </a:r>
            <a:endParaRPr lang="en-US" sz="3000" dirty="0"/>
          </a:p>
        </p:txBody>
      </p:sp>
      <p:sp>
        <p:nvSpPr>
          <p:cNvPr id="11" name="Text 9"/>
          <p:cNvSpPr/>
          <p:nvPr/>
        </p:nvSpPr>
        <p:spPr>
          <a:xfrm>
            <a:off x="1965960" y="2029968"/>
            <a:ext cx="3886200"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Sai Nirisha Chowdary Pavuluri</a:t>
            </a:r>
            <a:endParaRPr lang="en-US" sz="1650" dirty="0"/>
          </a:p>
        </p:txBody>
      </p:sp>
      <p:sp>
        <p:nvSpPr>
          <p:cNvPr id="12" name="Text 10"/>
          <p:cNvSpPr/>
          <p:nvPr/>
        </p:nvSpPr>
        <p:spPr>
          <a:xfrm>
            <a:off x="1965960" y="2450592"/>
            <a:ext cx="3840480" cy="320040"/>
          </a:xfrm>
          <a:prstGeom prst="rect">
            <a:avLst/>
          </a:prstGeom>
          <a:noFill/>
          <a:ln/>
        </p:spPr>
        <p:txBody>
          <a:bodyPr wrap="square" lIns="0" tIns="0" rIns="0" bIns="0"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Founder</a:t>
            </a:r>
            <a:endParaRPr lang="en-US" sz="1200" dirty="0"/>
          </a:p>
        </p:txBody>
      </p:sp>
      <p:sp>
        <p:nvSpPr>
          <p:cNvPr id="13" name="Text 11"/>
          <p:cNvSpPr/>
          <p:nvPr/>
        </p:nvSpPr>
        <p:spPr>
          <a:xfrm>
            <a:off x="914400" y="3017520"/>
            <a:ext cx="4800600" cy="1371600"/>
          </a:xfrm>
          <a:prstGeom prst="rect">
            <a:avLst/>
          </a:prstGeom>
          <a:noFill/>
          <a:ln/>
        </p:spPr>
        <p:txBody>
          <a:bodyPr wrap="square" lIns="0" tIns="0" rIns="0" bIns="0" rtlCol="0" anchor="t"/>
          <a:lstStyle/>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Integrated M.Tech, CSE (5-year) — VIT-AP University, Batch 2024–29</a:t>
            </a:r>
            <a:endParaRPr lang="en-US" sz="1100" dirty="0"/>
          </a:p>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Concept originator — authored the SentinelAI vision, market analysis and IP strategy; built a GPT implementation from scratch in pure Python</a:t>
            </a:r>
            <a:endParaRPr lang="en-US" sz="1100" dirty="0"/>
          </a:p>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Owns: product vision, stakeholder validation, business model, partnerships</a:t>
            </a:r>
            <a:endParaRPr lang="en-US" sz="1100" dirty="0"/>
          </a:p>
        </p:txBody>
      </p:sp>
      <p:sp>
        <p:nvSpPr>
          <p:cNvPr id="14" name="Shape 12"/>
          <p:cNvSpPr/>
          <p:nvPr/>
        </p:nvSpPr>
        <p:spPr>
          <a:xfrm>
            <a:off x="914400" y="4462272"/>
            <a:ext cx="2432304" cy="420624"/>
          </a:xfrm>
          <a:prstGeom prst="roundRect">
            <a:avLst>
              <a:gd name="adj" fmla="val 15217"/>
            </a:avLst>
          </a:prstGeom>
          <a:solidFill>
            <a:srgbClr val="1B3155"/>
          </a:solidFill>
          <a:ln/>
        </p:spPr>
      </p:sp>
      <p:sp>
        <p:nvSpPr>
          <p:cNvPr id="15" name="Text 13"/>
          <p:cNvSpPr/>
          <p:nvPr/>
        </p:nvSpPr>
        <p:spPr>
          <a:xfrm>
            <a:off x="1024128" y="4462272"/>
            <a:ext cx="2212848" cy="420624"/>
          </a:xfrm>
          <a:prstGeom prst="rect">
            <a:avLst/>
          </a:prstGeom>
          <a:noFill/>
          <a:ln/>
        </p:spPr>
        <p:txBody>
          <a:bodyPr wrap="square" lIns="0" tIns="0" rIns="0" bIns="0" rtlCol="0" anchor="ctr"/>
          <a:lstStyle/>
          <a:p>
            <a:pPr indent="0" marL="0">
              <a:buNone/>
            </a:pPr>
            <a:r>
              <a:rPr lang="en-US" sz="1000" b="1" u="sng" dirty="0">
                <a:solidFill>
                  <a:srgbClr val="FFB30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  </a:t>
            </a:r>
            <a:pPr indent="0" marL="0">
              <a:buNone/>
            </a:pPr>
            <a:r>
              <a:rPr lang="en-US" sz="10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/Nirisha22</a:t>
            </a:r>
            <a:endParaRPr lang="en-US" sz="1000" dirty="0"/>
          </a:p>
        </p:txBody>
      </p:sp>
      <p:sp>
        <p:nvSpPr>
          <p:cNvPr id="16" name="Shape 14"/>
          <p:cNvSpPr/>
          <p:nvPr/>
        </p:nvSpPr>
        <p:spPr>
          <a:xfrm>
            <a:off x="3493008" y="4462272"/>
            <a:ext cx="2432304" cy="420624"/>
          </a:xfrm>
          <a:prstGeom prst="roundRect">
            <a:avLst>
              <a:gd name="adj" fmla="val 15217"/>
            </a:avLst>
          </a:prstGeom>
          <a:solidFill>
            <a:srgbClr val="1B3155"/>
          </a:solidFill>
          <a:ln/>
        </p:spPr>
      </p:sp>
      <p:sp>
        <p:nvSpPr>
          <p:cNvPr id="17" name="Text 15"/>
          <p:cNvSpPr/>
          <p:nvPr/>
        </p:nvSpPr>
        <p:spPr>
          <a:xfrm>
            <a:off x="3602736" y="4462272"/>
            <a:ext cx="2212848" cy="420624"/>
          </a:xfrm>
          <a:prstGeom prst="rect">
            <a:avLst/>
          </a:prstGeom>
          <a:noFill/>
          <a:ln/>
        </p:spPr>
        <p:txBody>
          <a:bodyPr wrap="square" lIns="0" tIns="0" rIns="0" bIns="0" rtlCol="0" anchor="ctr"/>
          <a:lstStyle/>
          <a:p>
            <a:pPr indent="0" marL="0">
              <a:buNone/>
            </a:pPr>
            <a:r>
              <a:rPr lang="en-US" sz="1000" b="1" u="sng" dirty="0">
                <a:solidFill>
                  <a:srgbClr val="FFB300"/>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LinkedIn  </a:t>
            </a:r>
            <a:pPr indent="0" marL="0">
              <a:buNone/>
            </a:pPr>
            <a:r>
              <a:rPr lang="en-US" sz="1000" u="sng" dirty="0">
                <a:solidFill>
                  <a:srgbClr val="FFFFF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/nirisha-chowdary</a:t>
            </a:r>
            <a:endParaRPr lang="en-US" sz="1000" dirty="0"/>
          </a:p>
        </p:txBody>
      </p:sp>
      <p:sp>
        <p:nvSpPr>
          <p:cNvPr id="18" name="Shape 16"/>
          <p:cNvSpPr/>
          <p:nvPr/>
        </p:nvSpPr>
        <p:spPr>
          <a:xfrm>
            <a:off x="6172200" y="1600200"/>
            <a:ext cx="5468112" cy="3429000"/>
          </a:xfrm>
          <a:prstGeom prst="roundRect">
            <a:avLst>
              <a:gd name="adj" fmla="val 2133"/>
            </a:avLst>
          </a:prstGeom>
          <a:solidFill>
            <a:srgbClr val="16294A"/>
          </a:solidFill>
          <a:ln/>
        </p:spPr>
      </p:sp>
      <p:sp>
        <p:nvSpPr>
          <p:cNvPr id="19" name="Shape 17"/>
          <p:cNvSpPr/>
          <p:nvPr/>
        </p:nvSpPr>
        <p:spPr>
          <a:xfrm>
            <a:off x="6492240" y="1920240"/>
            <a:ext cx="914400" cy="914400"/>
          </a:xfrm>
          <a:prstGeom prst="ellipse">
            <a:avLst/>
          </a:prstGeom>
          <a:solidFill>
            <a:srgbClr val="1B3155"/>
          </a:solidFill>
          <a:ln w="19050">
            <a:solidFill>
              <a:srgbClr val="FFB300"/>
            </a:solidFill>
            <a:prstDash val="solid"/>
          </a:ln>
        </p:spPr>
      </p:sp>
      <p:sp>
        <p:nvSpPr>
          <p:cNvPr id="20" name="Text 18"/>
          <p:cNvSpPr/>
          <p:nvPr/>
        </p:nvSpPr>
        <p:spPr>
          <a:xfrm>
            <a:off x="6492240" y="1920240"/>
            <a:ext cx="914400" cy="914400"/>
          </a:xfrm>
          <a:prstGeom prst="rect">
            <a:avLst/>
          </a:prstGeom>
          <a:noFill/>
          <a:ln/>
        </p:spPr>
        <p:txBody>
          <a:bodyPr wrap="square" rtlCol="0" anchor="ctr"/>
          <a:lstStyle/>
          <a:p>
            <a:pPr algn="ctr" indent="0" marL="0">
              <a:buNone/>
            </a:pPr>
            <a:r>
              <a:rPr lang="en-US" sz="3000" b="1" dirty="0">
                <a:solidFill>
                  <a:srgbClr val="FFB300"/>
                </a:solidFill>
                <a:latin typeface="Calibri" pitchFamily="34" charset="0"/>
                <a:ea typeface="Calibri" pitchFamily="34" charset="-122"/>
                <a:cs typeface="Calibri" pitchFamily="34" charset="-120"/>
              </a:rPr>
              <a:t>S</a:t>
            </a:r>
            <a:endParaRPr lang="en-US" sz="3000" dirty="0"/>
          </a:p>
        </p:txBody>
      </p:sp>
      <p:sp>
        <p:nvSpPr>
          <p:cNvPr id="21" name="Text 19"/>
          <p:cNvSpPr/>
          <p:nvPr/>
        </p:nvSpPr>
        <p:spPr>
          <a:xfrm>
            <a:off x="7589520" y="2029968"/>
            <a:ext cx="3886200" cy="41148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Saatwik Sairaam Vasamsetti</a:t>
            </a:r>
            <a:endParaRPr lang="en-US" sz="1650" dirty="0"/>
          </a:p>
        </p:txBody>
      </p:sp>
      <p:sp>
        <p:nvSpPr>
          <p:cNvPr id="22" name="Text 20"/>
          <p:cNvSpPr/>
          <p:nvPr/>
        </p:nvSpPr>
        <p:spPr>
          <a:xfrm>
            <a:off x="7589520" y="2450592"/>
            <a:ext cx="3840480" cy="320040"/>
          </a:xfrm>
          <a:prstGeom prst="rect">
            <a:avLst/>
          </a:prstGeom>
          <a:noFill/>
          <a:ln/>
        </p:spPr>
        <p:txBody>
          <a:bodyPr wrap="square" lIns="0" tIns="0" rIns="0" bIns="0" rtlCol="0" anchor="ctr"/>
          <a:lstStyle/>
          <a:p>
            <a:pPr indent="0" marL="0">
              <a:buNone/>
            </a:pPr>
            <a:r>
              <a:rPr lang="en-US" sz="1200" b="1" dirty="0">
                <a:solidFill>
                  <a:srgbClr val="FFB300"/>
                </a:solidFill>
                <a:latin typeface="Calibri" pitchFamily="34" charset="0"/>
                <a:ea typeface="Calibri" pitchFamily="34" charset="-122"/>
                <a:cs typeface="Calibri" pitchFamily="34" charset="-120"/>
              </a:rPr>
              <a:t>Co-Founder &amp; Tech Lead</a:t>
            </a:r>
            <a:endParaRPr lang="en-US" sz="1200" dirty="0"/>
          </a:p>
        </p:txBody>
      </p:sp>
      <p:sp>
        <p:nvSpPr>
          <p:cNvPr id="23" name="Text 21"/>
          <p:cNvSpPr/>
          <p:nvPr/>
        </p:nvSpPr>
        <p:spPr>
          <a:xfrm>
            <a:off x="6537960" y="3017520"/>
            <a:ext cx="4800600" cy="1371600"/>
          </a:xfrm>
          <a:prstGeom prst="rect">
            <a:avLst/>
          </a:prstGeom>
          <a:noFill/>
          <a:ln/>
        </p:spPr>
        <p:txBody>
          <a:bodyPr wrap="square" lIns="0" tIns="0" rIns="0" bIns="0" rtlCol="0" anchor="t"/>
          <a:lstStyle/>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Integrated M.Tech, CSE (5-year) — VIT-AP University, Batch 2024–29</a:t>
            </a:r>
            <a:endParaRPr lang="en-US" sz="1100" dirty="0"/>
          </a:p>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Full-stack developer — shipped PathAhead (career-guidance platform), an ML stock-prediction system, and multiple production web platforms</a:t>
            </a:r>
            <a:endParaRPr lang="en-US" sz="1100" dirty="0"/>
          </a:p>
          <a:p>
            <a:pPr marL="127000" indent="-127000">
              <a:spcAft>
                <a:spcPts val="800"/>
              </a:spcAft>
              <a:buSzPct val="100000"/>
              <a:buChar char="•"/>
            </a:pPr>
            <a:r>
              <a:rPr lang="en-US" sz="1100" dirty="0">
                <a:solidFill>
                  <a:srgbClr val="A8C6E8"/>
                </a:solidFill>
                <a:latin typeface="Calibri" pitchFamily="34" charset="0"/>
                <a:ea typeface="Calibri" pitchFamily="34" charset="-122"/>
                <a:cs typeface="Calibri" pitchFamily="34" charset="-120"/>
              </a:rPr>
              <a:t>Owns: technical architecture, edge AI models, sensor fusion, dashboard build</a:t>
            </a:r>
            <a:endParaRPr lang="en-US" sz="1100" dirty="0"/>
          </a:p>
        </p:txBody>
      </p:sp>
      <p:sp>
        <p:nvSpPr>
          <p:cNvPr id="24" name="Shape 22"/>
          <p:cNvSpPr/>
          <p:nvPr/>
        </p:nvSpPr>
        <p:spPr>
          <a:xfrm>
            <a:off x="6537960" y="4462272"/>
            <a:ext cx="2432304" cy="420624"/>
          </a:xfrm>
          <a:prstGeom prst="roundRect">
            <a:avLst>
              <a:gd name="adj" fmla="val 15217"/>
            </a:avLst>
          </a:prstGeom>
          <a:solidFill>
            <a:srgbClr val="1B3155"/>
          </a:solidFill>
          <a:ln/>
        </p:spPr>
      </p:sp>
      <p:sp>
        <p:nvSpPr>
          <p:cNvPr id="25" name="Text 23"/>
          <p:cNvSpPr/>
          <p:nvPr/>
        </p:nvSpPr>
        <p:spPr>
          <a:xfrm>
            <a:off x="6647688" y="4462272"/>
            <a:ext cx="2212848" cy="420624"/>
          </a:xfrm>
          <a:prstGeom prst="rect">
            <a:avLst/>
          </a:prstGeom>
          <a:noFill/>
          <a:ln/>
        </p:spPr>
        <p:txBody>
          <a:bodyPr wrap="square" lIns="0" tIns="0" rIns="0" bIns="0" rtlCol="0" anchor="ctr"/>
          <a:lstStyle/>
          <a:p>
            <a:pPr indent="0" marL="0">
              <a:buNone/>
            </a:pPr>
            <a:r>
              <a:rPr lang="en-US" sz="1000" b="1" u="sng" dirty="0">
                <a:solidFill>
                  <a:srgbClr val="FFB300"/>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  </a:t>
            </a:r>
            <a:pPr indent="0" marL="0">
              <a:buNone/>
            </a:pPr>
            <a:r>
              <a:rPr lang="en-US" sz="1000" u="sng" dirty="0">
                <a:solidFill>
                  <a:srgbClr val="FFFFF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/saatwik-1157</a:t>
            </a:r>
            <a:endParaRPr lang="en-US" sz="1000" dirty="0"/>
          </a:p>
        </p:txBody>
      </p:sp>
      <p:sp>
        <p:nvSpPr>
          <p:cNvPr id="26" name="Shape 24"/>
          <p:cNvSpPr/>
          <p:nvPr/>
        </p:nvSpPr>
        <p:spPr>
          <a:xfrm>
            <a:off x="9116568" y="4462272"/>
            <a:ext cx="2432304" cy="420624"/>
          </a:xfrm>
          <a:prstGeom prst="roundRect">
            <a:avLst>
              <a:gd name="adj" fmla="val 15217"/>
            </a:avLst>
          </a:prstGeom>
          <a:solidFill>
            <a:srgbClr val="1B3155"/>
          </a:solidFill>
          <a:ln/>
        </p:spPr>
      </p:sp>
      <p:sp>
        <p:nvSpPr>
          <p:cNvPr id="27" name="Text 25"/>
          <p:cNvSpPr/>
          <p:nvPr/>
        </p:nvSpPr>
        <p:spPr>
          <a:xfrm>
            <a:off x="9226296" y="4462272"/>
            <a:ext cx="2212848" cy="420624"/>
          </a:xfrm>
          <a:prstGeom prst="rect">
            <a:avLst/>
          </a:prstGeom>
          <a:noFill/>
          <a:ln/>
        </p:spPr>
        <p:txBody>
          <a:bodyPr wrap="square" lIns="0" tIns="0" rIns="0" bIns="0" rtlCol="0" anchor="ctr"/>
          <a:lstStyle/>
          <a:p>
            <a:pPr indent="0" marL="0">
              <a:buNone/>
            </a:pPr>
            <a:r>
              <a:rPr lang="en-US" sz="1000" b="1" u="sng" dirty="0">
                <a:solidFill>
                  <a:srgbClr val="FFB300"/>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  </a:t>
            </a:r>
            <a:pPr indent="0" marL="0">
              <a:buNone/>
            </a:pPr>
            <a:r>
              <a:rPr lang="en-US" sz="1000" u="sng" dirty="0">
                <a:solidFill>
                  <a:srgbClr val="FFFFFF"/>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/saatwiksairaamvasamsetti</a:t>
            </a:r>
            <a:endParaRPr lang="en-US" sz="1000" dirty="0"/>
          </a:p>
        </p:txBody>
      </p:sp>
      <p:sp>
        <p:nvSpPr>
          <p:cNvPr id="28" name="Shape 26"/>
          <p:cNvSpPr/>
          <p:nvPr/>
        </p:nvSpPr>
        <p:spPr>
          <a:xfrm>
            <a:off x="548640" y="5230368"/>
            <a:ext cx="11091672" cy="1033272"/>
          </a:xfrm>
          <a:prstGeom prst="roundRect">
            <a:avLst>
              <a:gd name="adj" fmla="val 7080"/>
            </a:avLst>
          </a:prstGeom>
          <a:solidFill>
            <a:srgbClr val="1B3155"/>
          </a:solidFill>
          <a:ln/>
        </p:spPr>
      </p:sp>
      <p:sp>
        <p:nvSpPr>
          <p:cNvPr id="29" name="Text 27"/>
          <p:cNvSpPr/>
          <p:nvPr/>
        </p:nvSpPr>
        <p:spPr>
          <a:xfrm>
            <a:off x="868680" y="5358384"/>
            <a:ext cx="10424160" cy="274320"/>
          </a:xfrm>
          <a:prstGeom prst="rect">
            <a:avLst/>
          </a:prstGeom>
          <a:noFill/>
          <a:ln/>
        </p:spPr>
        <p:txBody>
          <a:bodyPr wrap="square" lIns="0" tIns="0" rIns="0" bIns="0" rtlCol="0" anchor="ctr"/>
          <a:lstStyle/>
          <a:p>
            <a:pPr indent="0" marL="0">
              <a:buNone/>
            </a:pPr>
            <a:r>
              <a:rPr lang="en-US" sz="1150" b="1" spc="200" kern="0" dirty="0">
                <a:solidFill>
                  <a:srgbClr val="7E97B8"/>
                </a:solidFill>
                <a:latin typeface="Calibri" pitchFamily="34" charset="0"/>
                <a:ea typeface="Calibri" pitchFamily="34" charset="-122"/>
                <a:cs typeface="Calibri" pitchFamily="34" charset="-120"/>
              </a:rPr>
              <a:t>ADVISORS &amp; VALIDATION NETWORK (IN PROGRESS)</a:t>
            </a:r>
            <a:endParaRPr lang="en-US" sz="1150" dirty="0"/>
          </a:p>
        </p:txBody>
      </p:sp>
      <p:sp>
        <p:nvSpPr>
          <p:cNvPr id="30" name="Text 28"/>
          <p:cNvSpPr/>
          <p:nvPr/>
        </p:nvSpPr>
        <p:spPr>
          <a:xfrm>
            <a:off x="868680" y="5650992"/>
            <a:ext cx="10424160" cy="5029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Phase 1 targets: one police-department mentor, one 108/EMRI operations contact, one municipal smart-city officer, one faculty advisor (embedded systems / AI) at VIT-AP. Names added as they are confirmed.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300" b="1" spc="300" kern="0" dirty="0">
                <a:solidFill>
                  <a:srgbClr val="FFB300"/>
                </a:solidFill>
                <a:latin typeface="Calibri" pitchFamily="34" charset="0"/>
                <a:ea typeface="Calibri" pitchFamily="34" charset="-122"/>
                <a:cs typeface="Calibri" pitchFamily="34" charset="-120"/>
              </a:rPr>
              <a:t>RISKS &amp; MITIGATION</a:t>
            </a:r>
            <a:endParaRPr lang="en-US" sz="1300" dirty="0"/>
          </a:p>
        </p:txBody>
      </p:sp>
      <p:sp>
        <p:nvSpPr>
          <p:cNvPr id="3" name="Text 1"/>
          <p:cNvSpPr/>
          <p:nvPr/>
        </p:nvSpPr>
        <p:spPr>
          <a:xfrm>
            <a:off x="548640" y="621792"/>
            <a:ext cx="10241280" cy="6858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We designed for the failure modes</a:t>
            </a:r>
            <a:endParaRPr lang="en-US" sz="3400" dirty="0"/>
          </a:p>
        </p:txBody>
      </p:sp>
      <p:sp>
        <p:nvSpPr>
          <p:cNvPr id="4" name="Shape 2"/>
          <p:cNvSpPr/>
          <p:nvPr/>
        </p:nvSpPr>
        <p:spPr>
          <a:xfrm>
            <a:off x="11654485" y="471373"/>
            <a:ext cx="191110" cy="191110"/>
          </a:xfrm>
          <a:prstGeom prst="ellipse">
            <a:avLst/>
          </a:prstGeom>
          <a:solidFill>
            <a:srgbClr val="FFB300">
              <a:alpha val="12000"/>
            </a:srgbClr>
          </a:solidFill>
          <a:ln/>
        </p:spPr>
      </p:sp>
      <p:sp>
        <p:nvSpPr>
          <p:cNvPr id="5" name="Shape 3"/>
          <p:cNvSpPr/>
          <p:nvPr/>
        </p:nvSpPr>
        <p:spPr>
          <a:xfrm>
            <a:off x="11682146" y="499034"/>
            <a:ext cx="135788" cy="135788"/>
          </a:xfrm>
          <a:prstGeom prst="ellipse">
            <a:avLst/>
          </a:prstGeom>
          <a:solidFill>
            <a:srgbClr val="FFB300">
              <a:alpha val="28000"/>
            </a:srgbClr>
          </a:solidFill>
          <a:ln/>
        </p:spPr>
      </p:sp>
      <p:sp>
        <p:nvSpPr>
          <p:cNvPr id="6" name="Shape 4"/>
          <p:cNvSpPr/>
          <p:nvPr/>
        </p:nvSpPr>
        <p:spPr>
          <a:xfrm>
            <a:off x="11699748" y="516636"/>
            <a:ext cx="100584" cy="100584"/>
          </a:xfrm>
          <a:prstGeom prst="ellipse">
            <a:avLst/>
          </a:prstGeom>
          <a:solidFill>
            <a:srgbClr val="FFB300"/>
          </a:solidFill>
          <a:ln/>
        </p:spPr>
      </p:sp>
      <p:sp>
        <p:nvSpPr>
          <p:cNvPr id="7" name="Text 5"/>
          <p:cNvSpPr/>
          <p:nvPr/>
        </p:nvSpPr>
        <p:spPr>
          <a:xfrm>
            <a:off x="11292840" y="868680"/>
            <a:ext cx="548640" cy="274320"/>
          </a:xfrm>
          <a:prstGeom prst="rect">
            <a:avLst/>
          </a:prstGeom>
          <a:noFill/>
          <a:ln/>
        </p:spPr>
        <p:txBody>
          <a:bodyPr wrap="square" lIns="0" tIns="0" rIns="0" bIns="0" rtlCol="0" anchor="ctr"/>
          <a:lstStyle/>
          <a:p>
            <a:pPr algn="r" indent="0" marL="0">
              <a:buNone/>
            </a:pPr>
            <a:r>
              <a:rPr lang="en-US" sz="1100" dirty="0">
                <a:solidFill>
                  <a:srgbClr val="7E97B8"/>
                </a:solidFill>
                <a:latin typeface="Calibri" pitchFamily="34" charset="0"/>
                <a:ea typeface="Calibri" pitchFamily="34" charset="-122"/>
                <a:cs typeface="Calibri" pitchFamily="34" charset="-120"/>
              </a:rPr>
              <a:t>14</a:t>
            </a:r>
            <a:endParaRPr lang="en-US" sz="1100" dirty="0"/>
          </a:p>
        </p:txBody>
      </p:sp>
      <p:sp>
        <p:nvSpPr>
          <p:cNvPr id="8" name="Shape 6"/>
          <p:cNvSpPr/>
          <p:nvPr/>
        </p:nvSpPr>
        <p:spPr>
          <a:xfrm>
            <a:off x="548640" y="1600200"/>
            <a:ext cx="5468112" cy="1371600"/>
          </a:xfrm>
          <a:prstGeom prst="roundRect">
            <a:avLst>
              <a:gd name="adj" fmla="val 5333"/>
            </a:avLst>
          </a:prstGeom>
          <a:solidFill>
            <a:srgbClr val="16294A"/>
          </a:solidFill>
          <a:ln/>
        </p:spPr>
      </p:sp>
      <p:sp>
        <p:nvSpPr>
          <p:cNvPr id="9" name="Shape 7"/>
          <p:cNvSpPr/>
          <p:nvPr/>
        </p:nvSpPr>
        <p:spPr>
          <a:xfrm>
            <a:off x="804672" y="1819656"/>
            <a:ext cx="146304" cy="146304"/>
          </a:xfrm>
          <a:prstGeom prst="ellipse">
            <a:avLst/>
          </a:prstGeom>
          <a:solidFill>
            <a:srgbClr val="FF6B6B"/>
          </a:solidFill>
          <a:ln/>
        </p:spPr>
      </p:sp>
      <p:sp>
        <p:nvSpPr>
          <p:cNvPr id="10" name="Text 8"/>
          <p:cNvSpPr/>
          <p:nvPr/>
        </p:nvSpPr>
        <p:spPr>
          <a:xfrm>
            <a:off x="1078992" y="1709928"/>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Privacy concerns</a:t>
            </a:r>
            <a:endParaRPr lang="en-US" sz="1350" dirty="0"/>
          </a:p>
        </p:txBody>
      </p:sp>
      <p:sp>
        <p:nvSpPr>
          <p:cNvPr id="11" name="Text 9"/>
          <p:cNvSpPr/>
          <p:nvPr/>
        </p:nvSpPr>
        <p:spPr>
          <a:xfrm>
            <a:off x="1078992" y="2075688"/>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Edge-first processing — footage stays on the node; encrypted, event-only uploads; DPDP-Act-aligned data policy; no facial recognition in v1</a:t>
            </a:r>
            <a:endParaRPr lang="en-US" sz="1050" dirty="0"/>
          </a:p>
        </p:txBody>
      </p:sp>
      <p:sp>
        <p:nvSpPr>
          <p:cNvPr id="12" name="Shape 10"/>
          <p:cNvSpPr/>
          <p:nvPr/>
        </p:nvSpPr>
        <p:spPr>
          <a:xfrm>
            <a:off x="6172200" y="1600200"/>
            <a:ext cx="5468112" cy="1371600"/>
          </a:xfrm>
          <a:prstGeom prst="roundRect">
            <a:avLst>
              <a:gd name="adj" fmla="val 5333"/>
            </a:avLst>
          </a:prstGeom>
          <a:solidFill>
            <a:srgbClr val="16294A"/>
          </a:solidFill>
          <a:ln/>
        </p:spPr>
      </p:sp>
      <p:sp>
        <p:nvSpPr>
          <p:cNvPr id="13" name="Shape 11"/>
          <p:cNvSpPr/>
          <p:nvPr/>
        </p:nvSpPr>
        <p:spPr>
          <a:xfrm>
            <a:off x="6428232" y="1819656"/>
            <a:ext cx="146304" cy="146304"/>
          </a:xfrm>
          <a:prstGeom prst="ellipse">
            <a:avLst/>
          </a:prstGeom>
          <a:solidFill>
            <a:srgbClr val="FF6B6B"/>
          </a:solidFill>
          <a:ln/>
        </p:spPr>
      </p:sp>
      <p:sp>
        <p:nvSpPr>
          <p:cNvPr id="14" name="Text 12"/>
          <p:cNvSpPr/>
          <p:nvPr/>
        </p:nvSpPr>
        <p:spPr>
          <a:xfrm>
            <a:off x="6702552" y="1709928"/>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False alarms</a:t>
            </a:r>
            <a:endParaRPr lang="en-US" sz="1350" dirty="0"/>
          </a:p>
        </p:txBody>
      </p:sp>
      <p:sp>
        <p:nvSpPr>
          <p:cNvPr id="15" name="Text 13"/>
          <p:cNvSpPr/>
          <p:nvPr/>
        </p:nvSpPr>
        <p:spPr>
          <a:xfrm>
            <a:off x="6702552" y="2075688"/>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Multi-sensor validation gate (vision + audio + vibration must agree); campus pilot tunes threshold to &lt; 5% before any city deployment</a:t>
            </a:r>
            <a:endParaRPr lang="en-US" sz="1050" dirty="0"/>
          </a:p>
        </p:txBody>
      </p:sp>
      <p:sp>
        <p:nvSpPr>
          <p:cNvPr id="16" name="Shape 14"/>
          <p:cNvSpPr/>
          <p:nvPr/>
        </p:nvSpPr>
        <p:spPr>
          <a:xfrm>
            <a:off x="548640" y="3136392"/>
            <a:ext cx="5468112" cy="1371600"/>
          </a:xfrm>
          <a:prstGeom prst="roundRect">
            <a:avLst>
              <a:gd name="adj" fmla="val 5333"/>
            </a:avLst>
          </a:prstGeom>
          <a:solidFill>
            <a:srgbClr val="16294A"/>
          </a:solidFill>
          <a:ln/>
        </p:spPr>
      </p:sp>
      <p:sp>
        <p:nvSpPr>
          <p:cNvPr id="17" name="Shape 15"/>
          <p:cNvSpPr/>
          <p:nvPr/>
        </p:nvSpPr>
        <p:spPr>
          <a:xfrm>
            <a:off x="804672" y="3355848"/>
            <a:ext cx="146304" cy="146304"/>
          </a:xfrm>
          <a:prstGeom prst="ellipse">
            <a:avLst/>
          </a:prstGeom>
          <a:solidFill>
            <a:srgbClr val="FF6B6B"/>
          </a:solidFill>
          <a:ln/>
        </p:spPr>
      </p:sp>
      <p:sp>
        <p:nvSpPr>
          <p:cNvPr id="18" name="Text 16"/>
          <p:cNvSpPr/>
          <p:nvPr/>
        </p:nvSpPr>
        <p:spPr>
          <a:xfrm>
            <a:off x="1078992" y="3246120"/>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Weather &amp; durability</a:t>
            </a:r>
            <a:endParaRPr lang="en-US" sz="1350" dirty="0"/>
          </a:p>
        </p:txBody>
      </p:sp>
      <p:sp>
        <p:nvSpPr>
          <p:cNvPr id="19" name="Text 17"/>
          <p:cNvSpPr/>
          <p:nvPr/>
        </p:nvSpPr>
        <p:spPr>
          <a:xfrm>
            <a:off x="1078992" y="3611880"/>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IP66-rated enclosures; sensor redundancy; degraded-mode operation when any one sensor fails</a:t>
            </a:r>
            <a:endParaRPr lang="en-US" sz="1050" dirty="0"/>
          </a:p>
        </p:txBody>
      </p:sp>
      <p:sp>
        <p:nvSpPr>
          <p:cNvPr id="20" name="Shape 18"/>
          <p:cNvSpPr/>
          <p:nvPr/>
        </p:nvSpPr>
        <p:spPr>
          <a:xfrm>
            <a:off x="6172200" y="3136392"/>
            <a:ext cx="5468112" cy="1371600"/>
          </a:xfrm>
          <a:prstGeom prst="roundRect">
            <a:avLst>
              <a:gd name="adj" fmla="val 5333"/>
            </a:avLst>
          </a:prstGeom>
          <a:solidFill>
            <a:srgbClr val="16294A"/>
          </a:solidFill>
          <a:ln/>
        </p:spPr>
      </p:sp>
      <p:sp>
        <p:nvSpPr>
          <p:cNvPr id="21" name="Shape 19"/>
          <p:cNvSpPr/>
          <p:nvPr/>
        </p:nvSpPr>
        <p:spPr>
          <a:xfrm>
            <a:off x="6428232" y="3355848"/>
            <a:ext cx="146304" cy="146304"/>
          </a:xfrm>
          <a:prstGeom prst="ellipse">
            <a:avLst/>
          </a:prstGeom>
          <a:solidFill>
            <a:srgbClr val="FF6B6B"/>
          </a:solidFill>
          <a:ln/>
        </p:spPr>
      </p:sp>
      <p:sp>
        <p:nvSpPr>
          <p:cNvPr id="22" name="Text 20"/>
          <p:cNvSpPr/>
          <p:nvPr/>
        </p:nvSpPr>
        <p:spPr>
          <a:xfrm>
            <a:off x="6702552" y="3246120"/>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Hardware maintenance</a:t>
            </a:r>
            <a:endParaRPr lang="en-US" sz="1350" dirty="0"/>
          </a:p>
        </p:txBody>
      </p:sp>
      <p:sp>
        <p:nvSpPr>
          <p:cNvPr id="23" name="Text 21"/>
          <p:cNvSpPr/>
          <p:nvPr/>
        </p:nvSpPr>
        <p:spPr>
          <a:xfrm>
            <a:off x="6702552" y="3611880"/>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Self-diagnostics heartbeat to dashboard; AMC model funds field service; modular swap-in parts</a:t>
            </a:r>
            <a:endParaRPr lang="en-US" sz="1050" dirty="0"/>
          </a:p>
        </p:txBody>
      </p:sp>
      <p:sp>
        <p:nvSpPr>
          <p:cNvPr id="24" name="Shape 22"/>
          <p:cNvSpPr/>
          <p:nvPr/>
        </p:nvSpPr>
        <p:spPr>
          <a:xfrm>
            <a:off x="548640" y="4672584"/>
            <a:ext cx="5468112" cy="1371600"/>
          </a:xfrm>
          <a:prstGeom prst="roundRect">
            <a:avLst>
              <a:gd name="adj" fmla="val 5333"/>
            </a:avLst>
          </a:prstGeom>
          <a:solidFill>
            <a:srgbClr val="16294A"/>
          </a:solidFill>
          <a:ln/>
        </p:spPr>
      </p:sp>
      <p:sp>
        <p:nvSpPr>
          <p:cNvPr id="25" name="Shape 23"/>
          <p:cNvSpPr/>
          <p:nvPr/>
        </p:nvSpPr>
        <p:spPr>
          <a:xfrm>
            <a:off x="804672" y="4892040"/>
            <a:ext cx="146304" cy="146304"/>
          </a:xfrm>
          <a:prstGeom prst="ellipse">
            <a:avLst/>
          </a:prstGeom>
          <a:solidFill>
            <a:srgbClr val="FF6B6B"/>
          </a:solidFill>
          <a:ln/>
        </p:spPr>
      </p:sp>
      <p:sp>
        <p:nvSpPr>
          <p:cNvPr id="26" name="Text 24"/>
          <p:cNvSpPr/>
          <p:nvPr/>
        </p:nvSpPr>
        <p:spPr>
          <a:xfrm>
            <a:off x="1078992" y="4782312"/>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Government approvals</a:t>
            </a:r>
            <a:endParaRPr lang="en-US" sz="1350" dirty="0"/>
          </a:p>
        </p:txBody>
      </p:sp>
      <p:sp>
        <p:nvSpPr>
          <p:cNvPr id="27" name="Text 25"/>
          <p:cNvSpPr/>
          <p:nvPr/>
        </p:nvSpPr>
        <p:spPr>
          <a:xfrm>
            <a:off x="1078992" y="5148072"/>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Pilot under university MoU first; align with Smart Cities Mission procurement; police partnership from Phase 1</a:t>
            </a:r>
            <a:endParaRPr lang="en-US" sz="1050" dirty="0"/>
          </a:p>
        </p:txBody>
      </p:sp>
      <p:sp>
        <p:nvSpPr>
          <p:cNvPr id="28" name="Shape 26"/>
          <p:cNvSpPr/>
          <p:nvPr/>
        </p:nvSpPr>
        <p:spPr>
          <a:xfrm>
            <a:off x="6172200" y="4672584"/>
            <a:ext cx="5468112" cy="1371600"/>
          </a:xfrm>
          <a:prstGeom prst="roundRect">
            <a:avLst>
              <a:gd name="adj" fmla="val 5333"/>
            </a:avLst>
          </a:prstGeom>
          <a:solidFill>
            <a:srgbClr val="16294A"/>
          </a:solidFill>
          <a:ln/>
        </p:spPr>
      </p:sp>
      <p:sp>
        <p:nvSpPr>
          <p:cNvPr id="29" name="Shape 27"/>
          <p:cNvSpPr/>
          <p:nvPr/>
        </p:nvSpPr>
        <p:spPr>
          <a:xfrm>
            <a:off x="6428232" y="4892040"/>
            <a:ext cx="146304" cy="146304"/>
          </a:xfrm>
          <a:prstGeom prst="ellipse">
            <a:avLst/>
          </a:prstGeom>
          <a:solidFill>
            <a:srgbClr val="FF6B6B"/>
          </a:solidFill>
          <a:ln/>
        </p:spPr>
      </p:sp>
      <p:sp>
        <p:nvSpPr>
          <p:cNvPr id="30" name="Text 28"/>
          <p:cNvSpPr/>
          <p:nvPr/>
        </p:nvSpPr>
        <p:spPr>
          <a:xfrm>
            <a:off x="6702552" y="4782312"/>
            <a:ext cx="46634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Installation cost</a:t>
            </a:r>
            <a:endParaRPr lang="en-US" sz="1350" dirty="0"/>
          </a:p>
        </p:txBody>
      </p:sp>
      <p:sp>
        <p:nvSpPr>
          <p:cNvPr id="31" name="Text 29"/>
          <p:cNvSpPr/>
          <p:nvPr/>
        </p:nvSpPr>
        <p:spPr>
          <a:xfrm>
            <a:off x="6702552" y="5148072"/>
            <a:ext cx="4709160" cy="822960"/>
          </a:xfrm>
          <a:prstGeom prst="rect">
            <a:avLst/>
          </a:prstGeom>
          <a:noFill/>
          <a:ln/>
        </p:spPr>
        <p:txBody>
          <a:bodyPr wrap="square" lIns="0" tIns="0" rIns="0" bIns="0" rtlCol="0" anchor="t"/>
          <a:lstStyle/>
          <a:p>
            <a:pPr indent="0" marL="0">
              <a:buNone/>
            </a:pPr>
            <a:r>
              <a:rPr lang="en-US" sz="1050" dirty="0">
                <a:solidFill>
                  <a:srgbClr val="A8C6E8"/>
                </a:solidFill>
                <a:latin typeface="Calibri" pitchFamily="34" charset="0"/>
                <a:ea typeface="Calibri" pitchFamily="34" charset="-122"/>
                <a:cs typeface="Calibri" pitchFamily="34" charset="-120"/>
              </a:rPr>
              <a:t>Retrofit existing poles — no new civil works; commodity hardware; per-node cost drops with volume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626"/>
        </a:solidFill>
      </p:bgPr>
    </p:bg>
    <p:spTree>
      <p:nvGrpSpPr>
        <p:cNvPr id="1" name=""/>
        <p:cNvGrpSpPr/>
        <p:nvPr/>
      </p:nvGrpSpPr>
      <p:grpSpPr>
        <a:xfrm>
          <a:off x="0" y="0"/>
          <a:ext cx="0" cy="0"/>
          <a:chOff x="0" y="0"/>
          <a:chExt cx="0" cy="0"/>
        </a:xfrm>
      </p:grpSpPr>
      <p:sp>
        <p:nvSpPr>
          <p:cNvPr id="2" name="Shape 0"/>
          <p:cNvSpPr/>
          <p:nvPr/>
        </p:nvSpPr>
        <p:spPr>
          <a:xfrm>
            <a:off x="1031443" y="6152083"/>
            <a:ext cx="131674" cy="131674"/>
          </a:xfrm>
          <a:prstGeom prst="ellipse">
            <a:avLst/>
          </a:prstGeom>
          <a:solidFill>
            <a:srgbClr val="FFB300">
              <a:alpha val="14000"/>
            </a:srgbClr>
          </a:solidFill>
          <a:ln/>
        </p:spPr>
      </p:sp>
      <p:sp>
        <p:nvSpPr>
          <p:cNvPr id="3" name="Shape 1"/>
          <p:cNvSpPr/>
          <p:nvPr/>
        </p:nvSpPr>
        <p:spPr>
          <a:xfrm>
            <a:off x="1069848" y="6190488"/>
            <a:ext cx="54864" cy="54864"/>
          </a:xfrm>
          <a:prstGeom prst="ellipse">
            <a:avLst/>
          </a:prstGeom>
          <a:solidFill>
            <a:srgbClr val="FFB300">
              <a:alpha val="75000"/>
            </a:srgbClr>
          </a:solidFill>
          <a:ln/>
        </p:spPr>
      </p:sp>
      <p:sp>
        <p:nvSpPr>
          <p:cNvPr id="4" name="Shape 2"/>
          <p:cNvSpPr/>
          <p:nvPr/>
        </p:nvSpPr>
        <p:spPr>
          <a:xfrm>
            <a:off x="2742468" y="6308628"/>
            <a:ext cx="184343" cy="184343"/>
          </a:xfrm>
          <a:prstGeom prst="ellipse">
            <a:avLst/>
          </a:prstGeom>
          <a:solidFill>
            <a:srgbClr val="FFB300">
              <a:alpha val="14000"/>
            </a:srgbClr>
          </a:solidFill>
          <a:ln/>
        </p:spPr>
      </p:sp>
      <p:sp>
        <p:nvSpPr>
          <p:cNvPr id="5" name="Shape 3"/>
          <p:cNvSpPr/>
          <p:nvPr/>
        </p:nvSpPr>
        <p:spPr>
          <a:xfrm>
            <a:off x="2796235" y="6362395"/>
            <a:ext cx="76810" cy="76810"/>
          </a:xfrm>
          <a:prstGeom prst="ellipse">
            <a:avLst/>
          </a:prstGeom>
          <a:solidFill>
            <a:srgbClr val="FFB300">
              <a:alpha val="75000"/>
            </a:srgbClr>
          </a:solidFill>
          <a:ln/>
        </p:spPr>
      </p:sp>
      <p:sp>
        <p:nvSpPr>
          <p:cNvPr id="6" name="Shape 4"/>
          <p:cNvSpPr/>
          <p:nvPr/>
        </p:nvSpPr>
        <p:spPr>
          <a:xfrm>
            <a:off x="4727814" y="6145134"/>
            <a:ext cx="237012" cy="237012"/>
          </a:xfrm>
          <a:prstGeom prst="ellipse">
            <a:avLst/>
          </a:prstGeom>
          <a:solidFill>
            <a:srgbClr val="FFB300">
              <a:alpha val="14000"/>
            </a:srgbClr>
          </a:solidFill>
          <a:ln/>
        </p:spPr>
      </p:sp>
      <p:sp>
        <p:nvSpPr>
          <p:cNvPr id="7" name="Shape 5"/>
          <p:cNvSpPr/>
          <p:nvPr/>
        </p:nvSpPr>
        <p:spPr>
          <a:xfrm>
            <a:off x="4796942" y="6214262"/>
            <a:ext cx="98755" cy="98755"/>
          </a:xfrm>
          <a:prstGeom prst="ellipse">
            <a:avLst/>
          </a:prstGeom>
          <a:solidFill>
            <a:srgbClr val="FFB300">
              <a:alpha val="75000"/>
            </a:srgbClr>
          </a:solidFill>
          <a:ln/>
        </p:spPr>
      </p:sp>
      <p:sp>
        <p:nvSpPr>
          <p:cNvPr id="8" name="Shape 6"/>
          <p:cNvSpPr/>
          <p:nvPr/>
        </p:nvSpPr>
        <p:spPr>
          <a:xfrm>
            <a:off x="7249363" y="6334963"/>
            <a:ext cx="131674" cy="131674"/>
          </a:xfrm>
          <a:prstGeom prst="ellipse">
            <a:avLst/>
          </a:prstGeom>
          <a:solidFill>
            <a:srgbClr val="FFB300">
              <a:alpha val="14000"/>
            </a:srgbClr>
          </a:solidFill>
          <a:ln/>
        </p:spPr>
      </p:sp>
      <p:sp>
        <p:nvSpPr>
          <p:cNvPr id="9" name="Shape 7"/>
          <p:cNvSpPr/>
          <p:nvPr/>
        </p:nvSpPr>
        <p:spPr>
          <a:xfrm>
            <a:off x="7287768" y="6373368"/>
            <a:ext cx="54864" cy="54864"/>
          </a:xfrm>
          <a:prstGeom prst="ellipse">
            <a:avLst/>
          </a:prstGeom>
          <a:solidFill>
            <a:srgbClr val="FFB300">
              <a:alpha val="75000"/>
            </a:srgbClr>
          </a:solidFill>
          <a:ln/>
        </p:spPr>
      </p:sp>
      <p:sp>
        <p:nvSpPr>
          <p:cNvPr id="10" name="Shape 8"/>
          <p:cNvSpPr/>
          <p:nvPr/>
        </p:nvSpPr>
        <p:spPr>
          <a:xfrm>
            <a:off x="9326148" y="6125748"/>
            <a:ext cx="184343" cy="184343"/>
          </a:xfrm>
          <a:prstGeom prst="ellipse">
            <a:avLst/>
          </a:prstGeom>
          <a:solidFill>
            <a:srgbClr val="FFB300">
              <a:alpha val="14000"/>
            </a:srgbClr>
          </a:solidFill>
          <a:ln/>
        </p:spPr>
      </p:sp>
      <p:sp>
        <p:nvSpPr>
          <p:cNvPr id="11" name="Shape 9"/>
          <p:cNvSpPr/>
          <p:nvPr/>
        </p:nvSpPr>
        <p:spPr>
          <a:xfrm>
            <a:off x="9379915" y="6179515"/>
            <a:ext cx="76810" cy="76810"/>
          </a:xfrm>
          <a:prstGeom prst="ellipse">
            <a:avLst/>
          </a:prstGeom>
          <a:solidFill>
            <a:srgbClr val="FFB300">
              <a:alpha val="75000"/>
            </a:srgbClr>
          </a:solidFill>
          <a:ln/>
        </p:spPr>
      </p:sp>
      <p:sp>
        <p:nvSpPr>
          <p:cNvPr id="12" name="Shape 10"/>
          <p:cNvSpPr/>
          <p:nvPr/>
        </p:nvSpPr>
        <p:spPr>
          <a:xfrm>
            <a:off x="11037174" y="6236574"/>
            <a:ext cx="237012" cy="237012"/>
          </a:xfrm>
          <a:prstGeom prst="ellipse">
            <a:avLst/>
          </a:prstGeom>
          <a:solidFill>
            <a:srgbClr val="FFB300">
              <a:alpha val="14000"/>
            </a:srgbClr>
          </a:solidFill>
          <a:ln/>
        </p:spPr>
      </p:sp>
      <p:sp>
        <p:nvSpPr>
          <p:cNvPr id="13" name="Shape 11"/>
          <p:cNvSpPr/>
          <p:nvPr/>
        </p:nvSpPr>
        <p:spPr>
          <a:xfrm>
            <a:off x="11106302" y="6305702"/>
            <a:ext cx="98755" cy="98755"/>
          </a:xfrm>
          <a:prstGeom prst="ellipse">
            <a:avLst/>
          </a:prstGeom>
          <a:solidFill>
            <a:srgbClr val="FFB300">
              <a:alpha val="75000"/>
            </a:srgbClr>
          </a:solidFill>
          <a:ln/>
        </p:spPr>
      </p:sp>
      <p:sp>
        <p:nvSpPr>
          <p:cNvPr id="14" name="Text 12"/>
          <p:cNvSpPr/>
          <p:nvPr/>
        </p:nvSpPr>
        <p:spPr>
          <a:xfrm>
            <a:off x="1097280" y="822960"/>
            <a:ext cx="9994392"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Every pole we light up is a life we might save.</a:t>
            </a:r>
            <a:endParaRPr lang="en-US" sz="3400" dirty="0"/>
          </a:p>
        </p:txBody>
      </p:sp>
      <p:sp>
        <p:nvSpPr>
          <p:cNvPr id="15" name="Text 13"/>
          <p:cNvSpPr/>
          <p:nvPr/>
        </p:nvSpPr>
        <p:spPr>
          <a:xfrm>
            <a:off x="2011680" y="1783080"/>
            <a:ext cx="8165592" cy="640080"/>
          </a:xfrm>
          <a:prstGeom prst="rect">
            <a:avLst/>
          </a:prstGeom>
          <a:noFill/>
          <a:ln/>
        </p:spPr>
        <p:txBody>
          <a:bodyPr wrap="square" lIns="0" tIns="0" rIns="0" bIns="0" rtlCol="0" anchor="ctr"/>
          <a:lstStyle/>
          <a:p>
            <a:pPr algn="ctr" indent="0" marL="0">
              <a:buNone/>
            </a:pPr>
            <a:r>
              <a:rPr lang="en-US" sz="1450" dirty="0">
                <a:solidFill>
                  <a:srgbClr val="A8C6E8"/>
                </a:solidFill>
                <a:latin typeface="Calibri" pitchFamily="34" charset="0"/>
                <a:ea typeface="Calibri" pitchFamily="34" charset="-122"/>
                <a:cs typeface="Calibri" pitchFamily="34" charset="-120"/>
              </a:rPr>
              <a:t>SentinelAI makes public infrastructure aware, responsive and connected — faster emergency response, safer streets, smarter cities.</a:t>
            </a:r>
            <a:endParaRPr lang="en-US" sz="1450" dirty="0"/>
          </a:p>
        </p:txBody>
      </p:sp>
      <p:sp>
        <p:nvSpPr>
          <p:cNvPr id="16" name="Shape 14"/>
          <p:cNvSpPr/>
          <p:nvPr/>
        </p:nvSpPr>
        <p:spPr>
          <a:xfrm>
            <a:off x="1225296" y="2697480"/>
            <a:ext cx="1828800" cy="685800"/>
          </a:xfrm>
          <a:prstGeom prst="roundRect">
            <a:avLst>
              <a:gd name="adj" fmla="val 13333"/>
            </a:avLst>
          </a:prstGeom>
          <a:solidFill>
            <a:srgbClr val="16294A"/>
          </a:solidFill>
          <a:ln w="9525">
            <a:solidFill>
              <a:srgbClr val="2C4468"/>
            </a:solidFill>
            <a:prstDash val="solid"/>
          </a:ln>
        </p:spPr>
      </p:sp>
      <p:sp>
        <p:nvSpPr>
          <p:cNvPr id="17" name="Text 15"/>
          <p:cNvSpPr/>
          <p:nvPr/>
        </p:nvSpPr>
        <p:spPr>
          <a:xfrm>
            <a:off x="1225296" y="2697480"/>
            <a:ext cx="1828800" cy="685800"/>
          </a:xfrm>
          <a:prstGeom prst="rect">
            <a:avLst/>
          </a:prstGeom>
          <a:noFill/>
          <a:ln/>
        </p:spPr>
        <p:txBody>
          <a:bodyPr wrap="square" rtlCol="0" anchor="ctr"/>
          <a:lstStyle/>
          <a:p>
            <a:pPr algn="ctr" indent="0" marL="0">
              <a:buNone/>
            </a:pPr>
            <a:r>
              <a:rPr lang="en-US" sz="1250" b="1" dirty="0">
                <a:solidFill>
                  <a:srgbClr val="FFB300"/>
                </a:solidFill>
                <a:latin typeface="Calibri" pitchFamily="34" charset="0"/>
                <a:ea typeface="Calibri" pitchFamily="34" charset="-122"/>
                <a:cs typeface="Calibri" pitchFamily="34" charset="-120"/>
              </a:rPr>
              <a:t>SDG 3
</a:t>
            </a:r>
            <a:pPr algn="ctr" indent="0" marL="0">
              <a:buNone/>
            </a:pPr>
            <a:r>
              <a:rPr lang="en-US" sz="950" dirty="0">
                <a:solidFill>
                  <a:srgbClr val="A8C6E8"/>
                </a:solidFill>
                <a:latin typeface="Calibri" pitchFamily="34" charset="0"/>
                <a:ea typeface="Calibri" pitchFamily="34" charset="-122"/>
                <a:cs typeface="Calibri" pitchFamily="34" charset="-120"/>
              </a:rPr>
              <a:t>Good Health</a:t>
            </a:r>
            <a:endParaRPr lang="en-US" sz="1250" dirty="0"/>
          </a:p>
        </p:txBody>
      </p:sp>
      <p:sp>
        <p:nvSpPr>
          <p:cNvPr id="18" name="Shape 16"/>
          <p:cNvSpPr/>
          <p:nvPr/>
        </p:nvSpPr>
        <p:spPr>
          <a:xfrm>
            <a:off x="3236976" y="2697480"/>
            <a:ext cx="1828800" cy="685800"/>
          </a:xfrm>
          <a:prstGeom prst="roundRect">
            <a:avLst>
              <a:gd name="adj" fmla="val 13333"/>
            </a:avLst>
          </a:prstGeom>
          <a:solidFill>
            <a:srgbClr val="16294A"/>
          </a:solidFill>
          <a:ln w="9525">
            <a:solidFill>
              <a:srgbClr val="2C4468"/>
            </a:solidFill>
            <a:prstDash val="solid"/>
          </a:ln>
        </p:spPr>
      </p:sp>
      <p:sp>
        <p:nvSpPr>
          <p:cNvPr id="19" name="Text 17"/>
          <p:cNvSpPr/>
          <p:nvPr/>
        </p:nvSpPr>
        <p:spPr>
          <a:xfrm>
            <a:off x="3236976" y="2697480"/>
            <a:ext cx="1828800" cy="685800"/>
          </a:xfrm>
          <a:prstGeom prst="rect">
            <a:avLst/>
          </a:prstGeom>
          <a:noFill/>
          <a:ln/>
        </p:spPr>
        <p:txBody>
          <a:bodyPr wrap="square" rtlCol="0" anchor="ctr"/>
          <a:lstStyle/>
          <a:p>
            <a:pPr algn="ctr" indent="0" marL="0">
              <a:buNone/>
            </a:pPr>
            <a:r>
              <a:rPr lang="en-US" sz="1250" b="1" dirty="0">
                <a:solidFill>
                  <a:srgbClr val="FFB300"/>
                </a:solidFill>
                <a:latin typeface="Calibri" pitchFamily="34" charset="0"/>
                <a:ea typeface="Calibri" pitchFamily="34" charset="-122"/>
                <a:cs typeface="Calibri" pitchFamily="34" charset="-120"/>
              </a:rPr>
              <a:t>SDG 5
</a:t>
            </a:r>
            <a:pPr algn="ctr" indent="0" marL="0">
              <a:buNone/>
            </a:pPr>
            <a:r>
              <a:rPr lang="en-US" sz="950" dirty="0">
                <a:solidFill>
                  <a:srgbClr val="A8C6E8"/>
                </a:solidFill>
                <a:latin typeface="Calibri" pitchFamily="34" charset="0"/>
                <a:ea typeface="Calibri" pitchFamily="34" charset="-122"/>
                <a:cs typeface="Calibri" pitchFamily="34" charset="-120"/>
              </a:rPr>
              <a:t>Gender Equality</a:t>
            </a:r>
            <a:endParaRPr lang="en-US" sz="1250" dirty="0"/>
          </a:p>
        </p:txBody>
      </p:sp>
      <p:sp>
        <p:nvSpPr>
          <p:cNvPr id="20" name="Shape 18"/>
          <p:cNvSpPr/>
          <p:nvPr/>
        </p:nvSpPr>
        <p:spPr>
          <a:xfrm>
            <a:off x="5248656" y="2697480"/>
            <a:ext cx="1828800" cy="685800"/>
          </a:xfrm>
          <a:prstGeom prst="roundRect">
            <a:avLst>
              <a:gd name="adj" fmla="val 13333"/>
            </a:avLst>
          </a:prstGeom>
          <a:solidFill>
            <a:srgbClr val="16294A"/>
          </a:solidFill>
          <a:ln w="9525">
            <a:solidFill>
              <a:srgbClr val="2C4468"/>
            </a:solidFill>
            <a:prstDash val="solid"/>
          </a:ln>
        </p:spPr>
      </p:sp>
      <p:sp>
        <p:nvSpPr>
          <p:cNvPr id="21" name="Text 19"/>
          <p:cNvSpPr/>
          <p:nvPr/>
        </p:nvSpPr>
        <p:spPr>
          <a:xfrm>
            <a:off x="5248656" y="2697480"/>
            <a:ext cx="1828800" cy="685800"/>
          </a:xfrm>
          <a:prstGeom prst="rect">
            <a:avLst/>
          </a:prstGeom>
          <a:noFill/>
          <a:ln/>
        </p:spPr>
        <p:txBody>
          <a:bodyPr wrap="square" rtlCol="0" anchor="ctr"/>
          <a:lstStyle/>
          <a:p>
            <a:pPr algn="ctr" indent="0" marL="0">
              <a:buNone/>
            </a:pPr>
            <a:r>
              <a:rPr lang="en-US" sz="1250" b="1" dirty="0">
                <a:solidFill>
                  <a:srgbClr val="FFB300"/>
                </a:solidFill>
                <a:latin typeface="Calibri" pitchFamily="34" charset="0"/>
                <a:ea typeface="Calibri" pitchFamily="34" charset="-122"/>
                <a:cs typeface="Calibri" pitchFamily="34" charset="-120"/>
              </a:rPr>
              <a:t>SDG 9
</a:t>
            </a:r>
            <a:pPr algn="ctr" indent="0" marL="0">
              <a:buNone/>
            </a:pPr>
            <a:r>
              <a:rPr lang="en-US" sz="950" dirty="0">
                <a:solidFill>
                  <a:srgbClr val="A8C6E8"/>
                </a:solidFill>
                <a:latin typeface="Calibri" pitchFamily="34" charset="0"/>
                <a:ea typeface="Calibri" pitchFamily="34" charset="-122"/>
                <a:cs typeface="Calibri" pitchFamily="34" charset="-120"/>
              </a:rPr>
              <a:t>Industry &amp; Innovation</a:t>
            </a:r>
            <a:endParaRPr lang="en-US" sz="1250" dirty="0"/>
          </a:p>
        </p:txBody>
      </p:sp>
      <p:sp>
        <p:nvSpPr>
          <p:cNvPr id="22" name="Shape 20"/>
          <p:cNvSpPr/>
          <p:nvPr/>
        </p:nvSpPr>
        <p:spPr>
          <a:xfrm>
            <a:off x="7260336" y="2697480"/>
            <a:ext cx="1828800" cy="685800"/>
          </a:xfrm>
          <a:prstGeom prst="roundRect">
            <a:avLst>
              <a:gd name="adj" fmla="val 13333"/>
            </a:avLst>
          </a:prstGeom>
          <a:solidFill>
            <a:srgbClr val="16294A"/>
          </a:solidFill>
          <a:ln w="9525">
            <a:solidFill>
              <a:srgbClr val="2C4468"/>
            </a:solidFill>
            <a:prstDash val="solid"/>
          </a:ln>
        </p:spPr>
      </p:sp>
      <p:sp>
        <p:nvSpPr>
          <p:cNvPr id="23" name="Text 21"/>
          <p:cNvSpPr/>
          <p:nvPr/>
        </p:nvSpPr>
        <p:spPr>
          <a:xfrm>
            <a:off x="7260336" y="2697480"/>
            <a:ext cx="1828800" cy="685800"/>
          </a:xfrm>
          <a:prstGeom prst="rect">
            <a:avLst/>
          </a:prstGeom>
          <a:noFill/>
          <a:ln/>
        </p:spPr>
        <p:txBody>
          <a:bodyPr wrap="square" rtlCol="0" anchor="ctr"/>
          <a:lstStyle/>
          <a:p>
            <a:pPr algn="ctr" indent="0" marL="0">
              <a:buNone/>
            </a:pPr>
            <a:r>
              <a:rPr lang="en-US" sz="1250" b="1" dirty="0">
                <a:solidFill>
                  <a:srgbClr val="FFB300"/>
                </a:solidFill>
                <a:latin typeface="Calibri" pitchFamily="34" charset="0"/>
                <a:ea typeface="Calibri" pitchFamily="34" charset="-122"/>
                <a:cs typeface="Calibri" pitchFamily="34" charset="-120"/>
              </a:rPr>
              <a:t>SDG 11
</a:t>
            </a:r>
            <a:pPr algn="ctr" indent="0" marL="0">
              <a:buNone/>
            </a:pPr>
            <a:r>
              <a:rPr lang="en-US" sz="950" dirty="0">
                <a:solidFill>
                  <a:srgbClr val="A8C6E8"/>
                </a:solidFill>
                <a:latin typeface="Calibri" pitchFamily="34" charset="0"/>
                <a:ea typeface="Calibri" pitchFamily="34" charset="-122"/>
                <a:cs typeface="Calibri" pitchFamily="34" charset="-120"/>
              </a:rPr>
              <a:t>Sustainable Cities</a:t>
            </a:r>
            <a:endParaRPr lang="en-US" sz="1250" dirty="0"/>
          </a:p>
        </p:txBody>
      </p:sp>
      <p:sp>
        <p:nvSpPr>
          <p:cNvPr id="24" name="Shape 22"/>
          <p:cNvSpPr/>
          <p:nvPr/>
        </p:nvSpPr>
        <p:spPr>
          <a:xfrm>
            <a:off x="9272016" y="2697480"/>
            <a:ext cx="1828800" cy="685800"/>
          </a:xfrm>
          <a:prstGeom prst="roundRect">
            <a:avLst>
              <a:gd name="adj" fmla="val 13333"/>
            </a:avLst>
          </a:prstGeom>
          <a:solidFill>
            <a:srgbClr val="16294A"/>
          </a:solidFill>
          <a:ln w="9525">
            <a:solidFill>
              <a:srgbClr val="2C4468"/>
            </a:solidFill>
            <a:prstDash val="solid"/>
          </a:ln>
        </p:spPr>
      </p:sp>
      <p:sp>
        <p:nvSpPr>
          <p:cNvPr id="25" name="Text 23"/>
          <p:cNvSpPr/>
          <p:nvPr/>
        </p:nvSpPr>
        <p:spPr>
          <a:xfrm>
            <a:off x="9272016" y="2697480"/>
            <a:ext cx="1828800" cy="685800"/>
          </a:xfrm>
          <a:prstGeom prst="rect">
            <a:avLst/>
          </a:prstGeom>
          <a:noFill/>
          <a:ln/>
        </p:spPr>
        <p:txBody>
          <a:bodyPr wrap="square" rtlCol="0" anchor="ctr"/>
          <a:lstStyle/>
          <a:p>
            <a:pPr algn="ctr" indent="0" marL="0">
              <a:buNone/>
            </a:pPr>
            <a:r>
              <a:rPr lang="en-US" sz="1250" b="1" dirty="0">
                <a:solidFill>
                  <a:srgbClr val="FFB300"/>
                </a:solidFill>
                <a:latin typeface="Calibri" pitchFamily="34" charset="0"/>
                <a:ea typeface="Calibri" pitchFamily="34" charset="-122"/>
                <a:cs typeface="Calibri" pitchFamily="34" charset="-120"/>
              </a:rPr>
              <a:t>SDG 16
</a:t>
            </a:r>
            <a:pPr algn="ctr" indent="0" marL="0">
              <a:buNone/>
            </a:pPr>
            <a:r>
              <a:rPr lang="en-US" sz="950" dirty="0">
                <a:solidFill>
                  <a:srgbClr val="A8C6E8"/>
                </a:solidFill>
                <a:latin typeface="Calibri" pitchFamily="34" charset="0"/>
                <a:ea typeface="Calibri" pitchFamily="34" charset="-122"/>
                <a:cs typeface="Calibri" pitchFamily="34" charset="-120"/>
              </a:rPr>
              <a:t>Peace &amp; Justice</a:t>
            </a:r>
            <a:endParaRPr lang="en-US" sz="1250" dirty="0"/>
          </a:p>
        </p:txBody>
      </p:sp>
      <p:sp>
        <p:nvSpPr>
          <p:cNvPr id="26" name="Shape 24"/>
          <p:cNvSpPr/>
          <p:nvPr/>
        </p:nvSpPr>
        <p:spPr>
          <a:xfrm>
            <a:off x="2011680" y="3794760"/>
            <a:ext cx="8165592" cy="1417320"/>
          </a:xfrm>
          <a:prstGeom prst="roundRect">
            <a:avLst>
              <a:gd name="adj" fmla="val 5161"/>
            </a:avLst>
          </a:prstGeom>
          <a:solidFill>
            <a:srgbClr val="1B3155"/>
          </a:solidFill>
          <a:ln/>
        </p:spPr>
      </p:sp>
      <p:sp>
        <p:nvSpPr>
          <p:cNvPr id="27" name="Text 25"/>
          <p:cNvSpPr/>
          <p:nvPr/>
        </p:nvSpPr>
        <p:spPr>
          <a:xfrm>
            <a:off x="2377440" y="3977640"/>
            <a:ext cx="7498080" cy="274320"/>
          </a:xfrm>
          <a:prstGeom prst="rect">
            <a:avLst/>
          </a:prstGeom>
          <a:noFill/>
          <a:ln/>
        </p:spPr>
        <p:txBody>
          <a:bodyPr wrap="square" lIns="0" tIns="0" rIns="0" bIns="0" rtlCol="0" anchor="ctr"/>
          <a:lstStyle/>
          <a:p>
            <a:pPr indent="0" marL="0">
              <a:buNone/>
            </a:pPr>
            <a:r>
              <a:rPr lang="en-US" sz="1200" b="1" spc="300" kern="0" dirty="0">
                <a:solidFill>
                  <a:srgbClr val="7E97B8"/>
                </a:solidFill>
                <a:latin typeface="Calibri" pitchFamily="34" charset="0"/>
                <a:ea typeface="Calibri" pitchFamily="34" charset="-122"/>
                <a:cs typeface="Calibri" pitchFamily="34" charset="-120"/>
              </a:rPr>
              <a:t>THE ASK</a:t>
            </a:r>
            <a:endParaRPr lang="en-US" sz="1200" dirty="0"/>
          </a:p>
        </p:txBody>
      </p:sp>
      <p:sp>
        <p:nvSpPr>
          <p:cNvPr id="28" name="Text 26"/>
          <p:cNvSpPr/>
          <p:nvPr/>
        </p:nvSpPr>
        <p:spPr>
          <a:xfrm>
            <a:off x="2377440" y="4297680"/>
            <a:ext cx="7498080" cy="777240"/>
          </a:xfrm>
          <a:prstGeom prst="rect">
            <a:avLst/>
          </a:prstGeom>
          <a:noFill/>
          <a:ln/>
        </p:spPr>
        <p:txBody>
          <a:bodyPr wrap="square" lIns="0" tIns="0" rIns="0" bIns="0" rtlCol="0" anchor="t"/>
          <a:lstStyle/>
          <a:p>
            <a:pPr indent="0" marL="0">
              <a:buNone/>
            </a:pPr>
            <a:r>
              <a:rPr lang="en-US" sz="1800" b="1" dirty="0">
                <a:solidFill>
                  <a:srgbClr val="FFB300"/>
                </a:solidFill>
                <a:latin typeface="Calibri" pitchFamily="34" charset="0"/>
                <a:ea typeface="Calibri" pitchFamily="34" charset="-122"/>
                <a:cs typeface="Calibri" pitchFamily="34" charset="-120"/>
              </a:rPr>
              <a:t>₹18–20 lakh + incubation support </a:t>
            </a:r>
            <a:pPr indent="0" marL="0">
              <a:buNone/>
            </a:pPr>
            <a:r>
              <a:rPr lang="en-US" sz="1350" dirty="0">
                <a:solidFill>
                  <a:srgbClr val="FFFFFF"/>
                </a:solidFill>
                <a:latin typeface="Calibri" pitchFamily="34" charset="0"/>
                <a:ea typeface="Calibri" pitchFamily="34" charset="-122"/>
                <a:cs typeface="Calibri" pitchFamily="34" charset="-120"/>
              </a:rPr>
              <a:t> to deliver a working 5-node campus mesh in 8 months — validated with police, ambulance operators and municipal officials.</a:t>
            </a:r>
            <a:endParaRPr lang="en-US" sz="1800" dirty="0"/>
          </a:p>
        </p:txBody>
      </p:sp>
      <p:sp>
        <p:nvSpPr>
          <p:cNvPr id="29" name="Text 27"/>
          <p:cNvSpPr/>
          <p:nvPr/>
        </p:nvSpPr>
        <p:spPr>
          <a:xfrm>
            <a:off x="1097280" y="5394960"/>
            <a:ext cx="9994392" cy="548640"/>
          </a:xfrm>
          <a:prstGeom prst="rect">
            <a:avLst/>
          </a:prstGeom>
          <a:noFill/>
          <a:ln/>
        </p:spPr>
        <p:txBody>
          <a:bodyPr wrap="square" lIns="0" tIns="0" rIns="0" bIns="0" rtlCol="0" anchor="ctr"/>
          <a:lstStyle/>
          <a:p>
            <a:pPr algn="ctr" indent="0" marL="0">
              <a:buNone/>
            </a:pPr>
            <a:r>
              <a:rPr lang="en-US" sz="1250" dirty="0">
                <a:solidFill>
                  <a:srgbClr val="A8C6E8"/>
                </a:solidFill>
                <a:latin typeface="Calibri" pitchFamily="34" charset="0"/>
                <a:ea typeface="Calibri" pitchFamily="34" charset="-122"/>
                <a:cs typeface="Calibri" pitchFamily="34" charset="-120"/>
              </a:rPr>
              <a:t>Team SentinelAI — VIT-AP University
</a:t>
            </a:r>
            <a:pPr algn="ctr" indent="0" marL="0">
              <a:buNone/>
            </a:pPr>
            <a:r>
              <a:rPr lang="en-US" sz="1250" dirty="0">
                <a:solidFill>
                  <a:srgbClr val="7E97B8"/>
                </a:solidFill>
                <a:latin typeface="Calibri" pitchFamily="34" charset="0"/>
                <a:ea typeface="Calibri" pitchFamily="34" charset="-122"/>
                <a:cs typeface="Calibri" pitchFamily="34" charset="-120"/>
              </a:rPr>
              <a:t>saathwik.13@gmail.com  •  nirishapavuluri@gmail.com</a:t>
            </a:r>
            <a:endParaRPr lang="en-US" sz="1250" dirty="0"/>
          </a:p>
        </p:txBody>
      </p:sp>
      <p:sp>
        <p:nvSpPr>
          <p:cNvPr id="30" name="Text 28">
            <a:hlinkClick r:id="rId1" tooltip=""/>
          </p:cNvPr>
          <p:cNvSpPr/>
          <p:nvPr/>
        </p:nvSpPr>
        <p:spPr>
          <a:xfrm>
            <a:off x="1097280" y="5943600"/>
            <a:ext cx="2148840" cy="292608"/>
          </a:xfrm>
          <a:prstGeom prst="rect">
            <a:avLst/>
          </a:prstGeom>
          <a:noFill/>
          <a:ln/>
        </p:spPr>
        <p:txBody>
          <a:bodyPr wrap="square" lIns="0" tIns="0" rIns="0" bIns="0" rtlCol="0" anchor="ctr"/>
          <a:lstStyle/>
          <a:p>
            <a:pPr algn="ctr" indent="0" marL="0">
              <a:buNone/>
            </a:pPr>
            <a:r>
              <a:rPr lang="en-US" sz="1000" u="sng" dirty="0">
                <a:solidFill>
                  <a:srgbClr val="A8C6E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github.com/saatwik-1157</a:t>
            </a:r>
            <a:endParaRPr lang="en-US" sz="1000" dirty="0"/>
          </a:p>
        </p:txBody>
      </p:sp>
      <p:sp>
        <p:nvSpPr>
          <p:cNvPr id="31" name="Text 29"/>
          <p:cNvSpPr/>
          <p:nvPr/>
        </p:nvSpPr>
        <p:spPr>
          <a:xfrm>
            <a:off x="3246120" y="5943600"/>
            <a:ext cx="128016" cy="292608"/>
          </a:xfrm>
          <a:prstGeom prst="rect">
            <a:avLst/>
          </a:prstGeom>
          <a:noFill/>
          <a:ln/>
        </p:spPr>
        <p:txBody>
          <a:bodyPr wrap="square" lIns="0" tIns="0" rIns="0" bIns="0" rtlCol="0" anchor="ctr"/>
          <a:lstStyle/>
          <a:p>
            <a:pPr algn="ctr" indent="0" marL="0">
              <a:buNone/>
            </a:pPr>
            <a:r>
              <a:rPr lang="en-US" sz="1000" dirty="0">
                <a:solidFill>
                  <a:srgbClr val="7E97B8"/>
                </a:solidFill>
                <a:latin typeface="Calibri" pitchFamily="34" charset="0"/>
                <a:ea typeface="Calibri" pitchFamily="34" charset="-122"/>
                <a:cs typeface="Calibri" pitchFamily="34" charset="-120"/>
              </a:rPr>
              <a:t>·</a:t>
            </a:r>
            <a:endParaRPr lang="en-US" sz="1000" dirty="0"/>
          </a:p>
        </p:txBody>
      </p:sp>
      <p:sp>
        <p:nvSpPr>
          <p:cNvPr id="32" name="Text 30">
            <a:hlinkClick r:id="rId2" tooltip=""/>
          </p:cNvPr>
          <p:cNvSpPr/>
          <p:nvPr/>
        </p:nvSpPr>
        <p:spPr>
          <a:xfrm>
            <a:off x="3374136" y="5943600"/>
            <a:ext cx="3291840" cy="292608"/>
          </a:xfrm>
          <a:prstGeom prst="rect">
            <a:avLst/>
          </a:prstGeom>
          <a:noFill/>
          <a:ln/>
        </p:spPr>
        <p:txBody>
          <a:bodyPr wrap="square" lIns="0" tIns="0" rIns="0" bIns="0" rtlCol="0" anchor="ctr"/>
          <a:lstStyle/>
          <a:p>
            <a:pPr algn="ctr" indent="0" marL="0">
              <a:buNone/>
            </a:pPr>
            <a:r>
              <a:rPr lang="en-US" sz="1000" u="sng" dirty="0">
                <a:solidFill>
                  <a:srgbClr val="A8C6E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linkedin.com/in/saatwiksairaamvasamsetti</a:t>
            </a:r>
            <a:endParaRPr lang="en-US" sz="1000" dirty="0"/>
          </a:p>
        </p:txBody>
      </p:sp>
      <p:sp>
        <p:nvSpPr>
          <p:cNvPr id="33" name="Text 31"/>
          <p:cNvSpPr/>
          <p:nvPr/>
        </p:nvSpPr>
        <p:spPr>
          <a:xfrm>
            <a:off x="6665976" y="5943600"/>
            <a:ext cx="128016" cy="292608"/>
          </a:xfrm>
          <a:prstGeom prst="rect">
            <a:avLst/>
          </a:prstGeom>
          <a:noFill/>
          <a:ln/>
        </p:spPr>
        <p:txBody>
          <a:bodyPr wrap="square" lIns="0" tIns="0" rIns="0" bIns="0" rtlCol="0" anchor="ctr"/>
          <a:lstStyle/>
          <a:p>
            <a:pPr algn="ctr" indent="0" marL="0">
              <a:buNone/>
            </a:pPr>
            <a:r>
              <a:rPr lang="en-US" sz="1000" dirty="0">
                <a:solidFill>
                  <a:srgbClr val="7E97B8"/>
                </a:solidFill>
                <a:latin typeface="Calibri" pitchFamily="34" charset="0"/>
                <a:ea typeface="Calibri" pitchFamily="34" charset="-122"/>
                <a:cs typeface="Calibri" pitchFamily="34" charset="-120"/>
              </a:rPr>
              <a:t>·</a:t>
            </a:r>
            <a:endParaRPr lang="en-US" sz="1000" dirty="0"/>
          </a:p>
        </p:txBody>
      </p:sp>
      <p:sp>
        <p:nvSpPr>
          <p:cNvPr id="34" name="Text 32">
            <a:hlinkClick r:id="rId3" tooltip=""/>
          </p:cNvPr>
          <p:cNvSpPr/>
          <p:nvPr/>
        </p:nvSpPr>
        <p:spPr>
          <a:xfrm>
            <a:off x="6793992" y="5943600"/>
            <a:ext cx="1828800" cy="292608"/>
          </a:xfrm>
          <a:prstGeom prst="rect">
            <a:avLst/>
          </a:prstGeom>
          <a:noFill/>
          <a:ln/>
        </p:spPr>
        <p:txBody>
          <a:bodyPr wrap="square" lIns="0" tIns="0" rIns="0" bIns="0" rtlCol="0" anchor="ctr"/>
          <a:lstStyle/>
          <a:p>
            <a:pPr algn="ctr" indent="0" marL="0">
              <a:buNone/>
            </a:pPr>
            <a:r>
              <a:rPr lang="en-US" sz="1000" u="sng" dirty="0">
                <a:solidFill>
                  <a:srgbClr val="A8C6E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github.com/Nirisha22</a:t>
            </a:r>
            <a:endParaRPr lang="en-US" sz="1000" dirty="0"/>
          </a:p>
        </p:txBody>
      </p:sp>
      <p:sp>
        <p:nvSpPr>
          <p:cNvPr id="35" name="Text 33"/>
          <p:cNvSpPr/>
          <p:nvPr/>
        </p:nvSpPr>
        <p:spPr>
          <a:xfrm>
            <a:off x="8622792" y="5943600"/>
            <a:ext cx="128016" cy="292608"/>
          </a:xfrm>
          <a:prstGeom prst="rect">
            <a:avLst/>
          </a:prstGeom>
          <a:noFill/>
          <a:ln/>
        </p:spPr>
        <p:txBody>
          <a:bodyPr wrap="square" lIns="0" tIns="0" rIns="0" bIns="0" rtlCol="0" anchor="ctr"/>
          <a:lstStyle/>
          <a:p>
            <a:pPr algn="ctr" indent="0" marL="0">
              <a:buNone/>
            </a:pPr>
            <a:r>
              <a:rPr lang="en-US" sz="1000" dirty="0">
                <a:solidFill>
                  <a:srgbClr val="7E97B8"/>
                </a:solidFill>
                <a:latin typeface="Calibri" pitchFamily="34" charset="0"/>
                <a:ea typeface="Calibri" pitchFamily="34" charset="-122"/>
                <a:cs typeface="Calibri" pitchFamily="34" charset="-120"/>
              </a:rPr>
              <a:t>·</a:t>
            </a:r>
            <a:endParaRPr lang="en-US" sz="1000" dirty="0"/>
          </a:p>
        </p:txBody>
      </p:sp>
      <p:sp>
        <p:nvSpPr>
          <p:cNvPr id="36" name="Text 34">
            <a:hlinkClick r:id="rId4" tooltip=""/>
          </p:cNvPr>
          <p:cNvSpPr/>
          <p:nvPr/>
        </p:nvSpPr>
        <p:spPr>
          <a:xfrm>
            <a:off x="8750808" y="5943600"/>
            <a:ext cx="2724912" cy="292608"/>
          </a:xfrm>
          <a:prstGeom prst="rect">
            <a:avLst/>
          </a:prstGeom>
          <a:noFill/>
          <a:ln/>
        </p:spPr>
        <p:txBody>
          <a:bodyPr wrap="square" lIns="0" tIns="0" rIns="0" bIns="0" rtlCol="0" anchor="ctr"/>
          <a:lstStyle/>
          <a:p>
            <a:pPr algn="ctr" indent="0" marL="0">
              <a:buNone/>
            </a:pPr>
            <a:r>
              <a:rPr lang="en-US" sz="1000" u="sng" dirty="0">
                <a:solidFill>
                  <a:srgbClr val="A8C6E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linkedin.com/in/nirisha-chowdary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SentinelAI — Concept-to-Prototype Execution Plan</dc:title>
  <dc:subject>PptxGenJS Presentation</dc:subject>
  <dc:creator>Team SentinelAI</dc:creator>
  <cp:lastModifiedBy>Team SentinelAI</cp:lastModifiedBy>
  <cp:revision>1</cp:revision>
  <dcterms:created xsi:type="dcterms:W3CDTF">2026-07-22T03:57:02Z</dcterms:created>
  <dcterms:modified xsi:type="dcterms:W3CDTF">2026-07-22T03:57:02Z</dcterms:modified>
</cp:coreProperties>
</file>